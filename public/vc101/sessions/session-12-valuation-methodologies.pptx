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88" r:id="rId1"/>
  </p:sldMasterIdLst>
  <p:notesMasterIdLst>
    <p:notesMasterId r:id="rId50"/>
  </p:notesMasterIdLst>
  <p:handoutMasterIdLst>
    <p:handoutMasterId r:id="rId51"/>
  </p:handoutMasterIdLst>
  <p:sldIdLst>
    <p:sldId id="1468" r:id="rId2"/>
    <p:sldId id="1943" r:id="rId3"/>
    <p:sldId id="1944" r:id="rId4"/>
    <p:sldId id="308" r:id="rId5"/>
    <p:sldId id="1994" r:id="rId6"/>
    <p:sldId id="1991" r:id="rId7"/>
    <p:sldId id="1992" r:id="rId8"/>
    <p:sldId id="1993" r:id="rId9"/>
    <p:sldId id="2001" r:id="rId10"/>
    <p:sldId id="1932" r:id="rId11"/>
    <p:sldId id="1954" r:id="rId12"/>
    <p:sldId id="1933" r:id="rId13"/>
    <p:sldId id="1934" r:id="rId14"/>
    <p:sldId id="1935" r:id="rId15"/>
    <p:sldId id="1936" r:id="rId16"/>
    <p:sldId id="1995" r:id="rId17"/>
    <p:sldId id="1937" r:id="rId18"/>
    <p:sldId id="1996" r:id="rId19"/>
    <p:sldId id="2011" r:id="rId20"/>
    <p:sldId id="1938" r:id="rId21"/>
    <p:sldId id="1978" r:id="rId22"/>
    <p:sldId id="1979" r:id="rId23"/>
    <p:sldId id="1998" r:id="rId24"/>
    <p:sldId id="1980" r:id="rId25"/>
    <p:sldId id="1981" r:id="rId26"/>
    <p:sldId id="1982" r:id="rId27"/>
    <p:sldId id="1940" r:id="rId28"/>
    <p:sldId id="1941" r:id="rId29"/>
    <p:sldId id="1988" r:id="rId30"/>
    <p:sldId id="1989" r:id="rId31"/>
    <p:sldId id="1945" r:id="rId32"/>
    <p:sldId id="1946" r:id="rId33"/>
    <p:sldId id="1947" r:id="rId34"/>
    <p:sldId id="2005" r:id="rId35"/>
    <p:sldId id="2004" r:id="rId36"/>
    <p:sldId id="2006" r:id="rId37"/>
    <p:sldId id="1948" r:id="rId38"/>
    <p:sldId id="2003" r:id="rId39"/>
    <p:sldId id="2002" r:id="rId40"/>
    <p:sldId id="1950" r:id="rId41"/>
    <p:sldId id="1951" r:id="rId42"/>
    <p:sldId id="1955" r:id="rId43"/>
    <p:sldId id="1958" r:id="rId44"/>
    <p:sldId id="1966" r:id="rId45"/>
    <p:sldId id="1953" r:id="rId46"/>
    <p:sldId id="1977" r:id="rId47"/>
    <p:sldId id="1930" r:id="rId48"/>
    <p:sldId id="2012" r:id="rId4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7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ennifer Laverty" initials="" lastIdx="1" clrIdx="0"/>
  <p:cmAuthor id="1" name="Raffi Amit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CCFF"/>
    <a:srgbClr val="FF3300"/>
    <a:srgbClr val="00CC00"/>
    <a:srgbClr val="FF6600"/>
    <a:srgbClr val="66FF33"/>
    <a:srgbClr val="FFEBEB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8" autoAdjust="0"/>
    <p:restoredTop sz="86033" autoAdjust="0"/>
  </p:normalViewPr>
  <p:slideViewPr>
    <p:cSldViewPr snapToGrid="0">
      <p:cViewPr varScale="1">
        <p:scale>
          <a:sx n="63" d="100"/>
          <a:sy n="63" d="100"/>
        </p:scale>
        <p:origin x="1746" y="66"/>
      </p:cViewPr>
      <p:guideLst>
        <p:guide orient="horz" pos="3774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-1836" y="-90"/>
      </p:cViewPr>
      <p:guideLst>
        <p:guide orient="horz" pos="292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8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Figure: Angel  - Average US VC Pre-Money Valuation By Year (US$ Million)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Angel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50000"/>
                    <a:satMod val="300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2021H1</c:v>
                </c:pt>
              </c:strCache>
            </c:strRef>
          </c:cat>
          <c:val>
            <c:numRef>
              <c:f>Sheet1!$B$2:$B$17</c:f>
              <c:numCache>
                <c:formatCode>0.0</c:formatCode>
                <c:ptCount val="16"/>
                <c:pt idx="0">
                  <c:v>9.3000000000000007</c:v>
                </c:pt>
                <c:pt idx="1">
                  <c:v>8</c:v>
                </c:pt>
                <c:pt idx="2">
                  <c:v>6.4</c:v>
                </c:pt>
                <c:pt idx="3">
                  <c:v>7</c:v>
                </c:pt>
                <c:pt idx="4">
                  <c:v>6.7</c:v>
                </c:pt>
                <c:pt idx="5">
                  <c:v>5.2</c:v>
                </c:pt>
                <c:pt idx="6">
                  <c:v>5.2</c:v>
                </c:pt>
                <c:pt idx="7">
                  <c:v>6.2</c:v>
                </c:pt>
                <c:pt idx="8">
                  <c:v>5.6</c:v>
                </c:pt>
                <c:pt idx="9">
                  <c:v>8.4</c:v>
                </c:pt>
                <c:pt idx="10">
                  <c:v>10.3</c:v>
                </c:pt>
                <c:pt idx="11">
                  <c:v>9.1999999999999993</c:v>
                </c:pt>
                <c:pt idx="12">
                  <c:v>9.3000000000000007</c:v>
                </c:pt>
                <c:pt idx="13">
                  <c:v>12.6</c:v>
                </c:pt>
                <c:pt idx="14">
                  <c:v>8.5</c:v>
                </c:pt>
                <c:pt idx="15">
                  <c:v>15.6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39-4A74-A3F2-47A9BFE298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60653504"/>
        <c:axId val="1760655552"/>
      </c:barChart>
      <c:catAx>
        <c:axId val="1760653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0655552"/>
        <c:crosses val="autoZero"/>
        <c:auto val="1"/>
        <c:lblAlgn val="ctr"/>
        <c:lblOffset val="100"/>
        <c:noMultiLvlLbl val="0"/>
      </c:catAx>
      <c:valAx>
        <c:axId val="1760655552"/>
        <c:scaling>
          <c:orientation val="minMax"/>
          <c:max val="16"/>
        </c:scaling>
        <c:delete val="0"/>
        <c:axPos val="l"/>
        <c:majorGridlines/>
        <c:numFmt formatCode="0.0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06535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9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8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Figure: Seed  - Average US VC Pre-Money Valuation By Year (US$ Million)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1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dLbl>
              <c:idx val="6"/>
              <c:layout>
                <c:manualLayout>
                  <c:x val="0"/>
                  <c:y val="-3.391667423337880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A69-4B6E-8C44-4F4EA62F814F}"/>
                </c:ext>
              </c:extLst>
            </c:dLbl>
            <c:dLbl>
              <c:idx val="7"/>
              <c:layout>
                <c:manualLayout>
                  <c:x val="6.0311683180353801E-3"/>
                  <c:y val="-2.15833381485137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A69-4B6E-8C44-4F4EA62F814F}"/>
                </c:ext>
              </c:extLst>
            </c:dLbl>
            <c:dLbl>
              <c:idx val="9"/>
              <c:layout>
                <c:manualLayout>
                  <c:x val="-6.0311683180353801E-3"/>
                  <c:y val="-1.85000041272974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A69-4B6E-8C44-4F4EA62F814F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2021H1</c:v>
                </c:pt>
              </c:strCache>
            </c:strRef>
          </c:cat>
          <c:val>
            <c:numRef>
              <c:f>Sheet1!$B$2:$B$17</c:f>
              <c:numCache>
                <c:formatCode>0.0</c:formatCode>
                <c:ptCount val="16"/>
                <c:pt idx="0">
                  <c:v>3.8</c:v>
                </c:pt>
                <c:pt idx="1">
                  <c:v>3.3</c:v>
                </c:pt>
                <c:pt idx="2">
                  <c:v>4.0999999999999996</c:v>
                </c:pt>
                <c:pt idx="3">
                  <c:v>3.5</c:v>
                </c:pt>
                <c:pt idx="4">
                  <c:v>4.5</c:v>
                </c:pt>
                <c:pt idx="5">
                  <c:v>5.6</c:v>
                </c:pt>
                <c:pt idx="6">
                  <c:v>4.8</c:v>
                </c:pt>
                <c:pt idx="7">
                  <c:v>5.3</c:v>
                </c:pt>
                <c:pt idx="8">
                  <c:v>5.9</c:v>
                </c:pt>
                <c:pt idx="9">
                  <c:v>6.9</c:v>
                </c:pt>
                <c:pt idx="10">
                  <c:v>6.9</c:v>
                </c:pt>
                <c:pt idx="11">
                  <c:v>7.6</c:v>
                </c:pt>
                <c:pt idx="12">
                  <c:v>8.3000000000000007</c:v>
                </c:pt>
                <c:pt idx="13">
                  <c:v>9.1</c:v>
                </c:pt>
                <c:pt idx="14">
                  <c:v>9.4</c:v>
                </c:pt>
                <c:pt idx="15">
                  <c:v>11.4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69-4B6E-8C44-4F4EA62F81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55671136"/>
        <c:axId val="1755673456"/>
      </c:barChart>
      <c:catAx>
        <c:axId val="17556711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5673456"/>
        <c:crosses val="autoZero"/>
        <c:auto val="1"/>
        <c:lblAlgn val="ctr"/>
        <c:lblOffset val="100"/>
        <c:noMultiLvlLbl val="0"/>
      </c:catAx>
      <c:valAx>
        <c:axId val="1755673456"/>
        <c:scaling>
          <c:orientation val="minMax"/>
          <c:max val="16"/>
        </c:scaling>
        <c:delete val="0"/>
        <c:axPos val="l"/>
        <c:majorGridlines/>
        <c:numFmt formatCode="0.0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56711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9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8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Figure: Early Stage - Average US VC Pre-Money Valuation By Year (US$ Million)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Early VC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50000"/>
                    <a:satMod val="300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2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2021H1</c:v>
                </c:pt>
              </c:strCache>
            </c:strRef>
          </c:cat>
          <c:val>
            <c:numRef>
              <c:f>Sheet1!$B$2:$B$17</c:f>
              <c:numCache>
                <c:formatCode>0.0</c:formatCode>
                <c:ptCount val="16"/>
                <c:pt idx="0">
                  <c:v>17.2</c:v>
                </c:pt>
                <c:pt idx="1">
                  <c:v>17.8</c:v>
                </c:pt>
                <c:pt idx="2">
                  <c:v>19.3</c:v>
                </c:pt>
                <c:pt idx="3">
                  <c:v>18</c:v>
                </c:pt>
                <c:pt idx="4">
                  <c:v>16.3</c:v>
                </c:pt>
                <c:pt idx="5">
                  <c:v>22.2</c:v>
                </c:pt>
                <c:pt idx="6">
                  <c:v>20.2</c:v>
                </c:pt>
                <c:pt idx="7">
                  <c:v>28.3</c:v>
                </c:pt>
                <c:pt idx="8">
                  <c:v>28.5</c:v>
                </c:pt>
                <c:pt idx="9">
                  <c:v>35.4</c:v>
                </c:pt>
                <c:pt idx="10">
                  <c:v>32.299999999999997</c:v>
                </c:pt>
                <c:pt idx="11">
                  <c:v>35.9</c:v>
                </c:pt>
                <c:pt idx="12">
                  <c:v>49.9</c:v>
                </c:pt>
                <c:pt idx="13">
                  <c:v>67</c:v>
                </c:pt>
                <c:pt idx="14">
                  <c:v>61.7</c:v>
                </c:pt>
                <c:pt idx="15">
                  <c:v>96.1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4C-40E7-9646-936336AA47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60653504"/>
        <c:axId val="1760655552"/>
      </c:barChart>
      <c:catAx>
        <c:axId val="1760653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0655552"/>
        <c:crosses val="autoZero"/>
        <c:auto val="1"/>
        <c:lblAlgn val="ctr"/>
        <c:lblOffset val="100"/>
        <c:noMultiLvlLbl val="0"/>
      </c:catAx>
      <c:valAx>
        <c:axId val="1760655552"/>
        <c:scaling>
          <c:orientation val="minMax"/>
          <c:max val="100"/>
        </c:scaling>
        <c:delete val="0"/>
        <c:axPos val="l"/>
        <c:majorGridlines/>
        <c:numFmt formatCode="0.0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06535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9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08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Figure: Late Stage - Average US VC Pre-Money Valuation By Year (US$ Million)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Stage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1">
                  <a:shade val="95000"/>
                  <a:satMod val="105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dLbl>
              <c:idx val="6"/>
              <c:layout>
                <c:manualLayout>
                  <c:x val="0"/>
                  <c:y val="-3.391667423337880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9CB-4929-8474-F1821CD55EBE}"/>
                </c:ext>
              </c:extLst>
            </c:dLbl>
            <c:dLbl>
              <c:idx val="7"/>
              <c:layout>
                <c:manualLayout>
                  <c:x val="6.0311683180353801E-3"/>
                  <c:y val="-2.15833381485137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9CB-4929-8474-F1821CD55EBE}"/>
                </c:ext>
              </c:extLst>
            </c:dLbl>
            <c:dLbl>
              <c:idx val="9"/>
              <c:layout>
                <c:manualLayout>
                  <c:x val="-6.0311683180353801E-3"/>
                  <c:y val="-1.85000041272974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9CB-4929-8474-F1821CD55EBE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2021H1</c:v>
                </c:pt>
              </c:strCache>
            </c:strRef>
          </c:cat>
          <c:val>
            <c:numRef>
              <c:f>Sheet1!$B$2:$B$17</c:f>
              <c:numCache>
                <c:formatCode>0.0</c:formatCode>
                <c:ptCount val="16"/>
                <c:pt idx="0">
                  <c:v>67</c:v>
                </c:pt>
                <c:pt idx="1">
                  <c:v>72.2</c:v>
                </c:pt>
                <c:pt idx="2">
                  <c:v>88.2</c:v>
                </c:pt>
                <c:pt idx="3">
                  <c:v>90.7</c:v>
                </c:pt>
                <c:pt idx="4">
                  <c:v>107.8</c:v>
                </c:pt>
                <c:pt idx="5">
                  <c:v>264.10000000000002</c:v>
                </c:pt>
                <c:pt idx="6">
                  <c:v>112.7</c:v>
                </c:pt>
                <c:pt idx="7">
                  <c:v>114.3</c:v>
                </c:pt>
                <c:pt idx="8">
                  <c:v>254.4</c:v>
                </c:pt>
                <c:pt idx="9">
                  <c:v>288.8</c:v>
                </c:pt>
                <c:pt idx="10">
                  <c:v>290.10000000000002</c:v>
                </c:pt>
                <c:pt idx="11">
                  <c:v>229.2</c:v>
                </c:pt>
                <c:pt idx="12">
                  <c:v>394.6</c:v>
                </c:pt>
                <c:pt idx="13">
                  <c:v>318.89999999999998</c:v>
                </c:pt>
                <c:pt idx="14">
                  <c:v>470.2</c:v>
                </c:pt>
                <c:pt idx="15">
                  <c:v>935.6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CB-4929-8474-F1821CD55E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55671136"/>
        <c:axId val="1755673456"/>
      </c:barChart>
      <c:catAx>
        <c:axId val="17556711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5673456"/>
        <c:crosses val="autoZero"/>
        <c:auto val="1"/>
        <c:lblAlgn val="ctr"/>
        <c:lblOffset val="100"/>
        <c:noMultiLvlLbl val="0"/>
      </c:catAx>
      <c:valAx>
        <c:axId val="1755673456"/>
        <c:scaling>
          <c:orientation val="minMax"/>
          <c:max val="1000"/>
        </c:scaling>
        <c:delete val="0"/>
        <c:axPos val="l"/>
        <c:majorGridlines/>
        <c:numFmt formatCode="0.0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56711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lang="en-US" sz="9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46DCF0-E356-4729-B159-C7E7D9A3875F}" type="doc">
      <dgm:prSet loTypeId="urn:microsoft.com/office/officeart/2005/8/layout/venn1" loCatId="relationship" qsTypeId="urn:microsoft.com/office/officeart/2005/8/quickstyle/simple1" qsCatId="simple" csTypeId="urn:microsoft.com/office/officeart/2005/8/colors/accent2_2" csCatId="accent2" phldr="1"/>
      <dgm:spPr/>
    </dgm:pt>
    <dgm:pt modelId="{392C75CA-56E8-4A44-9117-4DDCA7A7A909}">
      <dgm:prSet phldrT="[Text]" custT="1"/>
      <dgm:spPr/>
      <dgm:t>
        <a:bodyPr/>
        <a:lstStyle/>
        <a:p>
          <a:r>
            <a:rPr lang="en-US" altLang="zh-CN" sz="1800" b="1" dirty="0"/>
            <a:t>WHY value startup companies?</a:t>
          </a:r>
          <a:endParaRPr lang="zh-CN" altLang="en-US" sz="1800" b="1" dirty="0"/>
        </a:p>
      </dgm:t>
    </dgm:pt>
    <dgm:pt modelId="{E4E2AB77-52CD-4FDB-BA12-C2EE1427FA83}" type="parTrans" cxnId="{7E692F99-8600-41BD-8A6C-706FAF7BF2C1}">
      <dgm:prSet/>
      <dgm:spPr/>
      <dgm:t>
        <a:bodyPr/>
        <a:lstStyle/>
        <a:p>
          <a:endParaRPr lang="zh-CN" altLang="en-US" sz="1200" b="1"/>
        </a:p>
      </dgm:t>
    </dgm:pt>
    <dgm:pt modelId="{55223A41-683C-427B-A435-420881775327}" type="sibTrans" cxnId="{7E692F99-8600-41BD-8A6C-706FAF7BF2C1}">
      <dgm:prSet/>
      <dgm:spPr/>
      <dgm:t>
        <a:bodyPr/>
        <a:lstStyle/>
        <a:p>
          <a:endParaRPr lang="zh-CN" altLang="en-US" sz="1200" b="1"/>
        </a:p>
      </dgm:t>
    </dgm:pt>
    <dgm:pt modelId="{399C1EFE-07CB-4759-B621-45535855D4A8}">
      <dgm:prSet phldrT="[Text]" custT="1"/>
      <dgm:spPr/>
      <dgm:t>
        <a:bodyPr/>
        <a:lstStyle/>
        <a:p>
          <a:r>
            <a:rPr lang="en-US" altLang="zh-CN" sz="1800" b="1" dirty="0"/>
            <a:t>HOW to value startup companies?</a:t>
          </a:r>
          <a:endParaRPr lang="zh-CN" altLang="en-US" sz="1800" b="1" dirty="0"/>
        </a:p>
      </dgm:t>
    </dgm:pt>
    <dgm:pt modelId="{C8FB1517-3852-4AC8-9B37-B3C6DCD4636E}" type="parTrans" cxnId="{23629927-8299-4DC3-A9B2-3A490C0C9B83}">
      <dgm:prSet/>
      <dgm:spPr/>
      <dgm:t>
        <a:bodyPr/>
        <a:lstStyle/>
        <a:p>
          <a:endParaRPr lang="zh-CN" altLang="en-US" sz="1200" b="1"/>
        </a:p>
      </dgm:t>
    </dgm:pt>
    <dgm:pt modelId="{98F5A791-E6B2-4564-8582-B26CDF69F04C}" type="sibTrans" cxnId="{23629927-8299-4DC3-A9B2-3A490C0C9B83}">
      <dgm:prSet/>
      <dgm:spPr/>
      <dgm:t>
        <a:bodyPr/>
        <a:lstStyle/>
        <a:p>
          <a:endParaRPr lang="zh-CN" altLang="en-US" sz="1200" b="1"/>
        </a:p>
      </dgm:t>
    </dgm:pt>
    <dgm:pt modelId="{B31C308A-F0FA-4CB2-BA0A-26FE2BF8471B}">
      <dgm:prSet phldrT="[Text]" custT="1"/>
      <dgm:spPr/>
      <dgm:t>
        <a:bodyPr/>
        <a:lstStyle/>
        <a:p>
          <a:r>
            <a:rPr lang="en-US" altLang="zh-CN" sz="1800" b="1" dirty="0"/>
            <a:t>WHAT does valuation imply?</a:t>
          </a:r>
          <a:endParaRPr lang="zh-CN" altLang="en-US" sz="1800" b="1" dirty="0"/>
        </a:p>
      </dgm:t>
    </dgm:pt>
    <dgm:pt modelId="{69B9F569-1FC8-4D9D-A0E6-8197C0CBE395}" type="parTrans" cxnId="{8124ADA0-D602-4C01-B28A-07AF82C6DA19}">
      <dgm:prSet/>
      <dgm:spPr/>
      <dgm:t>
        <a:bodyPr/>
        <a:lstStyle/>
        <a:p>
          <a:endParaRPr lang="zh-CN" altLang="en-US" sz="1200" b="1"/>
        </a:p>
      </dgm:t>
    </dgm:pt>
    <dgm:pt modelId="{D137A974-704B-479D-83AB-619FA03C9C79}" type="sibTrans" cxnId="{8124ADA0-D602-4C01-B28A-07AF82C6DA19}">
      <dgm:prSet/>
      <dgm:spPr/>
      <dgm:t>
        <a:bodyPr/>
        <a:lstStyle/>
        <a:p>
          <a:endParaRPr lang="zh-CN" altLang="en-US" sz="1200" b="1"/>
        </a:p>
      </dgm:t>
    </dgm:pt>
    <dgm:pt modelId="{93FEB3BB-5706-4F9B-A7E4-0E7FB2B2CF68}" type="pres">
      <dgm:prSet presAssocID="{DA46DCF0-E356-4729-B159-C7E7D9A3875F}" presName="compositeShape" presStyleCnt="0">
        <dgm:presLayoutVars>
          <dgm:chMax val="7"/>
          <dgm:dir/>
          <dgm:resizeHandles val="exact"/>
        </dgm:presLayoutVars>
      </dgm:prSet>
      <dgm:spPr/>
    </dgm:pt>
    <dgm:pt modelId="{612B8536-183C-474D-80EE-543E5F0E2827}" type="pres">
      <dgm:prSet presAssocID="{392C75CA-56E8-4A44-9117-4DDCA7A7A909}" presName="circ1" presStyleLbl="vennNode1" presStyleIdx="0" presStyleCnt="3"/>
      <dgm:spPr/>
    </dgm:pt>
    <dgm:pt modelId="{D3239BD5-A9E5-4F8C-8543-24B30FA0AE60}" type="pres">
      <dgm:prSet presAssocID="{392C75CA-56E8-4A44-9117-4DDCA7A7A90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76A1A08-13D5-4961-856E-8C1EF838CE8B}" type="pres">
      <dgm:prSet presAssocID="{399C1EFE-07CB-4759-B621-45535855D4A8}" presName="circ2" presStyleLbl="vennNode1" presStyleIdx="1" presStyleCnt="3"/>
      <dgm:spPr/>
    </dgm:pt>
    <dgm:pt modelId="{2C5E6172-AFF4-480F-8797-DA4128319B59}" type="pres">
      <dgm:prSet presAssocID="{399C1EFE-07CB-4759-B621-45535855D4A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DA87755-3669-453E-B3C1-945ACEA56510}" type="pres">
      <dgm:prSet presAssocID="{B31C308A-F0FA-4CB2-BA0A-26FE2BF8471B}" presName="circ3" presStyleLbl="vennNode1" presStyleIdx="2" presStyleCnt="3"/>
      <dgm:spPr/>
    </dgm:pt>
    <dgm:pt modelId="{C7D79C23-98D8-4934-948A-86986977F98C}" type="pres">
      <dgm:prSet presAssocID="{B31C308A-F0FA-4CB2-BA0A-26FE2BF8471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FF46800-B4F9-4D21-8C46-7A4CD6AC96D3}" type="presOf" srcId="{392C75CA-56E8-4A44-9117-4DDCA7A7A909}" destId="{612B8536-183C-474D-80EE-543E5F0E2827}" srcOrd="0" destOrd="0" presId="urn:microsoft.com/office/officeart/2005/8/layout/venn1"/>
    <dgm:cxn modelId="{4DF7F505-FF60-4A3E-8F44-F76C330781A2}" type="presOf" srcId="{DA46DCF0-E356-4729-B159-C7E7D9A3875F}" destId="{93FEB3BB-5706-4F9B-A7E4-0E7FB2B2CF68}" srcOrd="0" destOrd="0" presId="urn:microsoft.com/office/officeart/2005/8/layout/venn1"/>
    <dgm:cxn modelId="{4D86281B-20F2-4242-BE64-843F4413CA56}" type="presOf" srcId="{399C1EFE-07CB-4759-B621-45535855D4A8}" destId="{2C5E6172-AFF4-480F-8797-DA4128319B59}" srcOrd="1" destOrd="0" presId="urn:microsoft.com/office/officeart/2005/8/layout/venn1"/>
    <dgm:cxn modelId="{23629927-8299-4DC3-A9B2-3A490C0C9B83}" srcId="{DA46DCF0-E356-4729-B159-C7E7D9A3875F}" destId="{399C1EFE-07CB-4759-B621-45535855D4A8}" srcOrd="1" destOrd="0" parTransId="{C8FB1517-3852-4AC8-9B37-B3C6DCD4636E}" sibTransId="{98F5A791-E6B2-4564-8582-B26CDF69F04C}"/>
    <dgm:cxn modelId="{33B31A5E-4DB1-4AE8-8D50-6A220DB64234}" type="presOf" srcId="{399C1EFE-07CB-4759-B621-45535855D4A8}" destId="{A76A1A08-13D5-4961-856E-8C1EF838CE8B}" srcOrd="0" destOrd="0" presId="urn:microsoft.com/office/officeart/2005/8/layout/venn1"/>
    <dgm:cxn modelId="{F80D5061-0104-449E-986F-E34FA50D421D}" type="presOf" srcId="{B31C308A-F0FA-4CB2-BA0A-26FE2BF8471B}" destId="{C7D79C23-98D8-4934-948A-86986977F98C}" srcOrd="1" destOrd="0" presId="urn:microsoft.com/office/officeart/2005/8/layout/venn1"/>
    <dgm:cxn modelId="{E5A43180-7A77-49BF-ABEA-8028E1DB4EF2}" type="presOf" srcId="{392C75CA-56E8-4A44-9117-4DDCA7A7A909}" destId="{D3239BD5-A9E5-4F8C-8543-24B30FA0AE60}" srcOrd="1" destOrd="0" presId="urn:microsoft.com/office/officeart/2005/8/layout/venn1"/>
    <dgm:cxn modelId="{7E692F99-8600-41BD-8A6C-706FAF7BF2C1}" srcId="{DA46DCF0-E356-4729-B159-C7E7D9A3875F}" destId="{392C75CA-56E8-4A44-9117-4DDCA7A7A909}" srcOrd="0" destOrd="0" parTransId="{E4E2AB77-52CD-4FDB-BA12-C2EE1427FA83}" sibTransId="{55223A41-683C-427B-A435-420881775327}"/>
    <dgm:cxn modelId="{8124ADA0-D602-4C01-B28A-07AF82C6DA19}" srcId="{DA46DCF0-E356-4729-B159-C7E7D9A3875F}" destId="{B31C308A-F0FA-4CB2-BA0A-26FE2BF8471B}" srcOrd="2" destOrd="0" parTransId="{69B9F569-1FC8-4D9D-A0E6-8197C0CBE395}" sibTransId="{D137A974-704B-479D-83AB-619FA03C9C79}"/>
    <dgm:cxn modelId="{79791FAC-4FD8-4F86-A21E-9E23F67B70F4}" type="presOf" srcId="{B31C308A-F0FA-4CB2-BA0A-26FE2BF8471B}" destId="{ADA87755-3669-453E-B3C1-945ACEA56510}" srcOrd="0" destOrd="0" presId="urn:microsoft.com/office/officeart/2005/8/layout/venn1"/>
    <dgm:cxn modelId="{5C048016-4A3B-4D02-9794-24BF528D03B9}" type="presParOf" srcId="{93FEB3BB-5706-4F9B-A7E4-0E7FB2B2CF68}" destId="{612B8536-183C-474D-80EE-543E5F0E2827}" srcOrd="0" destOrd="0" presId="urn:microsoft.com/office/officeart/2005/8/layout/venn1"/>
    <dgm:cxn modelId="{67A5B371-880D-4C40-80DD-ED87869903F1}" type="presParOf" srcId="{93FEB3BB-5706-4F9B-A7E4-0E7FB2B2CF68}" destId="{D3239BD5-A9E5-4F8C-8543-24B30FA0AE60}" srcOrd="1" destOrd="0" presId="urn:microsoft.com/office/officeart/2005/8/layout/venn1"/>
    <dgm:cxn modelId="{C9365210-8968-4D0A-A4B2-0BF02E094508}" type="presParOf" srcId="{93FEB3BB-5706-4F9B-A7E4-0E7FB2B2CF68}" destId="{A76A1A08-13D5-4961-856E-8C1EF838CE8B}" srcOrd="2" destOrd="0" presId="urn:microsoft.com/office/officeart/2005/8/layout/venn1"/>
    <dgm:cxn modelId="{55579427-E60A-4FF1-AB68-5AEA5DD38DB4}" type="presParOf" srcId="{93FEB3BB-5706-4F9B-A7E4-0E7FB2B2CF68}" destId="{2C5E6172-AFF4-480F-8797-DA4128319B59}" srcOrd="3" destOrd="0" presId="urn:microsoft.com/office/officeart/2005/8/layout/venn1"/>
    <dgm:cxn modelId="{742E6179-A5B0-436A-9532-AAAA3EC25789}" type="presParOf" srcId="{93FEB3BB-5706-4F9B-A7E4-0E7FB2B2CF68}" destId="{ADA87755-3669-453E-B3C1-945ACEA56510}" srcOrd="4" destOrd="0" presId="urn:microsoft.com/office/officeart/2005/8/layout/venn1"/>
    <dgm:cxn modelId="{F01924C0-8669-4ABA-A0F5-AEEBF5252C92}" type="presParOf" srcId="{93FEB3BB-5706-4F9B-A7E4-0E7FB2B2CF68}" destId="{C7D79C23-98D8-4934-948A-86986977F98C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2B8536-183C-474D-80EE-543E5F0E2827}">
      <dsp:nvSpPr>
        <dsp:cNvPr id="0" name=""/>
        <dsp:cNvSpPr/>
      </dsp:nvSpPr>
      <dsp:spPr>
        <a:xfrm>
          <a:off x="1826914" y="54675"/>
          <a:ext cx="2624422" cy="2624422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/>
            <a:t>WHY value startup companies?</a:t>
          </a:r>
          <a:endParaRPr lang="zh-CN" altLang="en-US" sz="1800" b="1" kern="1200" dirty="0"/>
        </a:p>
      </dsp:txBody>
      <dsp:txXfrm>
        <a:off x="2176837" y="513949"/>
        <a:ext cx="1924576" cy="1180989"/>
      </dsp:txXfrm>
    </dsp:sp>
    <dsp:sp modelId="{A76A1A08-13D5-4961-856E-8C1EF838CE8B}">
      <dsp:nvSpPr>
        <dsp:cNvPr id="0" name=""/>
        <dsp:cNvSpPr/>
      </dsp:nvSpPr>
      <dsp:spPr>
        <a:xfrm>
          <a:off x="2773893" y="1694939"/>
          <a:ext cx="2624422" cy="2624422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/>
            <a:t>HOW to value startup companies?</a:t>
          </a:r>
          <a:endParaRPr lang="zh-CN" altLang="en-US" sz="1800" b="1" kern="1200" dirty="0"/>
        </a:p>
      </dsp:txBody>
      <dsp:txXfrm>
        <a:off x="3576529" y="2372915"/>
        <a:ext cx="1574653" cy="1443432"/>
      </dsp:txXfrm>
    </dsp:sp>
    <dsp:sp modelId="{ADA87755-3669-453E-B3C1-945ACEA56510}">
      <dsp:nvSpPr>
        <dsp:cNvPr id="0" name=""/>
        <dsp:cNvSpPr/>
      </dsp:nvSpPr>
      <dsp:spPr>
        <a:xfrm>
          <a:off x="879935" y="1694939"/>
          <a:ext cx="2624422" cy="2624422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b="1" kern="1200" dirty="0"/>
            <a:t>WHAT does valuation imply?</a:t>
          </a:r>
          <a:endParaRPr lang="zh-CN" altLang="en-US" sz="1800" b="1" kern="1200" dirty="0"/>
        </a:p>
      </dsp:txBody>
      <dsp:txXfrm>
        <a:off x="1127068" y="2372915"/>
        <a:ext cx="1574653" cy="1443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1619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5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02" tIns="0" rIns="19402" bIns="0" numCol="1" anchor="t" anchorCtr="0" compatLnSpc="1">
            <a:prstTxWarp prst="textNoShape">
              <a:avLst/>
            </a:prstTxWarp>
          </a:bodyPr>
          <a:lstStyle>
            <a:lvl1pPr defTabSz="931498">
              <a:spcBef>
                <a:spcPct val="0"/>
              </a:spcBef>
              <a:defRPr sz="1200" i="1">
                <a:latin typeface="Times New Roman" pitchFamily="18" charset="0"/>
              </a:defRPr>
            </a:lvl1pPr>
          </a:lstStyle>
          <a:p>
            <a:endParaRPr lang="en-US" altLang="ja-JP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259" y="5"/>
            <a:ext cx="3038144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02" tIns="0" rIns="19402" bIns="0" numCol="1" anchor="t" anchorCtr="0" compatLnSpc="1">
            <a:prstTxWarp prst="textNoShape">
              <a:avLst/>
            </a:prstTxWarp>
          </a:bodyPr>
          <a:lstStyle>
            <a:lvl1pPr algn="r" defTabSz="931498">
              <a:spcBef>
                <a:spcPct val="0"/>
              </a:spcBef>
              <a:defRPr sz="1200" i="1">
                <a:latin typeface="Times New Roman" pitchFamily="18" charset="0"/>
              </a:defRPr>
            </a:lvl1pPr>
          </a:lstStyle>
          <a:p>
            <a:endParaRPr lang="en-US" altLang="ja-JP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3263"/>
            <a:ext cx="4629150" cy="3473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113" y="4416103"/>
            <a:ext cx="5142177" cy="4182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75" tIns="46888" rIns="93775" bIns="468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Klicken Sie, um die Formate des Vorlagentextes zu bearbeiten</a:t>
            </a:r>
          </a:p>
          <a:p>
            <a:pPr lvl="1"/>
            <a:r>
              <a:rPr lang="en-US" altLang="ja-JP"/>
              <a:t>Zweite Ebene</a:t>
            </a:r>
          </a:p>
          <a:p>
            <a:pPr lvl="2"/>
            <a:r>
              <a:rPr lang="en-US" altLang="ja-JP"/>
              <a:t>Dritte Ebene</a:t>
            </a:r>
          </a:p>
          <a:p>
            <a:pPr lvl="3"/>
            <a:r>
              <a:rPr lang="en-US" altLang="ja-JP"/>
              <a:t>Vierte Ebene</a:t>
            </a:r>
          </a:p>
          <a:p>
            <a:pPr lvl="4"/>
            <a:r>
              <a:rPr lang="en-US" altLang="ja-JP"/>
              <a:t>Fünfte Ebene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32199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02" tIns="0" rIns="19402" bIns="0" numCol="1" anchor="b" anchorCtr="0" compatLnSpc="1">
            <a:prstTxWarp prst="textNoShape">
              <a:avLst/>
            </a:prstTxWarp>
          </a:bodyPr>
          <a:lstStyle>
            <a:lvl1pPr defTabSz="931498">
              <a:spcBef>
                <a:spcPct val="0"/>
              </a:spcBef>
              <a:defRPr sz="1200" i="1">
                <a:latin typeface="Times New Roman" pitchFamily="18" charset="0"/>
              </a:defRPr>
            </a:lvl1pPr>
          </a:lstStyle>
          <a:p>
            <a:endParaRPr lang="en-US" altLang="ja-JP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259" y="8832199"/>
            <a:ext cx="3038144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02" tIns="0" rIns="19402" bIns="0" numCol="1" anchor="b" anchorCtr="0" compatLnSpc="1">
            <a:prstTxWarp prst="textNoShape">
              <a:avLst/>
            </a:prstTxWarp>
          </a:bodyPr>
          <a:lstStyle>
            <a:lvl1pPr algn="r" defTabSz="931498">
              <a:spcBef>
                <a:spcPct val="0"/>
              </a:spcBef>
              <a:defRPr sz="1200" i="1">
                <a:latin typeface="Times New Roman" pitchFamily="18" charset="0"/>
              </a:defRPr>
            </a:lvl1pPr>
          </a:lstStyle>
          <a:p>
            <a:fld id="{969F95F2-7070-4BEC-A3AC-2A59B38A2084}" type="slidenum">
              <a:rPr lang="ja-JP" altLang="en-US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034722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766E93-9414-49E7-85EE-C3EEE50C83A8}" type="slidenum">
              <a:rPr lang="ja-JP" altLang="en-US"/>
              <a:pPr/>
              <a:t>1</a:t>
            </a:fld>
            <a:endParaRPr lang="en-US" altLang="ja-JP"/>
          </a:p>
        </p:txBody>
      </p:sp>
      <p:sp>
        <p:nvSpPr>
          <p:cNvPr id="220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762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liquidity increases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t>2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liquidity increases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t>3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</a:t>
            </a:r>
          </a:p>
          <a:p>
            <a:pPr marL="181199" indent="-181199">
              <a:buFont typeface="Arial" panose="020B0604020202020204" pitchFamily="34" charset="0"/>
              <a:buChar char="•"/>
            </a:pPr>
            <a:r>
              <a:rPr lang="en-US" dirty="0"/>
              <a:t>Pre-$</a:t>
            </a:r>
            <a:r>
              <a:rPr lang="en-US" baseline="0" dirty="0"/>
              <a:t> valuations and amounts raised have increased a lot in the last 5 years, per the WSGR data (sample size, &gt;100 for 2014, smaller for Q3 2020).</a:t>
            </a:r>
          </a:p>
          <a:p>
            <a:pPr marL="181199" indent="-181199">
              <a:buFont typeface="Arial" panose="020B0604020202020204" pitchFamily="34" charset="0"/>
              <a:buChar char="•"/>
            </a:pPr>
            <a:r>
              <a:rPr lang="en-US" dirty="0"/>
              <a:t>Note</a:t>
            </a:r>
            <a:r>
              <a:rPr lang="en-US" baseline="0" dirty="0"/>
              <a:t> the dilution in seed deals (seed deals EXCLUDE angel participants):  20+% dilution for a seed deal has become more commonplace, in large part because </a:t>
            </a:r>
          </a:p>
          <a:p>
            <a:pPr marL="655382" lvl="1" indent="-181199">
              <a:buFont typeface="Arial" panose="020B0604020202020204" pitchFamily="34" charset="0"/>
              <a:buChar char="•"/>
            </a:pPr>
            <a:r>
              <a:rPr lang="en-US" baseline="0" dirty="0"/>
              <a:t>(i) startups are waiting longer to take first money in, since it’s so cheap to organize and launch a company; and </a:t>
            </a:r>
          </a:p>
          <a:p>
            <a:pPr marL="655382" lvl="1" indent="-181199">
              <a:buFont typeface="Arial" panose="020B0604020202020204" pitchFamily="34" charset="0"/>
              <a:buChar char="•"/>
            </a:pPr>
            <a:r>
              <a:rPr lang="en-US" baseline="0" dirty="0"/>
              <a:t>(2) as a consequence, they are more developed and mature on their business plan, so able to command higher pre-money valuations; and </a:t>
            </a:r>
          </a:p>
          <a:p>
            <a:pPr marL="655382" lvl="1" indent="-181199">
              <a:buFont typeface="Arial" panose="020B0604020202020204" pitchFamily="34" charset="0"/>
              <a:buChar char="•"/>
            </a:pPr>
            <a:r>
              <a:rPr lang="en-US" baseline="0" dirty="0"/>
              <a:t>(3) investors are pumping more money into these seed rounds, which commands a higher percentage of the company.</a:t>
            </a:r>
          </a:p>
          <a:p>
            <a:pPr marL="655382" lvl="1" indent="-181199">
              <a:buFont typeface="Arial" panose="020B0604020202020204" pitchFamily="34" charset="0"/>
              <a:buChar char="•"/>
            </a:pPr>
            <a:endParaRPr lang="en-US" baseline="0" dirty="0"/>
          </a:p>
          <a:p>
            <a:pPr marL="655382" lvl="1" indent="-181199">
              <a:buFont typeface="Arial" panose="020B0604020202020204" pitchFamily="34" charset="0"/>
              <a:buChar char="•"/>
            </a:pPr>
            <a:r>
              <a:rPr lang="en-US" b="1" baseline="0" dirty="0"/>
              <a:t>Note:  Per recent Wing VC information for the 10 years ended 2020, the median dilution amount for a seed financing was 26%!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5E8B6-7B58-42D1-9EA3-6622145442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67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39833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85110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7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86311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8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79369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the blackb</a:t>
            </a:r>
            <a:r>
              <a:rPr lang="en-US" baseline="0" dirty="0"/>
              <a:t>oard to show the probability function</a:t>
            </a:r>
          </a:p>
          <a:p>
            <a:endParaRPr lang="en-US" baseline="0" dirty="0"/>
          </a:p>
          <a:p>
            <a:r>
              <a:rPr lang="en-US" baseline="0" dirty="0"/>
              <a:t>Ask what are the main buckets of Risk faced by VC? </a:t>
            </a:r>
          </a:p>
          <a:p>
            <a:pPr>
              <a:spcBef>
                <a:spcPct val="0"/>
              </a:spcBef>
            </a:pPr>
            <a:r>
              <a:rPr lang="en-US" altLang="ja-JP" sz="2700" dirty="0">
                <a:ea typeface="MS PGothic" pitchFamily="34" charset="-128"/>
              </a:rPr>
              <a:t>The Company</a:t>
            </a:r>
          </a:p>
          <a:p>
            <a:pPr marL="1161075" lvl="1" indent="601190">
              <a:spcBef>
                <a:spcPct val="0"/>
              </a:spcBef>
            </a:pPr>
            <a:r>
              <a:rPr lang="en-US" altLang="ja-JP" dirty="0">
                <a:ea typeface="MS PGothic" pitchFamily="34" charset="-128"/>
              </a:rPr>
              <a:t>Management</a:t>
            </a:r>
          </a:p>
          <a:p>
            <a:pPr marL="1161075" lvl="1" indent="601190">
              <a:spcBef>
                <a:spcPct val="0"/>
              </a:spcBef>
            </a:pPr>
            <a:r>
              <a:rPr lang="en-US" altLang="ja-JP" dirty="0">
                <a:ea typeface="MS PGothic" pitchFamily="34" charset="-128"/>
              </a:rPr>
              <a:t>Technology</a:t>
            </a:r>
          </a:p>
          <a:p>
            <a:pPr marL="1161075" lvl="1" indent="601190">
              <a:spcBef>
                <a:spcPct val="0"/>
              </a:spcBef>
            </a:pPr>
            <a:r>
              <a:rPr lang="en-US" altLang="ja-JP" dirty="0">
                <a:ea typeface="MS PGothic" pitchFamily="34" charset="-128"/>
              </a:rPr>
              <a:t>Products</a:t>
            </a:r>
          </a:p>
          <a:p>
            <a:pPr>
              <a:spcBef>
                <a:spcPct val="100000"/>
              </a:spcBef>
            </a:pPr>
            <a:r>
              <a:rPr lang="en-US" altLang="ja-JP" sz="2700" dirty="0">
                <a:ea typeface="MS PGothic" pitchFamily="34" charset="-128"/>
              </a:rPr>
              <a:t>The Market for the Product</a:t>
            </a:r>
          </a:p>
          <a:p>
            <a:pPr marL="1161075" lvl="1" indent="601190">
              <a:spcBef>
                <a:spcPct val="0"/>
              </a:spcBef>
            </a:pPr>
            <a:r>
              <a:rPr lang="en-US" altLang="ja-JP" dirty="0">
                <a:ea typeface="MS PGothic" pitchFamily="34" charset="-128"/>
              </a:rPr>
              <a:t>Customers’ willingness to buy</a:t>
            </a:r>
          </a:p>
          <a:p>
            <a:pPr marL="1161075" lvl="1" indent="601190">
              <a:spcBef>
                <a:spcPct val="0"/>
              </a:spcBef>
            </a:pPr>
            <a:r>
              <a:rPr lang="en-US" altLang="ja-JP" dirty="0">
                <a:ea typeface="MS PGothic" pitchFamily="34" charset="-128"/>
              </a:rPr>
              <a:t>Competitors’ pace of imitation</a:t>
            </a:r>
          </a:p>
          <a:p>
            <a:pPr>
              <a:spcBef>
                <a:spcPct val="0"/>
              </a:spcBef>
            </a:pPr>
            <a:r>
              <a:rPr lang="en-US" altLang="ja-JP" sz="2700" dirty="0">
                <a:ea typeface="MS PGothic" pitchFamily="34" charset="-128"/>
              </a:rPr>
              <a:t>The Industry Environment</a:t>
            </a:r>
          </a:p>
          <a:p>
            <a:pPr marL="1818866" lvl="1" indent="-602719">
              <a:spcBef>
                <a:spcPct val="50000"/>
              </a:spcBef>
            </a:pPr>
            <a:r>
              <a:rPr lang="en-US" altLang="ja-JP" dirty="0">
                <a:ea typeface="MS PGothic" pitchFamily="34" charset="-128"/>
              </a:rPr>
              <a:t>Suppliers</a:t>
            </a:r>
          </a:p>
          <a:p>
            <a:pPr marL="1818866" lvl="1" indent="-602719">
              <a:spcBef>
                <a:spcPct val="0"/>
              </a:spcBef>
            </a:pPr>
            <a:r>
              <a:rPr lang="en-US" altLang="ja-JP" dirty="0" err="1">
                <a:ea typeface="MS PGothic" pitchFamily="34" charset="-128"/>
              </a:rPr>
              <a:t>Complementors</a:t>
            </a:r>
            <a:endParaRPr lang="en-US" altLang="ja-JP" dirty="0">
              <a:ea typeface="MS PGothic" pitchFamily="34" charset="-128"/>
            </a:endParaRPr>
          </a:p>
          <a:p>
            <a:pPr marL="1818866" lvl="1" indent="-602719">
              <a:spcBef>
                <a:spcPct val="0"/>
              </a:spcBef>
            </a:pPr>
            <a:r>
              <a:rPr lang="en-US" altLang="ja-JP" dirty="0">
                <a:ea typeface="MS PGothic" pitchFamily="34" charset="-128"/>
              </a:rPr>
              <a:t>Barriers to entry</a:t>
            </a:r>
          </a:p>
          <a:p>
            <a:pPr marL="1818866" lvl="1" indent="-602719">
              <a:spcBef>
                <a:spcPct val="0"/>
              </a:spcBef>
            </a:pPr>
            <a:r>
              <a:rPr lang="en-US" altLang="ja-JP" dirty="0">
                <a:ea typeface="MS PGothic" pitchFamily="34" charset="-128"/>
              </a:rPr>
              <a:t>Technology</a:t>
            </a:r>
          </a:p>
          <a:p>
            <a:pPr marL="1818866" lvl="1" indent="-602719">
              <a:spcBef>
                <a:spcPct val="0"/>
              </a:spcBef>
            </a:pPr>
            <a:r>
              <a:rPr lang="en-US" altLang="ja-JP" dirty="0">
                <a:ea typeface="MS PGothic" pitchFamily="34" charset="-128"/>
              </a:rPr>
              <a:t>Regulations</a:t>
            </a:r>
          </a:p>
          <a:p>
            <a:pPr>
              <a:spcBef>
                <a:spcPct val="100000"/>
              </a:spcBef>
            </a:pPr>
            <a:r>
              <a:rPr lang="en-US" altLang="ja-JP" sz="2700" dirty="0">
                <a:ea typeface="MS PGothic" pitchFamily="34" charset="-128"/>
              </a:rPr>
              <a:t>The Public Financial Markets (Re: Exit)</a:t>
            </a:r>
          </a:p>
          <a:p>
            <a:pPr lvl="3">
              <a:spcBef>
                <a:spcPct val="100000"/>
              </a:spcBef>
            </a:pPr>
            <a:r>
              <a:rPr lang="en-US" altLang="ja-JP" sz="2300" dirty="0">
                <a:ea typeface="MS PGothic" pitchFamily="34" charset="-128"/>
              </a:rPr>
              <a:t>And by default, the state of the M&amp;A markets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88782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10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59169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18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25811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 INC,   (Snapchat)  IPO March  3 </a:t>
            </a:r>
            <a:r>
              <a:rPr lang="en-US" baseline="0" dirty="0"/>
              <a:t> 2017 </a:t>
            </a:r>
            <a:r>
              <a:rPr lang="en-US" dirty="0"/>
              <a:t> Priced at $17/share  valuation at IPO: at the end on the first day of trading </a:t>
            </a:r>
            <a:r>
              <a:rPr lang="en-US" dirty="0">
                <a:latin typeface="Times New Roman" pitchFamily="18" charset="0"/>
              </a:rPr>
              <a:t>The stock closed at $24.48, giving the company a market value of $28.3bn  This represent a 44% increase on day 1  (up from about $20B)  for the price at which the  company was listed. </a:t>
            </a:r>
          </a:p>
          <a:p>
            <a:endParaRPr lang="en-US" dirty="0">
              <a:latin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</a:rPr>
              <a:t>   July 29— 400 million shares from early investors  PRICE $13.67  which is about $16 Billion    market cap for Snap Inc.  </a:t>
            </a:r>
          </a:p>
          <a:p>
            <a:r>
              <a:rPr lang="en-US" dirty="0">
                <a:latin typeface="Times New Roman" pitchFamily="18" charset="0"/>
              </a:rPr>
              <a:t>August 14— 182 million shares from employees </a:t>
            </a:r>
            <a:r>
              <a:rPr lang="en-US" b="1" dirty="0">
                <a:latin typeface="Times New Roman" pitchFamily="18" charset="0"/>
              </a:rPr>
              <a:t> PRICE $12.6</a:t>
            </a:r>
          </a:p>
          <a:p>
            <a:r>
              <a:rPr lang="en-US" dirty="0">
                <a:latin typeface="Times New Roman" pitchFamily="18" charset="0"/>
              </a:rPr>
              <a:t>August 14— 600 million shares from directors, founders, insiders</a:t>
            </a:r>
          </a:p>
          <a:p>
            <a:r>
              <a:rPr lang="en-US" dirty="0">
                <a:latin typeface="Times New Roman" pitchFamily="18" charset="0"/>
              </a:rPr>
              <a:t>August 29— 20 million shares from early investors</a:t>
            </a:r>
          </a:p>
          <a:p>
            <a:endParaRPr lang="en-US" dirty="0"/>
          </a:p>
          <a:p>
            <a:r>
              <a:rPr lang="en-US" dirty="0"/>
              <a:t>On 9/14/2021 MKT cap  $12.7 Billion  p/share</a:t>
            </a:r>
            <a:r>
              <a:rPr lang="en-US" baseline="0" dirty="0"/>
              <a:t> $71.3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19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96152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would be good to write </a:t>
            </a:r>
            <a:r>
              <a:rPr lang="en-US" baseline="0" dirty="0"/>
              <a:t> in this section the detailed calculations that are done on the blackboard </a:t>
            </a:r>
          </a:p>
          <a:p>
            <a:endParaRPr lang="en-US" baseline="0" dirty="0"/>
          </a:p>
          <a:p>
            <a:r>
              <a:rPr lang="en-US" b="1" baseline="0" dirty="0"/>
              <a:t>Done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22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953048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would be good to write </a:t>
            </a:r>
            <a:r>
              <a:rPr lang="en-US" baseline="0" dirty="0"/>
              <a:t> in this section the detailed calculations that are done on the blackboard </a:t>
            </a:r>
          </a:p>
          <a:p>
            <a:endParaRPr lang="en-US" baseline="0" dirty="0"/>
          </a:p>
          <a:p>
            <a:r>
              <a:rPr lang="en-US" b="1" baseline="0" dirty="0"/>
              <a:t>$3.5 * 1.5**5 =  $3.5 * 7.59375 = $26.578125 </a:t>
            </a:r>
          </a:p>
          <a:p>
            <a:endParaRPr lang="en-US" b="1" baseline="0" dirty="0"/>
          </a:p>
          <a:p>
            <a:r>
              <a:rPr lang="en-US" b="1" baseline="0" dirty="0"/>
              <a:t>$26.578125/$37.5 =  70.875%</a:t>
            </a:r>
          </a:p>
          <a:p>
            <a:endParaRPr lang="en-US" b="1" baseline="0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23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77979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24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211202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25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61299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26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911698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27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150651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37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567222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Square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45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425664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F95F2-7070-4BEC-A3AC-2A59B38A2084}" type="slidenum">
              <a:rPr lang="ja-JP" altLang="en-US" smtClean="0"/>
              <a:pPr/>
              <a:t>47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934888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6430" eaLnBrk="0" hangingPunct="0">
              <a:defRPr sz="23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15920" indent="-275353" defTabSz="896430" eaLnBrk="0" hangingPunct="0">
              <a:defRPr sz="23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01416" indent="-220284" defTabSz="896430" eaLnBrk="0" hangingPunct="0">
              <a:defRPr sz="23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541981" indent="-220284" defTabSz="896430" eaLnBrk="0" hangingPunct="0">
              <a:defRPr sz="23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1982548" indent="-220284" defTabSz="896430" eaLnBrk="0" hangingPunct="0">
              <a:defRPr sz="23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423113" indent="-220284" defTabSz="89643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863679" indent="-220284" defTabSz="89643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304243" indent="-220284" defTabSz="89643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744810" indent="-220284" defTabSz="89643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FDFD245A-61D6-469D-A4DB-B50DB1722ABA}" type="slidenum">
              <a:rPr lang="en-US" altLang="en-US" sz="1200">
                <a:latin typeface="Times New Roman" pitchFamily="18" charset="0"/>
              </a:rPr>
              <a:pPr/>
              <a:t>48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29792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7238" y="2052638"/>
            <a:ext cx="7623175" cy="1752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7628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6988" y="4013200"/>
            <a:ext cx="65532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zh-CN" altLang="en-US"/>
              <a:t>单击此处编辑母版副标题样式</a:t>
            </a:r>
            <a:endParaRPr lang="en-US" altLang="en-US"/>
          </a:p>
        </p:txBody>
      </p:sp>
      <p:sp>
        <p:nvSpPr>
          <p:cNvPr id="762887" name="Freeform 7"/>
          <p:cNvSpPr>
            <a:spLocks noChangeArrowheads="1"/>
          </p:cNvSpPr>
          <p:nvPr/>
        </p:nvSpPr>
        <p:spPr bwMode="auto">
          <a:xfrm>
            <a:off x="609600" y="1719263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2888" name="Line 8"/>
          <p:cNvSpPr>
            <a:spLocks noChangeShapeType="1"/>
          </p:cNvSpPr>
          <p:nvPr/>
        </p:nvSpPr>
        <p:spPr bwMode="auto">
          <a:xfrm>
            <a:off x="1316038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pull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499480-5F8D-48DE-8162-81A172917574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  <p:transition spd="med">
    <p:pull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8615AF-5BBA-47DB-853F-FCDD08312BF0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  <p:transition spd="med">
    <p:pull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2A0130-F923-4C90-8739-67D6A379B1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  <p:transition spd="med">
    <p:pull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5737FE-2B60-4F47-8B57-E778B48F0839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  <p:transition spd="med">
    <p:pull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54D71-042D-4ED4-9D97-8B1E17FEA77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  <p:transition spd="med">
    <p:pull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6D926F-80F5-4B0A-B5BE-9DC19C0FE5F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  <p:transition spd="med">
    <p:pull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19F54C-363A-4444-BE88-1B98F21D55F6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  <p:transition spd="med">
    <p:pull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B3A068-9512-450D-A7B2-7C2C06DD6BC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  <p:transition spd="med">
    <p:pull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0FD9CD-CEFF-4C5E-B99A-67FFE446928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  <p:transition spd="med">
    <p:pull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C7603B-E83D-4913-8D75-B0992921629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  <p:transition spd="med">
    <p:pull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297113" y="6219825"/>
            <a:ext cx="3875087" cy="33337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DA236E5-9206-45D7-8A2F-3F0051F9D932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  <p:transition spd="med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76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761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latin typeface="Garamond" pitchFamily="18" charset="0"/>
              </a:defRPr>
            </a:lvl1pPr>
          </a:lstStyle>
          <a:p>
            <a:endParaRPr lang="en-US" altLang="en-US" dirty="0"/>
          </a:p>
        </p:txBody>
      </p:sp>
      <p:sp>
        <p:nvSpPr>
          <p:cNvPr id="761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97113" y="6219825"/>
            <a:ext cx="387508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200">
                <a:latin typeface="Garamond" pitchFamily="18" charset="0"/>
              </a:defRPr>
            </a:lvl1pPr>
          </a:lstStyle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761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Garamond" pitchFamily="18" charset="0"/>
              </a:defRPr>
            </a:lvl1pPr>
          </a:lstStyle>
          <a:p>
            <a:fld id="{976E0176-A4FB-4EE0-80CE-DD8EA1493A1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761863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1864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pic>
        <p:nvPicPr>
          <p:cNvPr id="761865" name="Picture 9" descr="Med Logo blue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22238" y="6324600"/>
            <a:ext cx="1554162" cy="43338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transition spd="med">
    <p:pull dir="d"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Rockwell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Rockwell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Rockwell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Rockwell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Rockwell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Rockwell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Rockwell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Rockwell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90.png"/><Relationship Id="rId10" Type="http://schemas.openxmlformats.org/officeDocument/2006/relationships/image" Target="../media/image23.png"/><Relationship Id="rId4" Type="http://schemas.openxmlformats.org/officeDocument/2006/relationships/image" Target="../media/image180.png"/><Relationship Id="rId9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57200" y="1600200"/>
            <a:ext cx="8474529" cy="2422962"/>
          </a:xfrm>
          <a:noFill/>
          <a:ln/>
        </p:spPr>
        <p:txBody>
          <a:bodyPr/>
          <a:lstStyle/>
          <a:p>
            <a:r>
              <a:rPr lang="en-US" altLang="ja-JP" sz="4400" dirty="0">
                <a:ea typeface="MS PGothic" pitchFamily="34" charset="-128"/>
              </a:rPr>
              <a:t>Venture Capital and Entrepreneurial Management</a:t>
            </a:r>
            <a:br>
              <a:rPr lang="en-US" altLang="ja-JP" sz="4400" dirty="0">
                <a:ea typeface="MS PGothic" pitchFamily="34" charset="-128"/>
              </a:rPr>
            </a:br>
            <a:r>
              <a:rPr lang="en-US" altLang="ja-JP" sz="4400" dirty="0">
                <a:ea typeface="MS PGothic" pitchFamily="34" charset="-128"/>
              </a:rPr>
              <a:t>MGMT 264</a:t>
            </a:r>
            <a:br>
              <a:rPr lang="en-US" altLang="ja-JP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itchFamily="34" charset="-128"/>
              </a:rPr>
            </a:br>
            <a:br>
              <a:rPr lang="en-US" altLang="ja-JP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itchFamily="34" charset="-128"/>
              </a:rPr>
            </a:br>
            <a:endParaRPr lang="en-US" altLang="ja-JP" dirty="0">
              <a:effectLst>
                <a:outerShdw blurRad="38100" dist="38100" dir="2700000" algn="tl">
                  <a:srgbClr val="C0C0C0"/>
                </a:outerShdw>
              </a:effectLst>
              <a:ea typeface="MS PGothic" pitchFamily="34" charset="-128"/>
            </a:endParaRPr>
          </a:p>
        </p:txBody>
      </p:sp>
      <p:pic>
        <p:nvPicPr>
          <p:cNvPr id="2203657" name="Picture 9" descr="Logo Blue Letter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547688"/>
            <a:ext cx="3108325" cy="858837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008993" y="3499942"/>
            <a:ext cx="7220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lt"/>
                <a:cs typeface="+mj-cs"/>
              </a:rPr>
              <a:t>Valuation Methodologies</a:t>
            </a:r>
            <a:endParaRPr lang="en-US" sz="2800" dirty="0">
              <a:solidFill>
                <a:schemeClr val="tx2"/>
              </a:solidFill>
              <a:latin typeface="+mj-lt"/>
              <a:cs typeface="+mj-cs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358440" y="4480976"/>
            <a:ext cx="4693870" cy="1851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ja-JP" sz="1400" b="1" dirty="0">
                <a:solidFill>
                  <a:schemeClr val="tx2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Raphael (“Raffi”) Amit, PhD</a:t>
            </a:r>
          </a:p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ja-JP" sz="1400" b="1" dirty="0">
                <a:solidFill>
                  <a:schemeClr val="tx2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The Marie and Joseph Melone Professor </a:t>
            </a:r>
          </a:p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ja-JP" sz="1400" b="1" dirty="0">
                <a:solidFill>
                  <a:schemeClr val="tx2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The Wharton School</a:t>
            </a:r>
          </a:p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ja-JP" sz="1400" b="1" dirty="0">
                <a:solidFill>
                  <a:schemeClr val="tx2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University of Pennsylvania</a:t>
            </a:r>
          </a:p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ja-JP" sz="1400" b="1" dirty="0">
                <a:solidFill>
                  <a:schemeClr val="tx2"/>
                </a:solidFill>
                <a:latin typeface="+mn-lt"/>
                <a:ea typeface="Arial Unicode MS" pitchFamily="34" charset="-128"/>
                <a:cs typeface="Arial Unicode MS" pitchFamily="34" charset="-128"/>
                <a:sym typeface="Wingdings" pitchFamily="2" charset="2"/>
              </a:rPr>
              <a:t> (215) 898 7731</a:t>
            </a:r>
          </a:p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ja-JP" sz="1400" b="1" dirty="0">
                <a:solidFill>
                  <a:schemeClr val="tx2"/>
                </a:solidFill>
                <a:latin typeface="+mn-lt"/>
                <a:ea typeface="Arial Unicode MS" pitchFamily="34" charset="-128"/>
                <a:cs typeface="Arial Unicode MS" pitchFamily="34" charset="-128"/>
                <a:sym typeface="Wingdings" pitchFamily="2" charset="2"/>
              </a:rPr>
              <a:t> amit@wharton.upenn.edu</a:t>
            </a:r>
            <a:endParaRPr lang="en-US" altLang="ja-JP" sz="1200" b="1" dirty="0">
              <a:solidFill>
                <a:schemeClr val="tx2"/>
              </a:solidFill>
              <a:latin typeface="+mn-lt"/>
              <a:ea typeface="Arial Unicode MS" pitchFamily="34" charset="-128"/>
              <a:cs typeface="Arial Unicode MS" pitchFamily="34" charset="-128"/>
              <a:sym typeface="Wingdings" pitchFamily="2" charset="2"/>
            </a:endParaRPr>
          </a:p>
        </p:txBody>
      </p:sp>
    </p:spTree>
  </p:cSld>
  <p:clrMapOvr>
    <a:masterClrMapping/>
  </p:clrMapOvr>
  <p:transition spd="med">
    <p:pull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500" dirty="0">
                <a:sym typeface="+mn-ea"/>
              </a:rPr>
              <a:t>Average US VC pre-money valuations</a:t>
            </a:r>
            <a:br>
              <a:rPr lang="en-US" altLang="zh-CN" sz="4000" dirty="0">
                <a:sym typeface="+mn-ea"/>
              </a:rPr>
            </a:br>
            <a:r>
              <a:rPr lang="en-US" altLang="zh-CN" sz="2800" dirty="0">
                <a:sym typeface="+mn-ea"/>
              </a:rPr>
              <a:t>- Angel and Seed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2021 by Raphael ("Raffi") Amit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t>2</a:t>
            </a:fld>
            <a:endParaRPr lang="en-US" altLang="en-US"/>
          </a:p>
        </p:txBody>
      </p:sp>
      <p:graphicFrame>
        <p:nvGraphicFramePr>
          <p:cNvPr id="8" name="Chart 7"/>
          <p:cNvGraphicFramePr/>
          <p:nvPr/>
        </p:nvGraphicFramePr>
        <p:xfrm>
          <a:off x="471639" y="1640548"/>
          <a:ext cx="4211456" cy="41046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4650170" y="1634472"/>
          <a:ext cx="4211456" cy="4118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59676" y="5927424"/>
            <a:ext cx="122682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000" dirty="0">
                <a:latin typeface="+mn-lt"/>
              </a:rPr>
              <a:t>Source: PitchBook</a:t>
            </a:r>
          </a:p>
        </p:txBody>
      </p:sp>
    </p:spTree>
  </p:cSld>
  <p:clrMapOvr>
    <a:masterClrMapping/>
  </p:clrMapOvr>
  <p:transition spd="med"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500" dirty="0">
                <a:sym typeface="+mn-ea"/>
              </a:rPr>
              <a:t>Average US VC pre-money valuations</a:t>
            </a:r>
            <a:br>
              <a:rPr lang="en-US" altLang="zh-CN" sz="4000" dirty="0">
                <a:sym typeface="+mn-ea"/>
              </a:rPr>
            </a:br>
            <a:r>
              <a:rPr lang="en-US" altLang="zh-CN" sz="2800" dirty="0">
                <a:sym typeface="+mn-ea"/>
              </a:rPr>
              <a:t>- Early Stage and Late Stage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2021 by Raphael ("Raffi") Amit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t>3</a:t>
            </a:fld>
            <a:endParaRPr lang="en-US" altLang="en-US"/>
          </a:p>
        </p:txBody>
      </p:sp>
      <p:graphicFrame>
        <p:nvGraphicFramePr>
          <p:cNvPr id="8" name="Chart 7"/>
          <p:cNvGraphicFramePr/>
          <p:nvPr/>
        </p:nvGraphicFramePr>
        <p:xfrm>
          <a:off x="471639" y="1640548"/>
          <a:ext cx="4211456" cy="41046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4650170" y="1634472"/>
          <a:ext cx="4211456" cy="4118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59676" y="5875354"/>
            <a:ext cx="122682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000" dirty="0">
                <a:latin typeface="+mn-lt"/>
              </a:rPr>
              <a:t>Source: PitchBook</a:t>
            </a:r>
          </a:p>
        </p:txBody>
      </p:sp>
    </p:spTree>
  </p:cSld>
  <p:clrMapOvr>
    <a:masterClrMapping/>
  </p:clrMapOvr>
  <p:transition spd="med">
    <p:pull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139825"/>
          </a:xfrm>
        </p:spPr>
        <p:txBody>
          <a:bodyPr/>
          <a:lstStyle/>
          <a:p>
            <a:r>
              <a:rPr lang="en-US" sz="2800" dirty="0"/>
              <a:t>Median Dilution Amounts—2015 vs. 2020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685800" y="3728450"/>
          <a:ext cx="8229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Median Pre-$</a:t>
                      </a:r>
                      <a:r>
                        <a:rPr lang="en-US" baseline="0" dirty="0"/>
                        <a:t> 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Median Amount Raised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$6.9M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Series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$27.8M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Series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$98.0M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$18.2M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Series C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$315.0M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2021 by Raffi Amit and Doug Collom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029200" y="685800"/>
            <a:ext cx="32059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Source:  WSGR Entrepreneurs Report Q3 2020</a:t>
            </a:r>
          </a:p>
        </p:txBody>
      </p:sp>
      <p:graphicFrame>
        <p:nvGraphicFramePr>
          <p:cNvPr id="8" name="Content Placeholder 5"/>
          <p:cNvGraphicFramePr>
            <a:graphicFrameLocks/>
          </p:cNvGraphicFramePr>
          <p:nvPr>
            <p:extLst/>
          </p:nvPr>
        </p:nvGraphicFramePr>
        <p:xfrm>
          <a:off x="685800" y="1066800"/>
          <a:ext cx="8229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Median Pre-$</a:t>
                      </a:r>
                      <a:r>
                        <a:rPr lang="en-US" baseline="0" dirty="0"/>
                        <a:t> 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Median Amount Raised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Series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$16.1M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Series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$40.0M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Series C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$102.9M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04800" y="1524000"/>
            <a:ext cx="3103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3886200"/>
            <a:ext cx="3103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Q3</a:t>
            </a:r>
          </a:p>
          <a:p>
            <a:r>
              <a:rPr lang="en-US" b="1" dirty="0"/>
              <a:t> 2020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3373794" y="5326246"/>
            <a:ext cx="706794" cy="609600"/>
          </a:xfrm>
          <a:prstGeom prst="ellipse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3373794" y="2728993"/>
            <a:ext cx="685800" cy="570513"/>
          </a:xfrm>
          <a:prstGeom prst="ellipse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7467599" y="1527110"/>
            <a:ext cx="625151" cy="62204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7467598" y="4191000"/>
            <a:ext cx="625151" cy="62204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5" name="Curved Down Arrow 14"/>
          <p:cNvSpPr/>
          <p:nvPr/>
        </p:nvSpPr>
        <p:spPr bwMode="auto">
          <a:xfrm rot="5400000">
            <a:off x="6985780" y="2973924"/>
            <a:ext cx="3151893" cy="707346"/>
          </a:xfrm>
          <a:prstGeom prst="curvedDownArrow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6" name="Curved Down Arrow 15"/>
          <p:cNvSpPr/>
          <p:nvPr/>
        </p:nvSpPr>
        <p:spPr bwMode="auto">
          <a:xfrm rot="5400000">
            <a:off x="2968726" y="4090181"/>
            <a:ext cx="3151893" cy="707346"/>
          </a:xfrm>
          <a:prstGeom prst="curvedDownArrow">
            <a:avLst/>
          </a:prstGeom>
          <a:solidFill>
            <a:schemeClr val="tx1"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6515984"/>
      </p:ext>
    </p:extLst>
  </p:cSld>
  <p:clrMapOvr>
    <a:masterClrMapping/>
  </p:clrMapOvr>
  <p:transition spd="med">
    <p:pull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Valuation of Start-up Companies</a:t>
            </a:r>
            <a:br>
              <a:rPr lang="en-US" altLang="zh-CN" dirty="0"/>
            </a:br>
            <a:r>
              <a:rPr lang="en-US" altLang="zh-CN" sz="2800" dirty="0"/>
              <a:t>- A Comprehensive Perspective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2036190" y="1508288"/>
          <a:ext cx="6278251" cy="4374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64850" y="1989056"/>
            <a:ext cx="1939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+mn-lt"/>
                <a:ea typeface="+mn-ea"/>
              </a:rPr>
              <a:t>Investment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+mn-lt"/>
                <a:ea typeface="+mn-ea"/>
              </a:rPr>
              <a:t>Fundraising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lt"/>
                <a:ea typeface="+mn-ea"/>
              </a:rPr>
              <a:t>Stock Incentives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lt"/>
                <a:ea typeface="+mn-ea"/>
              </a:rPr>
              <a:t>Taxes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760803"/>
            <a:ext cx="222943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+mn-lt"/>
                <a:ea typeface="+mn-ea"/>
              </a:rPr>
              <a:t>Demand and Supply of Capital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+mn-lt"/>
                <a:ea typeface="+mn-ea"/>
              </a:rPr>
              <a:t>“Prospect” of a Startup Company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lt"/>
                <a:ea typeface="+mn-ea"/>
              </a:rPr>
              <a:t>Terms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lt"/>
                <a:ea typeface="+mn-ea"/>
              </a:rPr>
              <a:t>Strategic Goals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lt"/>
                <a:ea typeface="+mn-ea"/>
              </a:rPr>
              <a:t>Barriers for Next Round Financing…</a:t>
            </a:r>
          </a:p>
        </p:txBody>
      </p:sp>
    </p:spTree>
    <p:extLst>
      <p:ext uri="{BB962C8B-B14F-4D97-AF65-F5344CB8AC3E}">
        <p14:creationId xmlns:p14="http://schemas.microsoft.com/office/powerpoint/2010/main" val="2584200037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Valuation of Start-up Companies</a:t>
            </a:r>
            <a:br>
              <a:rPr lang="en-US" altLang="zh-CN" dirty="0"/>
            </a:br>
            <a:r>
              <a:rPr lang="en-US" altLang="zh-CN" sz="2800" dirty="0"/>
              <a:t>- Important Premises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13287"/>
          </a:xfrm>
        </p:spPr>
        <p:txBody>
          <a:bodyPr/>
          <a:lstStyle/>
          <a:p>
            <a:r>
              <a:rPr lang="en-US" altLang="zh-CN" sz="2800" dirty="0"/>
              <a:t>Premise 1: Company valuation is ultimately determined by market forces.</a:t>
            </a:r>
            <a:endParaRPr lang="zh-CN" alt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pic>
        <p:nvPicPr>
          <p:cNvPr id="6" name="Picture 2" descr="http://stephansmithfx.com/wp-content/uploads/2011/01/Supply-and-Demand-Graph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667" y="2384981"/>
            <a:ext cx="3607353" cy="360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912466"/>
      </p:ext>
    </p:extLst>
  </p:cSld>
  <p:clrMapOvr>
    <a:masterClrMapping/>
  </p:clrMapOvr>
  <p:transition spd="med">
    <p:pull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Valuation of Start-up Companies</a:t>
            </a:r>
            <a:br>
              <a:rPr lang="en-US" altLang="zh-CN" dirty="0"/>
            </a:br>
            <a:r>
              <a:rPr lang="en-US" altLang="zh-CN" sz="2800" dirty="0"/>
              <a:t>- Important Premises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Premise 2: Cash Flow Trajectory </a:t>
            </a:r>
            <a:endParaRPr lang="zh-CN" altLang="en-US" sz="2800" dirty="0"/>
          </a:p>
          <a:p>
            <a:endParaRPr lang="zh-CN" alt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87" y="2601796"/>
            <a:ext cx="7854439" cy="3035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7995500"/>
      </p:ext>
    </p:extLst>
  </p:cSld>
  <p:clrMapOvr>
    <a:masterClrMapping/>
  </p:clrMapOvr>
  <p:transition spd="med">
    <p:pull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Valuation of Start-up Companies</a:t>
            </a:r>
            <a:br>
              <a:rPr lang="en-US" altLang="zh-CN" dirty="0"/>
            </a:br>
            <a:r>
              <a:rPr lang="en-US" altLang="zh-CN" sz="2800" dirty="0"/>
              <a:t>- Important Premises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Premise 3: Information Asymmetry </a:t>
            </a:r>
            <a:endParaRPr lang="zh-CN" altLang="en-US" sz="2800" dirty="0"/>
          </a:p>
          <a:p>
            <a:endParaRPr lang="zh-CN" alt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" y="2357773"/>
            <a:ext cx="7748834" cy="3626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7280220"/>
      </p:ext>
    </p:extLst>
  </p:cSld>
  <p:clrMapOvr>
    <a:masterClrMapping/>
  </p:clrMapOvr>
  <p:transition spd="med">
    <p:pull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Valuation of Start-up Companies</a:t>
            </a:r>
            <a:br>
              <a:rPr lang="en-US" altLang="zh-CN" dirty="0"/>
            </a:br>
            <a:r>
              <a:rPr lang="en-US" altLang="zh-CN" sz="2800" dirty="0"/>
              <a:t>- Important Premises</a:t>
            </a:r>
            <a:br>
              <a:rPr lang="en-US" dirty="0"/>
            </a:br>
            <a:r>
              <a:rPr lang="en-US" altLang="zh-CN" sz="2400" dirty="0"/>
              <a:t> 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r>
              <a:rPr lang="en-US" altLang="zh-CN" sz="2800" dirty="0"/>
              <a:t>Premise 4: Risks</a:t>
            </a:r>
            <a:endParaRPr lang="en-US" sz="2800" dirty="0"/>
          </a:p>
        </p:txBody>
      </p:sp>
      <p:cxnSp>
        <p:nvCxnSpPr>
          <p:cNvPr id="19" name="Curved Connector 18"/>
          <p:cNvCxnSpPr/>
          <p:nvPr/>
        </p:nvCxnSpPr>
        <p:spPr bwMode="auto">
          <a:xfrm>
            <a:off x="185380" y="2618791"/>
            <a:ext cx="914400" cy="914400"/>
          </a:xfrm>
          <a:prstGeom prst="curvedConnector3">
            <a:avLst>
              <a:gd name="adj1" fmla="val 143878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Curved Connector 26"/>
          <p:cNvCxnSpPr/>
          <p:nvPr/>
        </p:nvCxnSpPr>
        <p:spPr bwMode="auto">
          <a:xfrm>
            <a:off x="-2230016" y="270588"/>
            <a:ext cx="914400" cy="914400"/>
          </a:xfrm>
          <a:prstGeom prst="curvedConnector3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26" name="Picture 2" descr="http://onlinestatbook.com/2/introduction/graphics/pos_ske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30" y="2679533"/>
            <a:ext cx="7287209" cy="300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/>
          <p:cNvCxnSpPr/>
          <p:nvPr/>
        </p:nvCxnSpPr>
        <p:spPr bwMode="auto">
          <a:xfrm flipV="1">
            <a:off x="997144" y="2286000"/>
            <a:ext cx="0" cy="3402563"/>
          </a:xfrm>
          <a:prstGeom prst="straightConnector1">
            <a:avLst/>
          </a:prstGeom>
          <a:ln w="12700"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44371" y="5669902"/>
            <a:ext cx="792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+mn-lt"/>
                <a:ea typeface="+mn-ea"/>
              </a:rPr>
              <a:t>Return</a:t>
            </a:r>
            <a:endParaRPr lang="zh-CN" altLang="en-US" sz="1600" b="1" dirty="0">
              <a:latin typeface="+mn-lt"/>
              <a:ea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 rot="10800000">
            <a:off x="492842" y="3593934"/>
            <a:ext cx="430887" cy="101373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600" b="1" dirty="0">
                <a:latin typeface="+mn-lt"/>
                <a:ea typeface="+mn-ea"/>
              </a:rPr>
              <a:t>Frequency</a:t>
            </a:r>
            <a:endParaRPr lang="zh-CN" altLang="en-US" sz="1600" b="1" dirty="0">
              <a:latin typeface="+mn-lt"/>
              <a:ea typeface="+mn-ea"/>
            </a:endParaRPr>
          </a:p>
        </p:txBody>
      </p:sp>
      <p:cxnSp>
        <p:nvCxnSpPr>
          <p:cNvPr id="29" name="Straight Connector 28"/>
          <p:cNvCxnSpPr/>
          <p:nvPr/>
        </p:nvCxnSpPr>
        <p:spPr bwMode="auto">
          <a:xfrm>
            <a:off x="1782147" y="2286000"/>
            <a:ext cx="0" cy="3340359"/>
          </a:xfrm>
          <a:prstGeom prst="line">
            <a:avLst/>
          </a:prstGeom>
          <a:noFill/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>
            <a:off x="5181736" y="2286000"/>
            <a:ext cx="0" cy="3340359"/>
          </a:xfrm>
          <a:prstGeom prst="line">
            <a:avLst/>
          </a:prstGeom>
          <a:noFill/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29" name="Straight Arrow Connector 1028"/>
          <p:cNvCxnSpPr/>
          <p:nvPr/>
        </p:nvCxnSpPr>
        <p:spPr bwMode="auto">
          <a:xfrm>
            <a:off x="997144" y="2681182"/>
            <a:ext cx="785003" cy="0"/>
          </a:xfrm>
          <a:prstGeom prst="straightConnector1">
            <a:avLst/>
          </a:prstGeom>
          <a:noFill/>
          <a:ln w="9525" cap="flat" cmpd="sng" algn="ctr">
            <a:solidFill>
              <a:srgbClr val="00B0F0"/>
            </a:solidFill>
            <a:prstDash val="sysDash"/>
            <a:round/>
            <a:headEnd type="arrow"/>
            <a:tailEnd type="arrow"/>
          </a:ln>
          <a:effectLst/>
        </p:spPr>
      </p:cxnSp>
      <p:sp>
        <p:nvSpPr>
          <p:cNvPr id="1033" name="TextBox 1032"/>
          <p:cNvSpPr txBox="1"/>
          <p:nvPr/>
        </p:nvSpPr>
        <p:spPr>
          <a:xfrm>
            <a:off x="997144" y="2311014"/>
            <a:ext cx="796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0070C0"/>
                </a:solidFill>
                <a:latin typeface="+mn-lt"/>
              </a:rPr>
              <a:t>Failures</a:t>
            </a:r>
            <a:endParaRPr lang="zh-CN" altLang="en-US" sz="1400" b="1" dirty="0">
              <a:solidFill>
                <a:srgbClr val="0070C0"/>
              </a:solidFill>
              <a:latin typeface="+mn-lt"/>
            </a:endParaRPr>
          </a:p>
        </p:txBody>
      </p:sp>
      <p:cxnSp>
        <p:nvCxnSpPr>
          <p:cNvPr id="44" name="Straight Arrow Connector 43"/>
          <p:cNvCxnSpPr/>
          <p:nvPr/>
        </p:nvCxnSpPr>
        <p:spPr bwMode="auto">
          <a:xfrm flipV="1">
            <a:off x="1794029" y="2669117"/>
            <a:ext cx="3387707" cy="12066"/>
          </a:xfrm>
          <a:prstGeom prst="straightConnector1">
            <a:avLst/>
          </a:prstGeom>
          <a:noFill/>
          <a:ln w="9525" cap="flat" cmpd="sng" algn="ctr">
            <a:solidFill>
              <a:srgbClr val="00B0F0"/>
            </a:solidFill>
            <a:prstDash val="sysDash"/>
            <a:round/>
            <a:headEnd type="arrow"/>
            <a:tailEnd type="arrow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2515060" y="2311012"/>
            <a:ext cx="18095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0070C0"/>
                </a:solidFill>
                <a:latin typeface="+mn-lt"/>
              </a:rPr>
              <a:t>Mediocre Performers</a:t>
            </a:r>
            <a:endParaRPr lang="zh-CN" altLang="en-US" sz="1400" b="1" dirty="0">
              <a:solidFill>
                <a:srgbClr val="0070C0"/>
              </a:solidFill>
              <a:latin typeface="+mn-lt"/>
            </a:endParaRPr>
          </a:p>
        </p:txBody>
      </p:sp>
      <p:cxnSp>
        <p:nvCxnSpPr>
          <p:cNvPr id="47" name="Straight Arrow Connector 46"/>
          <p:cNvCxnSpPr/>
          <p:nvPr/>
        </p:nvCxnSpPr>
        <p:spPr bwMode="auto">
          <a:xfrm>
            <a:off x="5181736" y="2669117"/>
            <a:ext cx="1158081" cy="0"/>
          </a:xfrm>
          <a:prstGeom prst="straightConnector1">
            <a:avLst/>
          </a:prstGeom>
          <a:noFill/>
          <a:ln w="9525" cap="flat" cmpd="sng" algn="ctr">
            <a:solidFill>
              <a:srgbClr val="00B0F0"/>
            </a:solidFill>
            <a:prstDash val="sysDash"/>
            <a:round/>
            <a:headEnd type="arrow"/>
            <a:tailEnd type="arrow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5291961" y="2311014"/>
            <a:ext cx="937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0070C0"/>
                </a:solidFill>
                <a:latin typeface="+mn-lt"/>
              </a:rPr>
              <a:t>Homerun</a:t>
            </a:r>
            <a:endParaRPr lang="zh-CN" altLang="en-US" sz="14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29590" y="5869956"/>
            <a:ext cx="24173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</a:rPr>
              <a:t>Source: Matt </a:t>
            </a:r>
            <a:r>
              <a:rPr lang="en-US" sz="1200" dirty="0" err="1">
                <a:latin typeface="+mn-lt"/>
              </a:rPr>
              <a:t>Oguz</a:t>
            </a:r>
            <a:r>
              <a:rPr lang="en-US" sz="1200" dirty="0">
                <a:latin typeface="+mn-lt"/>
              </a:rPr>
              <a:t>, TechCrunch.com</a:t>
            </a:r>
          </a:p>
        </p:txBody>
      </p:sp>
      <p:pic>
        <p:nvPicPr>
          <p:cNvPr id="1041" name="Picture 4" descr="http://laws4living.files.wordpress.com/2014/05/file0002062790027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22"/>
          <a:stretch/>
        </p:blipFill>
        <p:spPr bwMode="auto">
          <a:xfrm>
            <a:off x="1156006" y="4607673"/>
            <a:ext cx="516954" cy="78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6" descr="http://assets.vg247.com/current/2013/06/Plants-vs-Zombies-2-1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910" y="4100801"/>
            <a:ext cx="616299" cy="993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8" descr="http://img1.wikia.nocookie.net/__cb20140102171729/mrmen/images/7/7f/Mr_Happy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248" y="2960846"/>
            <a:ext cx="894377" cy="894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12" descr="http://www.mvpfastpitch.com/web_images/home-run-real-estate-investing1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146" y="3471039"/>
            <a:ext cx="1289614" cy="1259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</p:spTree>
    <p:extLst>
      <p:ext uri="{BB962C8B-B14F-4D97-AF65-F5344CB8AC3E}">
        <p14:creationId xmlns:p14="http://schemas.microsoft.com/office/powerpoint/2010/main" val="4141095701"/>
      </p:ext>
    </p:extLst>
  </p:cSld>
  <p:clrMapOvr>
    <a:masterClrMapping/>
  </p:clrMapOvr>
  <p:transition spd="med">
    <p:pull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of Start-up Companies</a:t>
            </a:r>
            <a:br>
              <a:rPr lang="en-US" dirty="0"/>
            </a:br>
            <a:r>
              <a:rPr lang="en-US" sz="2800" dirty="0"/>
              <a:t>- An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Valuing Start-up Companies: Exogenous Factors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1026" name="Picture 2" descr="http://stephansmithfx.com/wp-content/uploads/2011/01/Supply-and-Demand-Graph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80" y="3006583"/>
            <a:ext cx="2764432" cy="276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69792" y="2469560"/>
            <a:ext cx="7796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+mn-lt"/>
              </a:rPr>
              <a:t>Market 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961" y="4409177"/>
            <a:ext cx="2063467" cy="136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100844" y="2479044"/>
            <a:ext cx="14276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+mn-lt"/>
              </a:rPr>
              <a:t>Industry Norms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4467" y="2469559"/>
            <a:ext cx="1705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+mn-lt"/>
              </a:rPr>
              <a:t>Gut Feeling and Art</a:t>
            </a:r>
          </a:p>
        </p:txBody>
      </p:sp>
      <p:sp>
        <p:nvSpPr>
          <p:cNvPr id="7" name="AutoShape 8" descr="data:image/jpeg;base64,/9j/4AAQSkZJRgABAQAAAQABAAD/2wCEAAkGBxQTEhUUEhQWFhUXGSAbGRgYGB4aHxweIBscHR8fHR8dIiggHiAlHR4eJDEhJyotMC4uHR8zODMsNygtLisBCgoKDg0OGxAQGzAmICYyMDcxMjIuLzc0NDAyNzIwLS0yMCwsLTIyLTguNDIsMiwsLiwsLywyLCw0MDQvMjQyNP/AABEIAOQA3QMBEQACEQEDEQH/xAAcAAACAwEBAQEAAAAAAAAAAAAABQQGBwMCAQj/xAA/EAACAQIEBAQEBAQFBAIDAQABAhEDIQAEEjEFIkFRBhNhcQcygZEjQqGxFFJywWKC0fDxFTOSsiXhJHOiFv/EABoBAAMBAQEBAAAAAAAAAAAAAAAEBQMCBgH/xAA7EQABAgUDAgQFAwQCAgEFAQABAhEAAwQhMRJBUQVhEyJxgTKRobHwFMHRI0Lh8QZSFWJyJDOCorKS/9oADAMBAAIRAxEAPwDccEEGCCDBBBgggwQQYIIMEEGCCDBBBgggwQQYII5vmFG7KPcgY+gE4jNU1CfiUB7x8p5lG+V1PsQcYmfKGVD5iPqJiV/AQfSItTjWXUkNXpAjeXUR7ycapOoOLiGxST1Bwg/Ix9yvGMvUOmnXpOeyupP2BnBBMpJ8sOtBA7gxMVgZggxY4IXj1gggwQQYIIMEEGCCDBBBgggwQQYIIMEEGCCDBBBgggwQQYIIMEEGCCDBBBggjjms0lNS9R1RRuzEADpufXBHcuWuYrSgEngRXeIeNKQWcuPOPoSo95I9/tjtHhsStTD0OePWFqsz5E3wfCJIAJuAADub292EK8p45R486r5ZOyKhAM9C5men8v2xMrDWJH9NIblx+fSKkiXLmpPhpLhnfZ+w/kntEbi+drZirpRmQUgS/wCJAsJEyCSfodjbCtB1nwZZM6+rFnPtb7mOKrokqcErWtTYYOxHsRfu4iuPx6rlyQpGpXlyg5e4uu4I3M7EjfFSoqRXyktZxyQfqfy3u50f/jFHTLK5SyoKBYFvrvbYWu5htw/xlq8tXcgljqgTIOxkmQoMiLmLz28/P6WoomaCSqzXLnYj5X2D2aO+p0U2nWFSkunfFm7Pd+3+1PGOItWrsyllUGNQm4BMWsNr36D0x6ugokSpaJcwlmu5Iufk3AYm948kr/kFQKdUuQXUVOGAsAMA3OQ+AGfmOlBkSqrAsypsVXVJMXuYAnt/fGs/pZmSAJahgu6rE7Bw9tzHCv8AlFVNlLlz3ClEC1mAcks4dWAAfKdxtD3/AP2IR6hAaxAAjTe8gjbeL3O+PGSqCsS2hbF+bH8Fx7R6lAkzJcok6Sq5ByBh9/vxHHh3jfNDVKpUAlgCCDEiwNpgHcg7b49HTFU1Qlggn84hnqdNRSKYz0HAuxB98n7xZuH+NaDL+PFFuxOofeBGHqmR4KtL/T8H1jzHTKhdeoolouL2INvR3+kWPL11dQ6MGU3DKZB9iMLw6tCkKKVBiOY6YI5gwQQYIIMEEGCCDBBBgggwQQYIIMEEGCCDBBBgggwQR5qVAoLMQABJJMAD1OPoBJYR8JADmEtbxPQiVcEatMnlAJmJ1RYkEDv0nE6oqpniGRTp1LZ82GBtkuRb5nMaFIQgTJlgcPZ/nFM8b8T81hSLnSBLjSbXiQZgAA3JBGwtjjpNDVVZM+ZMDDDm3yGDbsRvGg6/J6YryI1L+w987M3OYpubVWgqGWksixBJI/NJEifQdIGLgpgT5yAOR9B39Ywk/wDKZsukWj4p5VYlwGNy99sJD47CPFNy5GyaVMlYSRF9rkmI9frhfw/cQz0ioqaUrQhAJmKB8z5PfYb4O8M69SoXGZepBYwoBJIEEgFYuO3sPXEo0af0/hy0uOPRgSPfMWlVkil1Uk1QBPmvte4B5+4ic3DUzLlqhNPkBKqFQMDAUoC+oAkw1vmtF5wkmcqkQEhGSz3JcO72Z9x27QjT9WTL1CUsBsuz7379i/bkQi4nwxKTG8EMVYCSZDR3ggDtGPSokjwJc7+1QBB5cP7RDlf8irjUTUOCScFmADhh3Nr3F49oxpgKNLo6hpHzAS3U7GATBtfpMnOVN0qKVpIbkZGQR27xcqP03VaRU9KdM1OfUNYs7hyB6OWMS6+U+Vg5KEWLKZ2kbb3sWiAWvecdqqkpm+ElsAlsN/aX2fLZ3xHlqOkmVEhZmJKSlRZr6iSyw2dh5rBh2eOKFVENzJvvfp13H09OmNDKWRgkZIb7/aCpqyvQun8mkNc2Nzp0ottdw4L3FnMheKoqolFJM6mbUW0gGYXpHci5j1wjU0pXqKEseQW/O0MdM6nMA8OobS4AcXUTvwL3uIh183TrBnIZFMwLG4PSBYfSf3w3LXqp0y58x1JB2L9r/Qu2Xe0V6TplfQ9SE+iQFILOAQAAbKcOPUEPcd4u3gviDUV8tmYKwDUwyMpgzdp5bxIIsR62x5+qk1KF+LTKf/sMs+PL9z74vHdb1SRUTyiYnSu97sWLWLYi10fE+X0gu6qCSAZlbGCZWRAPXYd8PUtTMXN8CcnSth6F8N3/APXMJkAy/FRdO549e3fEOlYESDIOxGHiGsY5BePuCCDBBBgggwQQYIIMEEGCCDBBBgggwQQYIIhcW4rSy6a6rQOg3LHso6nGkqUuarSkRjPnokI1rMZfxrj9fPOVA00wbJuO8k7MwiY6Wt36qKiRREhSzqYu3fYY55hKVT1lcBOCR4Z7iwGTz2x/McshQGo1kdUOqV1vuzQRrDkzuxDR1J95pmUpKKfSVFVlEJZk7gEEMxASQ98XzG1anqilGXNVpTLFiSkvpYAu13G7O+bxEp5pjUY6itSopgT0AG7C0fW2/fFlc6XKQpwyRi2x39fQfaPKyZMxRCZfLEuc3LHfb6RG8QZcU1pLoEvqKkGDA0jURLCN4EyRFxhWVVpUhSC9j9ch37GPW9C6WszwvUNJfIc2P9rMxffAvm0JjXVQxKiw2GodN7nv0/THNwpo9dMVSqkgpIJu1/sQb2+frDrw5w4rFVywLgjZjC76hG0WIIO8Y+1C5AkHXdaSCwISXew//LBe5vHh+pCpq67+iCUFmWfMz79muR7bRYcxTZqKMlR4VSGYgzAYtrbsCDPcctuomUnVjNnzZS0hJUoKSXcDyhJSLOT5cgC+o+vzqHQjSBMxPn0hiMOSonk2BOC9hvFXSo1QmqHHlqwUeYLkyZYrsBM9d99xisirTNSEYFmAwwwG4A3+sZ1fR5spXhAFSlEkNZ/c5PI2zi8O+C8MTQWqolUjUSiuDIkSWIsAFMlfQdIGJPUp07xAiQWUoi+TZ2AS2539Yr0pnS1CknvLltdw2o8kjbIzwTHWrlKdXzK1AABVOumV1AONgvQKN5iBb0xn48ymmS5FaQ5NikgeU/3Ft3swufrC02dMmqmKoph0kMS1j2D3uGcmwiKMgtOlqrDeZ1SSBpnp3gj0gztj1IqETNUqUdVnPHDfueXHMeUWJ4KVm2w57HvwLlvQQqymXStUC0zaDq5SI5SeljAE+pntiapKWd2w78k/bYcD0itImzAl1yx/rf8APo8RM7RVbKWjaR1Hr262v9cd1Enw5jLbsR9fzIj3n/Eq2ZUyyyhYkkKFw7s17fY7MXho9U1MuhMiIIAi8QoOrfSIAA239MZyEqCyQQA3dy12bHPs1o8PXU5pK+ZTzE6wVLCSch9/YMw7nEe6XkCnSKmt507OxBssSkGFUEDfV26HCKpdSQpa0JUOzarZcMNQ4uCCN49BN/8ApWpkzWSsDFx5mZLt5VHhgQC8TvC/i6plXFIjXT3amPy33Q7A9YmDPSZxcUlE+aUhbqLN39f9xCSKqkl+OtDS3ZnHz5/Y/WNX4bxGnXQPSYMu3qD2I6H0wnMlqlq0qDGKkmcianUguIlY4jWDBBBgggwQQYIIMEEGCCDBBBggiBxfiQooTGqoQdCdWIG3oJiT0nCtVWS6ZIK942kSFTVMMbmMSz2dzWarmrU1M4JBQTCC9lUe07HaTOOitTeIr4A2fhL4HBf7x6GfL6YU+BKmBCm+Jxqs2og7d8D2j3QzD+Y9KjdKiGSSwC2JBtElT3kEjbbGkukVNIVPSCo3x7W4/YNHmajqdNIp0T5Kv/tnSlH/AGFnJ5c2BtvmPvEaFOErTTYuYGhydKqNKqVKg20XY2MzjmTL0SDLSSVAE4ySXt88ZjLqdLVLMydUjTpBYZcm9z2PHpYw34dwilWSnUWo3msx0iJAIItGkbTIuRte+EJ9dOkL0KQVMATuXueS42uA17WhGkpJipAkukAEk3za4J2PYWPvbnnvCWdrvpFOdLNDMNG6/laepCg2G0xhmk8zzTL06tvfcNsHIub2tvZkqNLoMpdwBta22WxZ8mzvHPJcBqfxlLK11CksA5BuywzW91ESNtp3xWRNShBa5P7x51dOV1AlTH05SLkd2O19n3xiHnj/AIBUo0kqUiDSpTf841QLk/MNr798SqfpsiWtagT5ms/fY53ffEero6siYEzACDuf7WBIsG9M2d4hcE4Mc/QdVdVq6m1Mwb0UmxsdoEDlMRGEpdMoVapf9iQG+ZbZ/V3L3d42nV4U5ljykAMfR7fPbJDvHjjdF+HinSClnKAKyjUQeYExp2nSZ9Dbc4+VlNMqZ6lTLJsw5SGy3uGa9olUZRJly5S5o1JLl3Dg8EnYbXs4wbLOJ+G6iolRQQsA6ka4J3Dg/lB9Yv6RjPpvVUmcQpbEE7Xs7Nt2L+m8UupVc2rlJkS0g6ix4Z2+o7H2zFs8OeF2q5VHMKdDCmx1EtqN6hDRGq9uoN42DSKWclS5iVOFqBKSBgYD3IODazj3iDNoHGhZZSQQ4JscHBD7jvCbNE5aoUqs5UHSSoAYqLxBMaTJt6tuMU1S1VVNqlyQF2fUSzi2qwJK7BlXsAzGIUqUZVWZKllk7jg3a+E7M7XPeLHwLw0jfjUFVFqgl2YMTJiVRTYJOqQd5Auogofp5qpXgKLBNgdyBvwDhjkXNjePQSyZoRMsLbdxt2+/plpkvBGWRmZwapYyddxvO3ocP3KEoUXCQAH7BvtGtMgUxeVY8jN75h7leH0qf/bpqvsIwRoSSXMU34i8MoVDSgqtdm0BpFl3JcdQCB98YVEzw0Fb4Btz2jekmzJM9K5aNTZuQQk2JBGDta8UHxHTy6VVXKlqjWL1QwYNtZfy/lMxF8LUE2oVL8WcPMTYNti73vjsn1iqOlKqEqCwJUpL2Dg6shh2Jd7knbnzwXi9fLZjVQOpiwBpzZx2YTYi/qPS4xtrUhyqwuew7DgcQ3JpaQUqEVNpihY/3Eizl2ckc7W2jcOG59ayyLMLMp3Uxsf9euPtLVS6lGtEecmylSlMYl4ZjKDBBBgggwQQYIIMEEGCCFXiPjtPKUtbgsxsiDdjv12AFy3QfbHC1hIcw3R0a6pelNgMk4H5sIpeb8UM1anAcmpIkArpOiQArLJ+YGYM9Ji/kZtGqpM2dOUHHvZ7CxtgjbnmGlSTJUEAOXvcY5zy3pCocNdXpqEWjT5iXaoJkk6tUCx3AH/3ixSdeTJkTAt5qi3lZkhsMG9yfTgQhXdBpqghSZzFIFgkudnfULH0Z35hd4hzOVo0dFGqatUwKlTSRPXlMGANiFN/WDNFFVW1C0KKSlBTazeo2+eI66Z0qkp0kTEpUpJGWcceli4jnl4VNAko8qwN9VubQwgoPy6tiZnbGUuYoJWpflIDuLNlnBB1egILYMddX6gmfoSllOfUuDjOdi+HzGvcFy2WpItOgEW1gNzFjPWQRhqXOTOAWC73+cJqKETPDNlZbduY7cb4quWpGq4YqN9Ik98C5iUFIP8AcWHrH1StIeKNkOMNmuI0Kq0iqmUJMflViPW+qfb9OTp8W5uBi+++WOGxl+0TZLVFT4pfyWHGPM/zDc+0Wbx+6jI1QxMNpFt51Ax+mNCFEeXMWqZKVTAFM184wYp/wjq/j1lJH/bERNgGjY7YXkoUlZ1RT6jNp108sSWe5LNvfIsfXfMWHx4qh6TNYaH1NBOkDSZEXBmwPqe+M64y0ywopdQI0jUA+xF9tz6Ax5mfST6mfLlyrAuCWdnb74vZiYVLkDmqlKmGdVgeYoJsAYZWixmIkdQw94fTDLm1BOhIVqKuxDuyQ1mfezNvD36OZQEBJ1IKUpvkMPjBzcBmG7Rfc1mEoUi7kKiL9gMerSkqISN4zWtKElSjYQl8RcLpZzLCqFDNo10iWKbra4BI37HC1XIW7gsU9gXFnDH0sXEbUs/T50YU3uMh3yOxiv8Ah7xqKSPRqUyfJJAeyBgNhpJkGf0vbbHFKpS6dCkB3YZH1Pbcxz1abKo5ul3UQ7DZ9nx8otfhnjf8XTd9OnS5SJnZVP8AfFGok+CvS7wpS1Hjy9bNEDxLn2WsKYcU18vUWkgySwEXvcT9MSq1NTpeQCTwG9b24t+CNlVlPJOiaWJxjttv7RlnGMzUWoWZzUJnSd5ANptfb9MaVFFNVqIx67bn/X8Q9S9TpqtEqQlOlQKdambzdss7l8ccxy4JWNMuy6X0rqPmQFJIEg95+UKN9uhOMJiUHQkE7Yy/+MvsA8eoqkzpstCZiCNSim2QLkE3xb1uOYnMPOqLXNIrcNT/AA9JqEEXEE2UAmYgBVHUA/J9XKShVOiYHZlcBwXewF8N6+3nCqVKC5VV8WogFx5U5G53yDgWyHiz5PxaVeswDchIEyweEEA6QdMk6tVhG+1oVPSLpJkqZLUDqzs4e4vlsetxGkmT+qYCz9xi7EX7YzF54FxinmqQqU5HRlO6t2P7+oIOPWoWFhxClVSrppmhXsdiORDHHULQYIIMEEGCCDBBHLNZlaaM9RgqKJJPQDH0AksI5UoJBUcRiviPjD16q5msJQkilQmIpqYIPq8XN9x2AwlMEybNXIHlUBlsE4392i2OoyKelEqSytVyRnl/Qe3HMfKvlJ5VZKTUzWVY5jGowWYGdUyQCBAH6YWXJqVk05Xq07WxhIw3e9zvGFFpowpZAu5OXZr5cZEeeLZ8ViodV00gdQQt+JcECbkEksSbjc3scY0VMuQhTq3cAgZ+E3B4A+W0aTNKJhqJSmUoadRLMGcEONJzjO2xb7lOCIzay4RAFCibgtIuxj21SL26iXarrZpykFOpQGBYBs7G5BfGHePOU1OqpTOUhdlKNzfURcfU3BsS3eJNbO0lqBlcFSyuEJMHZltY9t+3rjuXJXV0iUzFaVNp21FyXw4ZzbtexiVVKVS1S0CW+kjL4AFne3fNw1xFj8OcSV87S0FubUSrCNJYM5X15puO+J3TKKfIW6wNIs4Ni1gfkGitNqJNRWpWkeYJY52+g73yAMw9+IdFnyyqpYE1BZYloVjF7RIBv2xYmKlpAVMIDGxL5NrMCXvZo2nTfDAOgKezHDfMfeKx4OzS1s3SLKQ6FpIACQUaBHQmCdQ9cJmnn09SkEgoU5zcEAvwWGG9IzpaiVOUoy0FJb2a33Nx6s5zFj+JtB6mS0UxLGonVRsZ3YgdMUkqCTf9/wBv9RvMqPAGv1HzBG/5vFd+GauubqKwUHySDBvqV0Bn772vPbGqykSwlJff8/PtEjps0rmKBewsC9hwHv7Em3rE/wCKjlTlmEbuI6mdOI3Uw8sJ5j1VAh9asaQ72t8yNu949fDis1WrWdiYVVAG06i1478v+5xx06jTJJJ+IW9Py0SpM6coqEwBjpIN+DycdmB2OI6/E/NOadPL0gSzks0AnlW3T1P6YozKoU3nJA4fn84vHNRKTOT4aiwybtYNubZbOcRZ+E0vLylJW3WkoM9wonGhWZnnO940RLSEBAwzRkGczIOo+aWcxrOkmLgmZjURH0jHapMmmlIShgNm+t4mdNk1dVPDh73Crg7Bg4Ybu4e0X74YuDQrRH/eO23yJ+++OVFy+xx6RURTrp0+FNSyhngnkdmYeoMLPH2bZM1ytdqIBEEmJqEmI/UfthGpQla06kkkENhn9CbnDP7XhOqnhKgkkAf3PuDs4c7HAeKFxCi0q9QVLizP8vWPQAT9o9MZoqFHUkbOGe+XJvi/G+7x7Xo9LKqpHjpSgFTHSkMwAAwzmzkE5faLBwNaVKlVevolxymJ1GTtG/MJ9CJ6WlVkiomeGuU+S/59O9xClZ1Gd4qpYUWSzJwQ4w5bN22aOHijxCSy08uyrSAglYZCpi+ogaRMzBIPXDPRejCeoTqkG53DN7O19nxxE2amRT00zWh5v9iS7nlhk8tv9Y95vLZVEfMymY0hQESVBblusbkgmViBvHQ9hdRNm/pEOkHUQSB8N2cNYcHMLqBUEJmhlS85BextcYvZvdhHPwpxp8rU86neiXC1qUkkKSdLKbyV/USPUUJfiJniQxJI4y2Tb1xFWd1Gnn0ZE5klGHziw99mjZ6FZXVWQhlYAgi4INwRhrERwQQ4j3gj7BgggwQQYIIzb4peIOYZRDZQHq9u6qf/AG/8cNU8yXJBmLLbDe/pE+rTMnrEiWnVgq9O52HJikZHNUmpr54IAYwQt2BJjaQJvv2i84Sq5k0y1KQPOT7DucY+5jmmT+gr1FKwUgYyCWxd97vluHh1xvPrmjl0pjzAik62KlibSpCxEEAzbrbHnenyZtKJq1+UnZjthnfNxvFldRLmSv1DsHCSA+FZJfb1ir8TzLUqjBW+V9Jko0Xg7C/vj0MkqmJCz8Xo2eRz/mOv0dGhKAQVSyMObFHmAd8H6Mwh5kMnSzNDWa7IQSoUXGoDUBEAmY6E9O1o3UK6ZKq0gIBDAvhrsWLn6gcYjnpoWmjMpSAyuS5Y7YsD2j1wDJIKhWoBqF9fzQbACegjf9cOHqgQjVpdJa7X+ueOT84R6l0FHhoKVaFF/KcM9zb1DPbbiHnBc3Ody+mIV9JC+ocFpPcxH1t1xvTU89KXU5S7h28oI+buW9HeIXTUy5M8BJZw1n8zPz7HhwGi3/EBJyu8Q6mdWnodje/tjWcVBPlb3x9x/qLNdL8SUe343qTYZvFE8EM3/UKS6mIGoxqkfIfy9PfCstP9UY9vTvdo9KlR/wDFvMk6VFmKkjUQ+5AF22bFmEW/4oOBlVlgo8wbjezWHa099sUZZImJ4e/p/to83Wv4CtKXO38/J4rnwyzinOFRYmkxj/Ml+9zjaolJSoqtfjbtt9RCHTkvMKjsG7nGS5FmZv4h78R6wpvlKhGplZ9KD8xKgb9N+xxPq6cVElUsln/l4r6glYUrF3Pt+cx7+GVNRSqkWfUA4mQI1EBbmwk26YJD34s3Jtk92b8vHZQlJJSvU/Zm7N/k/sI3xNCqabszDkIEAGTqWxB3EEyOuE+ohRVLIFr3va1vd99o0pqdU+aEpQF/+pLAje7FmFx3Z4sXGOIBcg1VYINIR25gAP3xSAdLCMVrMkFShjY/Yxl/CD5pL+WigSX6ySfzBiWMmebb+8UylSwmmGoqVYC1rbWAH414rdRr5NOgVYVqHlAUxF//AMcAOGFzyWvF5+GxOjMAhR+NPKZB5RtewtEemK8qV4Q0XYc59+/PeFamulVaJS0F1aRq9fVg/LxWvirmmpZpXCG9NEDyI1a2KqQbd+vX0x0uSJwKCpuLXfGQxG2Hx3jzldLEyoQHwL22v7P6xVa2bqQtOoAwUAquo6QbgkD5TcRNt94kYXTQyjOK025ZsjAsCX9/rHpaatmSKHx0lSlLLajpx33Zti/pEXK52p5oGjUdoBJiAJCz1gG2HiSiXqWWA+j/AC5iXUdLVUJEwFwGLHf3YsMC4JHyiVS4Q9UedTBanUchjYBSAGuNwFn7L0thabWIkKXLSTgE2yD+/pFrpqUT5Im1yQhckDQMO1skkG4ts53iXneBVKNGXqLLGNI5oudPtaTe59Ix9oqyRPnlEsuQM7Ebta+w2iT1CvUiaqcZTIUbOPM4/uyG3YMoDhyTC/MZkJSCrpJ1DWwGwmL/AH/U9LYdUrw1hUvPa/y59/8AMSUoV1CtUqYoMxZxpBYYYMwf3jRfhd4g1hsq5uo10/6balHsTI9Ce2PtQuXNabLLvna+9oaoxMlEyJqSCMA8bf73jQcLQ/BgggwQRxzdcIhY9P1JsB9TjGonJkSlTVYAeOkpKiwjEfGWZD1SyqhvLsL6jMEm8xYC3X2tP6PJnLQaiYq5LscNl/b7CO11MmRU+CmxIbUAHctbg++wztEXgtKkCCaQZBJKknTvGppmVBIBPcgdcW0KCiysvf8AwOTEXrSFyFhaFa0hIZTBjuxIs97DBETsxX8+oTQNJKdNfxGpqNPJsFvMEmJFrze4xPnS5CJ7KWSpRsMMTaxxYB7vez3BheSuqEhSyhrE2wcZF82B9+8Qsnlih82osAgrTqVAx1egbZdMWbee+NaiaUzVUgUSqzhLOByxF3cOOMEb/Uhc6UJgZru+OLeny2iFw2iEdkpu3kyAk7ra0mwB6ev74/qVTJZTPQNTEKP+wWePUTaWSgoqEzwFG4S7uW+EgEWhtw2jUDuWhhzaiWWT0aUs1gN/fEefMHghKUsLMQCz7Xwznc8Rx1eb4yCfFGsAMi7sSk+9nFg+Y4+HEK8UoClqNMVQDHbYE9IvH1xboipVOkrLG/8Aj1EICbLEw6wnUQGy4JN8gEKYORsTGr+P6OvKMOuoFbSJEm49gf0xzXTBLlalBw4f5tDlOlapgEv4topHgFAc2jSIDN6FiVa0dFF49sIyCU1AAFi9uBdr/tDNWhaFaZ6ypYSBvp2LsTctkxafieoOWQFS01I5dwdLX/t9cU5wLAgsQX9e0Spy9Gk97uWt6/6fEVf4e8O8jiAETKOocNKkcrADoTABJ3BkdsK0lR4ytQcWuDkF+D6RRnyJaBqRd94sHxRy7MuXZYGlySTAgEDv69r4anzAgXUQ/AvyfpvCE0SylpjHgHc7Df7RG+GmfBrV6ZCoWVXCrYWkGB9R/sY4plkoAJJ7kkn3Jz7W7CPsmSmXLewUcgM3ZgMY3zcxYPHnDHr5OoKQBqqNSWBNtwJ6kTHrGN1h0kRqgedJ1FLEXBYtv9Iyw+JMwaYy4YinY84CkReAouIN+kWxhIeWnSsjvfD7bl+XxHyvkrrif072/wCuSzXJIAAGAA5OSYjvVqF5D6QD2IBm5sLAEiLCcaVFQFzGB8qQ72yMqfdrDeFOmyqeXTzEVCFKWW8pJsLaXBFjkjgARpPw2DAV1cyQUjlgQdUEWuLb9YxnS1Hjo1O/rt2/dtnaNkJlBajJl6EuGDubAOTfP7N6xTPjA6rn6LEauRDEW5Xc36EHaD67b4u9NQjzKXbZ/qdvwxkummzpnkDgDHJNhYX7vvjaFXBjVru9NTdxuI2kmCAQbmF3gbzAkQurqppGlYsEnbuw4OBjfaKqpBkU6JRmAKb4SPZ+/L8bA59ZbzEUeSFKkkaVUb2mZibC0G03Bm2aKVU+YpKgxF78X4fc3cMSNmeMf/LUUtAKlKtgXLvs+Arf3tC3NUgxHmuoMQqhWJESSTpBIMz03ERvh4gLpwokJfl/25+UMTQmfVldMFTEjcFPsPMQ4GLOpm2htU8QJ/CmlUVyzEcwEjlIM/zdGtAuxkicTKShEitTUqNgLDl8+23tHzqPTqmollEgaiCzYI9HsWfIPzhZmyKgFWouosS0m14OwUiIgyfX1w5TjwwEIwMA49fl7w8aZKpStZSg7qGkkMxZyLg6gADhuWh54FzQSqrMqBgZVjYgkxG+xDHfswvOJnWJc6n01KFYPwjDZ+vPccRJlVMmqnqlm5b4mu6bXxfa1mOdo2nL1g6hl2P+49xitLmJmIC04IcRmpJSWMdMdx8gwQRmnxe4qPwcsDafMqfqEmxkSGMQdh6YXnKDsQ+/5+CL3SaFc2TNmJVpUzJLPxq/YP39ooPnSzFyzCDfvIG+9jMSPe/V6Z4ckJUhAALWAbyuQT2fYH0jxMrp0xc0yAsaw5Z762c+rHJHGI95OrzrTLkB3AjpcxOkDfbbsBe2FEzUyl+OpDlN+5GSP4fBvHpus0stdM9OkCWU55I+tmHL8csuKcLqZadA1pXYUwVtJ+aQsySII7ffGKK+mrVy1yHTMSC4OQPhue77XOY87RyVIkTUz1AJAdPBOWu1hu9gY5Vap5DovTXSWuNR7noYHSMMVVEun1TvEJUCLf8AUYYPcd3F4+9GqaSdUJpZstOiYq5sCbkjFhewx2j4tFnQOwhWJuEUC0CFAt6GAI/TCcpS5ybzBpHxBw4fdne98xV6hPpKComShTvMsxUCx7B9glsPqhxw7jbUqfl1EpdXUMdUbzMbEkTEyJxMV0mVUzAdRlnCnsCwcG4HpuD2jefLmikVVjTNSCANIvqJAIDO7PkAYZjmPfhsUqb0NDFy9SmSNOkLDCNSmSCJJBBvbucV5CZs4/8A22CM35e4IsRYOCLOWuI84uaTUpUpWSGFvrbNzg3DPF3+I9MNkmVjEut/WbY0qlBMok/Z/wA/LRfkrUiYlSSxf8HvjaKZ4AytSlmaM/K9wNLjlKGJJGlrxsfWBiVKqROqkOxZxkZY7AuLchuCY7q/BWt0lWoEu4scixwRvFt+JpAyqEiYqj76Wj/ZxflFQmJKeYTqFIFNNCzlLDuXDD53cMbe0Uj4cVD/ANQSwAIfbvpb9N98az0ErKkhgM+pzfi0fKerQunQhcxapmz/AAhIxazK5y/LNFt+KuYanQossf8Aci4BHyk3Bsbgb9YOEJ6AQCRj/X7xZ6RTyqio8OYHsWHcXHHctw8Z1l87VoVaVcA61AcAgAuDuJ/lI67Xt1wSQtSdQUFDFmN/+tsHf9oW/U0qFKpZUllFXmUtwW/7l232wI3LhXEUr01qUyCDvBBg9QYtbGwLjj1DH5GF1oKCx9fUHBHaKZ418LjzDXphQHI19Oa6gk7aSDB7fXGVTNlSZJmqRqI2H1NvS1j8ozSasL0083QFfFYE2wz97liLDMUzL56nSJUhjUEgiF0DpaSDNxceuJ0pNRVhKCUpR8SS5e1+4a2G/iKlV0AJ11hWVFTAvkvazJJxvdheL/8AD0aTWUFm5aZksGkkPJn/AF/bDVC5SpRYOTYbevf7xNVTpkESwMAXYjV3c5HpiE/xW4YGdKoY69IUIF1aoaR6JBO5N5A9+jWGVU6Dhgc4y/q7ezRa6KuUlShMQC4uX2D/AEv7Zip8Fzn8LzKn4xBADElYiC0+8mB9+2lRQfrJfhrVk8bZ/wAcxA6rXSUVJUm6UuMBw5sMlw13ttbMdaaO6U6KKSw6hhGmJiLBdvsepx1MqZksTnA0Ndg3ZR5IL4uRCy+l0yEyqhM5l6gC/mOptQ+XOCezPMyeUNZFTQiBCWesyhCZOooCBtEWt098IVBp5Gta1K1FgEhzdreUsBbcn54jrp9X1Dxf6CU6C7fbUSAAVO7AJHeFviPh3lPoHNKyp06QZgAe4G8dSO+Dpk1dYgaQ12y9/wDf0j2qKzRKVPnL+EEsDdgCSW744hen4gZ2IlVNjPMe46Sbn74bVMVKqEgjdi319tn92iQumn/+OaWHRNIUXJJSCxAHYW/iPnnw8qWVYB1f5T0HSxA9I74dRomSlLmIBZ8h2BJY37WOGjy56dMRUCnTM8zuA99QY34NyQ55EaN8IeKaqVTLk/I2umP8B3iw/PfYfPhOSr+1o9l1qjMnQsq1FgCWa+252t7RoWGIhQYIIw3jGWfPZutVDAK1QopN+VZVfoQu3c/eRVdRlyCSbnj8+celq6tNLQy6VILkAqb5sTC7LBFULUE00kSACSADpDDrcR/xh+sUrwpen4mDA9zf03aPGS11CupLqEKAI3DWDaXG2Mvu+8QqWa8uCCyvaIFtwbGRMEC1xI6Rhiolicog4OQ2Xh+hqZQphTzX0gki+GFnHBNjcM7wxOdq16iqWqPULAEkbSImBaYEdzGN5MqT0xACClJsS4Zhy529cP8AOXVlHUVKWiUQAk/CSXKRe174Zntybixu9Sq1WnVUs6JCKSF5h8zkgAAaR7XAvvjztTNlSwhFMQETFqNgSo3ZLkkkqJ+QvaOkeHTVcszCorCUklhpAtq0hgGSHD7qztHfhnDnqGlTSq0SCBUeQsX5Vjli6g7ET7Y1TRmUoy5qEBRcHDm/L+a2bBjyLxvNqkVs1U0KISo+V923Zrb8j0xCV80iMVrUZqICql4MMDvtFmmZmYAxmZPnOnysRYYtkX1fRo9FQdPq/J4UwmVMfWFWIbjSBcje20MOFZovXotTTRDrrCrAnUNmF7rMqex6YqU8yYtJSsgs3r3wAG9s/WXWdOl9NqASh9YLFyRsASFYUMOLEejReviHSZsk2kXDKR6X3PoMFQpCZZ1fhOI4ClJUCC17tltx7i0Ujwtxmoubo5dqhaHAshAII7GSoB2Npn2An01LSLn/AKhmXwMPg4tj29Io1VNMk0kqZLUVJUblWUhrDZy7ZuMXzFz+JEfwZldX4iehEmJE2mD/AMb4prGPNp7wjLpv1JMsFi3ba+8Ujwaq/wDUaBpIdMNdlMhfLYAghju0gyAPlucd/rkzHlFg1hcAvkhmuMNd8lo+IoRJk+IC5e+WwGHFvd3zaLp8Ssp5mVW1lqqSZggGVJHc32xjPlrmAIl/EcDksc8DvG1LXS6JZnzSyQC9n9B7lh+PGf52hUVGY1SwRSD5tTU14mCRy9ypuIibThQJQlpYloyCQGHYFQcvfCrO4sIxTNQo/wBQqBJJAyWywccbEH3j54d8Y/wjtppGWKl1J3G0jYTAsI9zjeRKUm4NuP8Abn6+0eiHQ6mafD1gpCXSTlztazWPpndo1zK5mjncvKnVTqKQf2IPYjDOQ0QZsqbTTdCwyhGV8Y8O+RqVWB0tExcncKbyZ32iI98Q11H9VUlYOofCBhtjj8MXx1OYU+KgGwuNm3IF7/5ziLV8OWPm1wZ+RLGABd9o9IxSpTY3fH584m9QlslMyzkq5drN++IUfFcn+JpDW4DUwCFJ/me5A33j2nG6kywsTFJBI/PzvGNLIn1EqbLlrCQA72975Fhn0YPFWyXBfOcDVoUsBzMZYmTYb9zH7HCtVWplhSrk3L+nvYCw53iXJly/CAmh9huNrgsBfl82EPM1kmy6BCoOt2PmfmKC5kmy7Tv03g4Uo6uVPqBMmLISgJ8oxqO4Ad29MtZxCY6bWVElSZaPM5L57AOb3V/+rl+VFdhWA0JVCeh1E2tqEAEDtaAQb9bNXUSkzXJCu5sP3b/cO9F6TOBWkq8NW4xhrbX9cm2ITVirkAA6FgAem9rxEk+/1w1KUhQUEnY9r+u33xGdQKynTqmjzFV8EsxGPiNt2b3MP+E0KPy1AR6BWMnYQwJBIBJKwBvzbRA6imqQTPQHN3+HSBuGLKJ757O8dUnWzo8EKOkCwLlViC+7YBYWAtELiuWTU1FTCM2kNAkgG0AbAn9O2+GqFav0Cp6uHLPn8zlvaFJVVMPVTNLEsQXYOCLnHxEYbNhDLwxSfJZ+gzOCjOaLEdQx0D6a4P8Al98K0tfLnqBFjx6/gMe2l1Qq+nLkKB1IuCd2vbm1jG14qx5uOOdraKbv/KpP2BOOVqCUlR2j6A5jHc7RWki00CuCASZsWXebXhpG+848hSLM1ZmTLfe+LvaK06aFqabvt6wiya0mLvV8xVK8lNASxYmBNtIURcneRbHriZ6tMtKQTycfLJPA+sQpiU0Piabu4u7N62b1GNo4CqxIESBYLEDuQI37zilJkDxmJFubX4seIRnzhMk6kyyCePN5R69/9x3o0tTAM6oAZEyZIFuUA94xj1XXNUQR9R7/AOB6Rr0FM0TFJkn4kK1agwA5BJvgEnjVDoZZHMvXkvKkMxiAIF+2noZN4AN8efnylyZngBIATcFg75PABf7QwiW8kTwhwBkgtoD2GSQWNhcExYeAn+HqUEpsaiswDyNugK6ew6kbRJsBhGmCKitK2ZSCXLu4wX2F8XzFI1Ug0yZymRrACUJFnPrcMM4w7CIfj7JPRzb1F0haqq2o9CJB69yPvirUTPAWSw82HG4ihJlIqqRKVLUAglwlTEgswJ4zYNf6duENprIqeUrMyggLDbiQ0e20/THc6dQVCJen43SbAgP2GByT7PePJo/8/qSmapRQf+xBISCPM55Fg9yCWHFr+IB//ENwOYXO3U40q1KTL1JGG9u8UkqkhQE3ewFw52Dgg/URQOBcYYVaYhQPNQmookEao+bpOxvG4jEimQkFCyC7/c8BhmK1T0yXShcxM3+mwZJv5zbJL7bDccRo3jrLeZkqw/lAf/xYMf0BxfLtaJSVBJdWN/TBPyinfDZZrQANKSw6gTvBM3JN4jbY74l+GZ1f4xYEC4HcMMWw/JeGZn6cU6UySSBud2f0txZjZjtFu8d5Ba2TZGOkakM9jqEfXt6xth+oWpEsqTt+doU8dEn+otAUBsQSDtcB/wAzaKlxnw07ZJTSYVaU6m1C6wZYgAwwJG1o3GJlDR3RUyjoJFx9BfIMVZnUUyDM1S9YP9oZvZ+Mi5O0UVEYOBygM9xck6oMRPbpinKnJlhrepD2wf5ij1SUqbTipQtYVo8oCm83JYXL2HvaL78OOJsuYOXGk0yhaFjlYewAMj33F8OzlU6ryzd8Xxyxdvo8eUQnqniH9c5YC5ax2D7lrtfbmPXjarpzTDUQCAYA66QJB72xGq6EqmpnJLE2yXt+ZEbI6umm8SUpJLJ1fXH733iV8MU567EQWCwYIlQSLDaB3HfGtOlYmEqJvl+d/m+8MTK5dVKSbaRhh837uI7+O+HebXpQTq8s2AvAYdZsLn9Md1lfLo5eqYhwSL8WP8Dj1tEqoXVhWmmXpLEkc3A9DmKNmqqo3lKjF9Rlg02EgqARBm8ggzbtjPw0FaZ806kqYszWLF31O+DkNzeKHR5NVVUkxKFoBSNLKu5wDYDSkYBDkl9rR9zVarUPmyxdRADKOWBNgRAnew32x8lUEi6JKGSq49TtlzsOI7/8hOoSmTUEMkgLCFfEGB1Pb6MQHSYl0idDNUqc7LBH5xIHzAnr6evbHaKPUvQtACUsQ7sb7NuMt6YzE7qfV/CUhVOXSpySCCxB+HFg5GSSRe+9WrytSGJB/NsCAbE6RcW9MVBTKkyzwWfsPvG9R1A9XnJMuWwY6AcFYG5NsgBncGJOWrslNnpvoWfLTm02I6CCJC9ZEWv0M6eqSUeHp7+g5PuMXveLMno9VLrJcyoKfg1KOl2KXHN85a+4OYh1KxVl1MrgHY/mvaJ6TjqTOKJJl4BHF7/4jpfTKHqKk1EkkKwXJtp5HNrj94tXDqGpCj6ValdTM85JZQsi3MO/X1x5SfPMuamdLFjf2DO/MEuckOJRcb+kbLTcEAjYiceyF4jxX/iFmjT4dmGUgEqFk/43VP2bGc0AoIMPdNliZVISQ/8AgPGN8GCszLXqmmNJVbW5rR1IN59d5thaop1SpSDJSFEly+wFwX3w3Y2jHqFWr9UqYpJATZ+WyyfcYu18RwQEQLKbKYQS0yGm4m2w29jh2VJJmFlX7nH589oWq9dOoLmIChljdxtj7H5RFq5X8QCrTY6TzKQQYPcWK9Oo/tjoSioFSseufznEVarqNMpKU0ktQUwBDOEg3HIyXtkRZOE8AZ6eumGYSVEKGkwPmMhh2+Uj23xGqepiSrQ4DMWNi3azE2fIMZJmiQhcvwy6xc5G9iCARkj0LRz8O1FfWHWVksNhCgAHVInfTFweW3XD8ySVIXUqIJtYgsSSTsbHjucsImVk6cVSKKS+wOkj+3cOAWuSdWRZosPDGFAMVBEgBdV9ImW3JI3iL7Y+TukIm0yVklLOSBZ1f2B72By+94hK6sr9aseUqKgAvSMD4le4DjJMXetl04hlRq5W9ROlwOo6j+2CZJRUIZeR8wY9BJnEoC5ZZxCHwx4LrUcx5lVl0KZUKbn39MLy6NUufqDab+vb/cUqyr/UU0lBJ1p+JmAU2O/dsR1+I3E1ASjEmNZuAB0Ezvfpjaq0r0ytTEnh7emfld4h1S5iSgyxd8uAxaxc2HvFAzuWeqKtRMxBMcgiSVEi5sApG0W6TtjGnlTJJS15ZsSLb2DFzs/+LxpP6sKiQimqZWmbKcgl8bmzOSO7GxZ42Pg2dXOZVHItUSHXsSIZfoZGKSgxaNEqStLjBiPwjg1HIpUfVY3Z2gQB+mOEjSGgRKSk+UR38U5damUrqwldBJAm8c3Qg9O+PkxJUkgZjeUsoWFgs28VPwpx0ZcCjU1lSxub6dh0kkbk43/S+CgEG1gA29yS+GIx/Noi0XVBPWZZDHzEkBgzgAMN3N/4vDvi3hDK5tQwGmZM04i+57SbX9MLiUjVqa8Xv1U4ADUbR08MeEKOSZmRndmAEtFgOwAGOwkCO6ysXVTNa7dhj8xGcfEHP6s7VkrpEKPSAAST6NNsJGZqnaRtDErpiptOZwLMN9//AFZrv8oc/DLPTm6itKlkOlZBAupCiIG0mAAMNJmqmFzjb85hOpkCSsoSzYFtL929BmLB8Qc/5Apv31KABzSY2Pt06yO2J3UaL9SpA9eW7OBfNx7jeCVIXMSspLBIcnf2e3zjK8zmUAUsxJmdJBUAAG+oGZtvijNkJWWQNJLbezen+45/4/KmomLQVf00pJtdy4Pw3uSc52Fo+ipXBGvWi7osFReb9yTO/aO+N5FXKAASXT2/c5faF6vo02uQZ7J1YLkDDWAfSEjOXLEm8SOH5BnYMWqA3koRAme+029Z62wlWTFSQrUnzG4F8Zd+AM/LJaN+ndRlS5KJSEoZJu4yRbnclx6cRD4rwx6VYhwUZjKsSWVrXKsQJkRf1v6cSa7xZOoYtYWbbDnAj1VLTSk04ny1BShmzG6nZgbX4awDQ0qNTp5UUH/7r1ATpj5IBMsJC373sJmIwsaOb+t8Yg6Qje/mfg9vQB7R5ifVT6oKlpXqJJABU3IbfB+xPMI+LqtbMBARcqAU5txA3MwBEmScW6YBclHhO4BsbKe9iwsAXvhjYQrTS51F4xrAW3P9vdn3ULMz7xI8QVUNZhl63mU269CRYCYEwACWFvW5xOp6NX6Y+OlKVJOBgjdT8OcQ50eoKagKQgnU4u42cAp9A2H5jbvBuZNTI5Z2uTSWfcCP7YZl/AI+1ssS6haRgEwr+KVWOHVVgEuyKJ/rDT+mNUyvFOgQqKw0ahPGxH+fpGJ06qq8Oosp3Fvp6+vtjCXKUTodgdx/kcx6Dq1RKqZaFFGlflUL8hw7FsNZ/WGPEas6TTGlVSzK2oXNyx2uTF9rDH1HT5koq8Q5v/A3O28ee6d1SYqtloUNTKAYsDbcYHdhs0fctwwtSVg9JizfIHBcTAGsAkqN/wC8AjHEqdKKjrSvy3fSdKv/AFB59Gd4odaraqRUzJUhQ0ncZBLnUcbltwAA0SMtnKtCAj1mLgzpgAEEgadN+w1E3uNsZmXTT1D9QkKAwwILHYuBvsXaxBBjqXTS5tHNXIVpmBmCj6OvJAe+PcGGPDHCgK1J0qRBksVZp7sZkkgGTvsbxh16+nS0tAUCbKxpG1sFrseNsx45RpamcE1KvIC5YB/bcA2xuDgxxbMVAgWwYkiJ0gd2kTEDoBuLTbGngTpVMVLDhVmBODfUTdy+42hmpmUVR1VJo/IkMQSn+4bMWOn1LxN8MeI6mSa5Z6TAlgd995P2vGJDLlKUZdxbJI+4seciKS5xCAkIZai7WZrvcO+HGCb+sXCv8Q0IIo0Xep+UGACT+v6dcbIqwsWSX9vvHcqbJOkzVhINyWJYXuwvdrcxV/EvFKhpOlUstdyGZSSwKE2KgHSCgFxF4B64lyayoVOCnCkHBSPhI2ch7+uIYq+kyly1zVkhKX0l2SSA4BTzw9weWis0agp1VZWUMy8yyQAAxMSdQJNpET2jrXTJExCkqsxta5tnZsn03BxHC1TFyE1AkqUWABTe1/KRm2dTbw58G+I6mWqVGVdOXZ5ZY1CYmKdxDQAT0j1sWS0umYnVNdvkLvYsPrDU0iqmoEhGlATdRtuwPDbDfkMIleM/E9XOqtKlCUybqSVLXtqNoEXIHrfC6Zc6oThiL5sff17RUpE01EtRmkLOLF9J9nu3oW2vEx/G70cqaSaHKqEAZg8SIMGedRtJvsL4UlzaoTRJWAr/ANh+M/YRPkiiUszpqyJbn+0gtw2b7MMEcRW6aVa1IFOURcglSsXAESZJ29+g2fUshIlku97OydsXPMQk1Ej9fMnyWTnSCwMwHLlwx4N/fESOB+JqmUldbaZABEXgw0zafX3HsvMRNCQqTZ3yT9HGO1o9ZT0Ka1ISmyk/FgM7FIsTdu5G4Z4d1fH2ZZOVkBMydG17Lf5iVuSBAkCTiiaCdMSACwIyO5YenG5d9ojzptJRrWZyirSptA+JgHUrhuOR3irVhSeHdCQLHSYJMRcsSReCZnCcmVJSkhQJL2Lc3P17Q5W1lbTkIlAJ1XCSoENkKcMMXsw2cxP4U7RNOmaa0ySaiRPRrQJGmZPpNuuFatJQsqQolyGBJ3f2JOA7X32jzKq6cWBubu2Ady2Xf1sQ1okZ3MZrMlfNL1AgMSsC5FwYA2G5w4qXMB1EW/8AkH9Di/JEXJPUaUUnhJ1Bail1aFY3t5g12AJD5LNEDK1suzq9ZWamhlQQFvPUEmQCthabzGFa4TahBMrShTEXUSW2OAdRvcuwYwpRS6+nHgygVpWXdKR6EYLABnZr2BdxHfiPGVzVWoS5RFWUkCSYuJERO3aw9Zm0lPM6fTukOoljwxvvuGBDXuYq9RoJ0oy0TbpyQ5soOLEdjyfSFr8VPlgLTVFgAgHVrIuCwIibTbFuXRzDOCp8zUbsWZnewZvrw8Q6tNDKA8JJ1ZKGszi5JfgAM+Y9Z/iFSvUZ3poH0jUzSfv/ACbxHTa18L0dCilSoanbAxvk+gzzD1b1FXgITLSoS1u5P/8AIaxZW7DHuIeUpVjrdRKi5YdJO8kWuZAmTvhiZUISRKmKHmYeu+H/AC3MTp8hVIn9QDdmG+QwuBf1ZtiImZ+nTCmir0yoh3epCX6afzCJ26noLY76VIm1Q8daG02Ac4Juone4tsO7xjX107xtRUpWoJGAR5QGDY3Dk/OENN1LstNAIEWECw+wmMdT0KWvS7jAJj1/Sa6TS0apoQCsAqUx2GWBzG9/Dqvq4dlpEFVKf+DFJ+sT9cdLl+GdHEefTUmp/rHKiTEX4pUi2RMdKiE/eP3Ix8FQmQfEVgcfgjKokqnI0JyYx5sprB0AlgLgCSY/lAEzEWxwaqVoMwlklTej4+29o7XLVLnSpdQC5SGUTYsGIOQBsG4L2Lw68O5ihTSoC3lMVdSxGpgtmOkdSdMAdCTvImV1JVRNmSzdYcE7DgPnDueR7xrUtImpEpAsATY8uUuDks1ji8SeG0KVWjqsFpqGYppU9gTK6mllJYGR2MyMMVM+TJmGnTNJJdrFuWZ2tgMHbL5j4ZVXUzlTlyvMv+2wYPYOWPfvs0IctxKspIpmA6kHlCkBgRf3iwuB2GN1SEzVELGoht3xxkD1EWqfp9FLRJqZ5EognU3lCmwCG52YPe0MMllsxVIYEhqakK5DBmFzGrY6ekEG9pvj6JkmkdM7ypLOGtncNu+W7Qr12jlTUCbRrTMBc/Ek6TYOC4YHvYHh49Z5FbRT5zVchRYQZMWB9dybfbHPUKuUtRWghUoCwBU4bdjYAbWf6RE6ZSVsiUqXp0r1A6iEkMMjVk+j+jXdxmOCeVSFNWXTY+YVZ1DQDHLcz7DpbeJsvrSFoTJ0MDe75B+r2wG2jU9J/UVC6qZMdRdwkgdiM2/jMQvC3CXq5tUZqqap/E1gq4CsZRSoKyLHvitJnomglwT6Bvl6N3jhcumUhEmUAEkAkA+YYIcgnk2cQ78U+Dq1Gm1SiwcEzUZvmiN42gXuL3x8TISlgmyQLD/Wft2hxUx5SjNJWR8IOBy2wccDO4iio5V0V0pqCpvoLFr9ZJAuDeLYZVrmsm23bvt9oOmVk2nkLqVLUEOwDpyLEBw7s3xQw4Vw1q7aKSGSIRAwkfzMR8qE9fQDFH9TLASkpZnv+YPERZ1RWKmKly1HSskkX0kAuBq/uHJYAnaHlL4fZwq4ZUBItzjft3A/02xLmS5azqUHc3HbtmLaKuemUiSEJCUC3J/+VgD8nO8ck8AZxAZpUXMC8y0gysbQJmT7dscEKCkrSSCH32/G9LxoZ4UCJiXBZxb3bj94+0eH1qAYV6WnURJYD6RptuTb/jEqtoZq1+MC5SRwxdub2ObMzGEpdTS0s0K8Pw/KWIDsRbPmuRi7u44flU4erE1ajkwAoVQASQLCOim/NY9N74YlV09Uzw/Dw7nA7+pu5T9haMigJZVIptQcNdVhY2awGNRPmAs8WThvgF2T8RhSDGSoEnb3gH0xX8ZSHSkuCOOffMTpfTp81Ym1KzqGLuRxc/59YeZLwHlUEHVU/rg/pGODMUwAtFJNJLBdTn1L/wCP4h5luE0KfyUqax2UDGcMBIGBEuAB0AwR9jH/AIn0qTZhWy5Ukp+IAbTNtrT3+mEalLrSEm5/BFmg65+gkqStJO47c3+3vFSKEU4qLME9BMx09L/pj6mXPllaSg4G/wBfVh9YTn9Up1qTNEwlJu2/cM+Yc5zh4p0adQmXqJIEGN7EDobgGdt7TGEqOqqJtSqQlNgoD0PqLWYkH7tGFfXSVISdISlTuSkFRTnT2B4GcZvEZ+GMsl6cRM+ZMm8WEH2n2xbUmUsFSJmokAgAvnBy5HtvEqZ/yAqly6RaCAk8gOMMXFvYsMQ1yHHPJdgzJWVQvKGESFso1dmk6lEkgbxiGvpEyplnSdC7+tyeP/UYJIS7ZhyaqSjw1rQoBTuSklLJbzDcDgEByAQWaK9xCuKrua1M66j64U2Bg9CCxjVsCJ3w7TIXThBlzfKA3NtxYgdt/aLANNVSZkmXLAKQM2USq74Gm2SXbFxHJcmKfzAhyLCCIF5BESCY/e17OislBKJuUuduN/mbbWaIUqSZ3jyqYGwYqe19u6SzX5fa+1fDamV4fRB7ufvUfH0zhO/qAWPP4Y6kSlSkBCsiJvi6krZVw5hZQk9oqKZ+hvhDqmsUi9Gf8w3JLLBjHONO1Cowy9WxswDCE2UgTcE2kRAFrjE7ptMuolCZMRjDjPc8gbc5h5VdSqWJc2ygCygPf0xj0heyM2mr5fLEsVKjTYfkm87WAAkmDEY9T5VhPlIccW9c4jzStUvUFTgp1WOSTdgSzAuxOSXZ4d5EjMCnTya6YBLMrENEQxc3EdI0yTtFsQZ+iWqZNq7yQfLgXDMAMvuXLNk7xbTX1CZQStJXUNZSnKQ93BwR7ts0Jc3lCULpr0iBAN4BgLc7794jGq6qUheiX/d/Dn+O8W5AV+mH67QqYlRILAg/+zH5g2MNMnnUOkKz6ouQYEASYDXJ9/aO+87qiplMJCpeBy+N78Da8eWV/wAT0LTNmTQErLm2xIZFmd/YAQwzSpSOulr5wGOuGZiDYAwOwPT9sS5VLOMp1AaSCzf/AMtzFFXW6dc0yEJ1K1AbpAH/AG4Yd8x0fxGEpkNSVKiJpnlLqhAIuJB9t+97YKXps3xvGp5pCc6Ty7HIbO7Ps0Y9SoymQJk9IPiHSFJe4uSTcEC3J5FoZfDzLmrmfM16jSkkaYChtQAB6kyT6XFsX1SDLJOlnL+uzttjYtvHm6FK1zUkWSnPc4z9WP1zGl52lrpuvdSP0xzFxaQtJSrBjCaedZCTUANQiGESO8XOw+u2F5plFDElxgv/AA3pj6wxS/8ADVrWiZqCUbg3P0DEsxyz2wLvfDPGaQzKV0pBEU6XIjlDcuwtc6TF40j1xxIqJspIkzVaiohrcB39vYl+196ykmS9CtLIAIBdu7NyL9u5e2v4bhKI9bP0lMNURT2LAY5K0ixMfWLPHzM0Er0yrQyONwf1B/vjqOFJCgUnBjJ/EHCzQqvTmyxpMXKkiSJO8tsO3TbGehS5jJckgsA2f2BuXcNs7xJkzk0lWJZZIDeYvYZGLnDXdz2i15bx0SoXytVTrBOkjbVYE3PSJx0nWElU1JS3OfZyB9fSKFbXUkkjwV6wRtseC2/tDbwtxypmTULoiKsadLFptfcC3T6HGUuoStZQAQRz6lvs/oRDIDy0zAbKD/n2hlxysyZes6mGWmxB7EKY/XGk06UE9jGM9WiUpQ2BjGvEHFa0lRWcnoxYgEETO/c74lUcyauWTOJB+3bb7ZjqmrkFaElL82u9m2uLFw+5yRCvL1KZQM5bzNRt2AE83SSbew9ba0MsmqCphZIF93N2bLbZ9IZ63OmykmUhLv8AbfDcbRxTOguzsRA5tMkSQRCyt/8Ajpj0U+pSQok2Ofz+eI87I6fMIBCTZy47erXFjYuATvDzLcRdQtVjKR5ekrKoJ2BmdUSev1iMQpvT0TVKlylALPmLKIL92DNgO4zyYcNZKMvTNlOwYFi9x6t3I0uWyIm8V4ggoaaStztqGsAMFOwWDcSLGNrTbCVBTTzX+LUEBSAzC4JYi+z3uHd7tzhPlINKNCSEHcjAdyA2fs28VSqnlM4qLp66SCzf5YtJ9QOnScVUy1eKOBd8fQX9GPrHrKfqaqjpwmMdBdAukubsHUeMkg2H/aPrcRGmRSUGeWSCRIjm6E9TMgfeaC9CJailI2seb8euPTePIShPTVo1zSDZ1AXYNcE3YMG+7WhrwBjXqD+JrXHygsOYRAJ6swg7i4Ix5LqlMullvLRY8DF9uAe2I9amuptapUkOSxJIyWBPbcAgMxjZfDNMLlaQUyumx7gkkYsUGr9MjVlhE+b8Zjn4vpFsjmQASfKcgDeQpIj6jG85OqWR2j4htQcxh2XpFVDZiVV+ZHZSxWSZPKCbxYdb4R/XL8qUDVpPmDhzjyvxuQ1rR1L6ampKzTG52BADAfExIJzkW7wVyNIgy+ohNMLsBzXFgbfr9alRPVMQhSQQou//AK4tZucn0GYV6TT06ZkwTfMhLWYnUq7lr/CAXAz5TDDI5soGMiagCueYbXgEnYnrtvGHRTSF0+tYClICiHY3bLF3bbj5RGnT1zKtUtCSlC1AM9wHsHexOD/uPIHnGKbCoWN3WwksLaiIJuD0M99j51f6aQkiZfTj0w7cbNgRcmy6paQvDWIJFzsLbYuBiPK0PKq10WKxUhS4MaBMFoIv2t1mLThVa5lWUEOkrchP/a1hY2fJe3MXfEkfoZAmtoQTc3IZxa1hqsAdm4htna1TRJcVAlM3YUlaCIGlA1lPzAMsgD3neXSCUkJ8JgSklirPfu9nDg8vHm/FQtZmTVsSTpcDVp3bBPN27wgqZ7LtqY0S9XlgNZY2aQCOgsd5w1JlTQsTArBPf0yNvf2j1lPQ1qx+kWXlaXChY3wBvnIxmNS+F2UUUKlZZC1X5QegUAR6w2q+KMyeuaEhYDi1t/qfvECZRmkmKlkEHdyD8iwszZDjEXTGUcRiXjjhqLmamlmsTKxFyZkGYIg9e3XE6XImKUszQyXsb4yzc83ivRdX1y1UaSdQB3HDjLn6fKzxuDmmWMOp0DVAMSJAi25BIuOptPXerBSoCUPiLE7cv6MPzaPL8WfJacpXl+EG5cFiLMQ/cvtiN2w1H2Mt8RcTT+MqKU8whm5SAFPKLM242HQ9MQqnp82fPUU7sxfDcDHO43i2dCKATpiglKdLvm5ZwBw78loa+B+MN5gpGdLTyE6tBGwBCi0CL/8ALlHNUlRkzVAnbnuG5zZ7RMq1y1LC5LlJwdJSDbIBux5/aO3xLyTFadVY5ZmRMbQY77/YYbWZaJiVKVpdg4/fNv5iB1dDoSQHipUEAy7tAUMwAabhTM+wJgTf5sJLqpaquXckgWSBYlwxvuLm4sRaCmkJVKWgsEvcqPAwCGy4wbg77WL4X1F11gJJKgzaI1Ee8z+/SMOhEzx1qViwbgj6XDY9Y06fLQkkjJA9G/l3dwIt/iVNWVrKZ5kK8sTe1pIHXuMfZ80yZapgD6Q/yvs/2iitBWkpBYmMJz1EK5OsG/eWAEAz0E7CD+U9hKctSp6dRS3ba9/eLfS6YU6Ha5s5G7WzxEVaurYwQet/qcPJmayHDN+Zjz1RRTKPUkqJKs3yQXFt7l32e28FPhzLzNVQL0WQzGQZ5b7DrONjSqAISbZy3oI7ndflTpYlmWXFmY6chztn3v2hlUXSkUmJQGzBoWZIJA2iY5p9PZBKzZwEkh+Dy2XJ7McPtC3TZwm1YdJUosNNlBu9gMAuQBbnBj+UahOuWZQfmIFh6/fDVKuSgalEBPJfthnveL3/ACZOEUqWAAPkFnXqsRb/AKi+RxeGHhrgVHVUrV3XygGK0y2kzeGcf0hoW833jEXq1bUymlyQX1BzpLW2B9w/HyhWTVyZ8uXTSgSByz6jkMNnFjn6xDqUEYqw/BotsWGrTbaBudh9cUZVX+lYFOuYA7BgCDg9rO4PtGVVUTOplUgLCQGDEXcbPwSHDFveOWaRtJqUASlM6mZQRqaYDcwHcTvBP3W/VrKTKmBtTsHGGA02NwA7AZueW0mdPRSzEmoPm3BLgB3BsSQXa5awEb5wHL+XlqCRGmkix7KBikgMkCMzmJlRAQQdiIx1HyMAqaaafw7Uj56VCuuYFjEEdoFvfe+MJkubT1ZqVKHhKFwBf19XvY7YiJLplTHlyknWDkfe12bePdU0yEbSVGkco2Jjed9/XpcdMbClmJpVLUrUVKIANgxNg7AE8DaKNJPTLqDKI0hKXUQ5U4y4DsOSr5iOHEUc8pGkKYPlLyoBuP5Q09b3PpjKkqkIp/DQS5LuS9uL/bEPHo6TUeNMUFA5GFEk2VZrMzEl39oX5d2pAVKO11gW6ggEALc9wBftjubRifLV/wBbD7dvoYx6hMCFGimq8xuSzEM55Ifljd9y8Tc5xGpmnNJnCWA0h9MaQIJiDEge5wpRdI/TTHl/EDnJuL/vCyOoSpdOFLl60B3GAblh64e0NOJ1T5Ryqv5qtDFzqpgE/OLHnWPQ6STfsp02mVPnfqpXlODqIP8A8Tix7HNouVNVSUifEmpBCrJQm6hbL2I7YLcxXHch/kB1EEE8xgxC9SbAkDFqSRLZJbN34wcQ5WTZy6ZNVJmqSNFgLea5v22a4Mb7weiuUyKarCnT1N17sfffH2aQ5KBbb8MQ/EmzDqnKdRyf9RL4DnvPy9Kr1ZQT77H9ZxyH3jkFxGefETL0hmagYANUpipLMw1BFMIB8sgqSJ6sfTEyvmKlrQvIsGYWd7vm+C2wEVOmUk+aT4ZCQSz5Llg5FrANFc4DUpSnnCKR5SQY0FeYEgXiwtBE39sqszZigEsFAP2IO297tb0ZoXEuZSzymWSxJa4YM/yNnvn1jc0Nh7YsQpGPccqLTzmZPzmpUIKiJ6iARcd49DGN/HRKp1EXJ2Pe2e/yjzdcqdV1KZbtoPl+7kYLOW9WxFg8DZM+aGIJnnZogTcCehY/W3XHnaemVNqPG1WBPuSL/ePSjx0pEuarypACU7Jb1JLHYPbGGhx8Qq5FFFEXJJneFE27TtPrivOp0zkaSCbjHcgf5iP1haRJCFbn8/P2jKM7nSSW1uxJllPsYue5gW74+IoEIUSLlO4yWvnLvn7xmrqSpgCAgAd/lj053i3/AAqrTnKwhQPJEAb2YC94+3rjdajqKScbcRSoZCEU4mIQQCTc7txv65D4i6+PATw/MgXJQiPeBgS2oPGs5eiWpXAjA8vlWaoUJhLw0EgdbgCdO+3fG8yWkFoqUvVzNp0kJ+EOrDENdid3Az72vE7hGRLMdio3ckKqiYBkkTqJjvbbEzqCkSUnQXJxY39P54id+pHUWCkt7/QtxxzvDPN5IM6CndXBuYAPMykKLxa+35gCMK0lWoylzZwug3zYEOO2bPt8oxqummRL0oYJU213tvkfZ7i8cs7mGChWppI2C/h6thBXcKIU3vOrvivLliVNTMCyXGHdrli9/iHfiIapD6kkMQQ5Y4IDszAkFx6F/RKztUhNR8oGYY7kGb9/aYscZzJ+tVhf2+/58o9nT9Ml0gTNnKUXd9D2YXFw4DhnAe4wQDHwZnUwS5Mxa0e5jtjMqmTCEnEVamo6fQSVVFOlOsgHnuzE2G1sCGeZyLqqNTYvRWARtoYyArXuesjeelsJyZyBPImjSu+7ukM5Bb6He3MePqVGuWVyQfNezliS57jfct8ol5BUrmlllpN5j1grvqkEauaANgFM27Ybkyps2qVVah4YHlBFw4De+cnfEIKpykolTEkLffPfv3eN7xtFqDBBGPfFDJJl835xBIrgsF2BZQAZ69jP+LEqplTTNOksDv8AePS9HUqdKMpNiPz87RX8tw5iA4Vni4QDVqJE29RcxeZwwKyToRqVdILA7EG6ixFsM++YgyQZ1VORLIGsjUSrS6SPhdjuC5FwMEGGfEM0hr0wFlxT/GLnzF1EzBFkdgZkkRbpGMOkJqJsqYZi0hIOpNmsAzgDAZmFyb5BhWtTLROeUkqc6bd7D4iXxubb7Qj41XD1LICumCtJtEtBkKRISCRYA33ts9Q1Ewo8NSjbnjPpFqZ0aRLQqoWA7i7OxO57YG+eIhZXKLBUiVm3KA6TJjWF1tud/pOGlKE19AJbJ/3HneoSZ9OuWuoOktu7Fmyl2GwO4J3EWfKMtLL1KbjU78rMwghALBTaDqE7R3HYrOj+IETUKZIYgBrrOSpsgJ3HcgxJoeraJgUhIBcl3wlnYOTcm3q3aImT4f5+Yy9Ihb1VJBs8WLE9zpgfthWVIAUVg/X8/DFmZ1ifMmiTgW+t29hb6xqfxBzjU8ropxqqtoAIm0Ene3QY0UHDQ2hUtDqm/CNnYna3ffm0ePh2ai0GpVF0lG5QSDYiehMXmxx8RNlzB/TLwrTmaUf1vi3/AD8eFfxapaaVOtDWOltO5G8TuOt/9jKfL1sRnnju2/pDsmo8J0nCrN32Y7F8HaM04qyqVAB5gCGGw0qokf5wfoB1k4z6fKJSSfLpJDbkuSx4DEH1fYQvUhakJnG7h7Y4PraP0NljyL7D9sOR1FPreEHq5pqlUhU1MwKmWaWkTItAxiqVrCkzC4LML25+Z+kIopT+oMws3YZfmw/eLdlcslJAqAKoxohCUDSkMIfJJJJjIvF/iWnma7NTqtpp/hpCnSTuWDbXMibfLjpWtwhJZ3vx7OH7ZYxC6pJmzZgGnygZ+/2EIstxNaZBdA4W5mCD2639scVslapSZMgkLT/cM3z79406ZQJmL8SaWlk3d2tt/nD2i+fDTh3lvqAmaUl5JnUwMdhER3tv0whS1fj1C9Vjht7MCT79949ZWIky5IlSfhBti3yA/O8Wjxq8ZKuZAhRv/UO+K0p9YYteIdWHkLB4jFmq806SVIkiAPT1kXx2Tp8tmGdvbPyu8SfA00iVGyjYMSSRuT72Ibg8RFL6uYKYkQNh9d97x7HGSkS3cY2GfvDtMJ1IseKnhL3ztaznniO/D67U31KSNOpgCZADHSfvMWg+uEZ8unUlSSl9VmCmNsPa/Z7PFnqVfVrppcoAgN5yEhlcelr537RYc5XrvR1F6QM/OoDMA3LvstiZ2tGPOoTSoqSgBRTcNdrXvur945opSgQuYHUBuPt/swgz2QNLy50jWCwAMTBN/uMXJddJnTCZaSwYY3+t/wB3hinqKqbTrkKIScgq3c4YMQPnZoitl2fQPKI1QQVIjSQDJ23kR3knpikZ8lMtWpQT65xjv7PHmag/1lIUpyLNwbC3NvfA3hxmqLCiXZ5NiqGbQTMx1v1iPoDiBVT5ZqxLlDZiq13Aa/5aPRdIqAEgKBBJU/uWSANg2eSSYf8AwoyCVsw+YAIFIQF6KzAgx6QW9djhyklTPE85cDfl8fT7xY6ysy0Jkm557fjRrOKcedgwQRTfirwU5jJalBL0GFQQLldnA/ymf8oxhUfAVcRS6XUCTPuWB/BGUJX8hRRYrVUj5GjknYqwJg9Y6WnfEpAE7+okFCnHmGFNsQfuIzMhNROmEEaGLj8D4id/0hq9CpVD6ERghOwIhRIblB++0WvZpNcaeoTKnAedzZ+SWa5b5vfi/MyilSpaUouCkF7uNL/xew+ULnZMrXC7il8s7k7kkGdMC0Qb3vth3wJdZLMyX5QRsXbvs7/NuISRVr8NctaiVBmNw5cEC+q9rPbtEuoi8z0xAa4HLqMd23AA/vbDvSRMppgkzANW5dwclx9PQesea6jVmpmjUpRa3mcN23BJO+cAmIWR4rVqOqqy00vFS4M9ebtIgR1JBjHXU6xYSvS5S4ZrEEbbd/bGGhiTSIkJExCf6mkuM2LsW9G2z6xcvh5ltedVtI0pLapliQpUFv8AzMbb+mJFIVEHWp1G57duxfIfZ94oywNaZaQwQL23PHIbf6w1+JubnMZejNgCxHSWMAn2gnGtQoBBfh/l+e0W6ehmVUiYlKQQWd39bWzuxzErwRxPVm6qDSEK8iqwMAaSJAuCZN+pB2wv06UpEkKWDqOSdyM/L7EQtUU8unmeEg7BwzAG+OYd+P8AKeZkawEyoDCPQg/tOKaASoAQlVJCpSnD7/KMny3Bw+XapTjWJ1LpM2uZOwkEQfSN7Yj1vUFyKoS1JASd3y/1scty+zlmlmidKTKJJA7Cx7DcNgEn9o3PIn8JP6V/YYqx8Zo74IIqHxOz9WlkyKYOlzpd5jSD/rt9/TH0Fi8MUsnxZoT/ALLbDvGL5HhhqEqqBo5mUdYkkgbRH2sMaomFTFdwCBtvb5+u8R+qKFMpQD3djdwHsDvy/OdoaDWqMxVDT1QAQGuDawmLaoJ7e08qCxOaUq9zxZ2f0u3z4jaRW0BSEzZZJZINywZIszjJueOxi6fDHijGt5RFijNOx3Agj5YgCLTbfE9NCZdSqerNx6uxfn1eHFV8medEtLBgbbNYg/sxLjiLh49H/wAfmf6P7jDgbeM1oMxJQN4xJco8F9DMzRpMEjpP1xsEgpcm9vftCUmtkJqRLZkpChnBuyr9y+c3j0tA3kqKkgBQd5BuCBfp74mzagoWCASL3DNa3I7x6KsqHoGkyypCxbUXIYuFXJu+z2Fto46TNm1RvyzAv/MCBMdDJAjqRhuUpKpKlf3Hbdty4b/FomVKpkvTKWCUNbzMHOxbtfDdjFor+bWoUxTJVlsoQaC08skE6vzCBPykzO58rplSZ6lzA4U9zfuz42ueRaKNHVSQFJy3Iub4HtvFVzNJkqMtQHVvvIuLfp1ja/qbtNNC0lUsAX4w3vz/ABGyKSmrkJmCYUpDguz9wS3Frdrl4F4hUYKBug3URa5lotYf3x2mmCphmHzOQWJe/YH6xjXJ6XS/0kpSdSS1z5VG1mBuTe++4jzlUasjUzVOkHV5dhqjrJN7/lHv7KVc7SvxVSwVYKv9Djc+kcSaOVQVKdSgxDjj05javhnwY5bIUwwipUJqPNjLfKD2IQKCOhnFGSGQI+9Sn+NUEguBb894tWNYQgwQR8ZQRBuDuMEEfnrxnwY5LMtRIJVjqpE31ISYE912+k9RjmctKEpAwPz5Rt0ej/8AqVLUSw7c/uP4ML01yVZioiCrTCxtyz7euPqNM2XrLEDFhb0MfKqop5VVoSFpO5BN0kfgsMYjpSKhCKjeYTtpAPqZJ9rW/bGqVSrJl8Xf6tCdVR1KZxngDSHIYkdgWy53a9rtaPlbMyCxDAxusExcQJNt/wBMOVU4EBTlJ5wOL49HiTSU60zGSkLBe2e+qz3s4f3Ec+CBgwdyppA6OmoWJVoAA/LcScRZkyYzp/duCMZvZx3tFqvQEykyEg+Lw7uMgBy476SPlaNW+E2RqBa9apTCayAsGZiSTEnSJ2FsMInomjy3IyeTnO/tCdDLABWN+2Gs3MWHO+E6NbMNWrc8gALERHqDfAUglzFWXUzpaShCyAch7Q2ynD6VKPLponSygH746jF3jpnKAqU3Q7MpX7iMEGY/Omcdl1jY0xpqSbgk6ZJiymZk7++PikyQXKtvmd878gfaGOmSJtNUAqQkvdPDC6cDIwHOW9I/Q/C2mjSPdF/9Rj7C8VfgHi4Nn8xkqsBldvKboRM6T2YTYdRgJEbrkaZaVgu/0iy8a4auZoVKLzpqKRI3HYj2N8fCHjOXMVLWFpyI/P2a4XWo1mpVBBQ3tAAHtvIMzvBwTNGkDfiFE0kyqWtUw35/e7/veJdZZHLJVIPywSNydyY1GJ7R3x9lTJhQ00X/AG4eJUxFPKqdJDBsnkWe3PaH3wypueIK5DafLcCYCgGNut4H/GPpmJUdILkfvj19e0V6dKpcoJJSNTlh8Rbc7DOMncPGl+NEJyGZAiTSaJ22x9QHUBH2erTKUrgGMByucYVFFSdFIzpLHoCNpAmI2gmAMUCtKHKUjzNftnP40LU1BJqJJK1t5Sw79vdn5ixcE4hSJdqypFtxJgSFUAdb3AKgAe0eSr1r1j9I6RcD53Juw4wS/q0UkgzEIlzGISBZrO1yH5NxiDjNRX8tqYRKbFiVEkkq5mRICwujaLknpdno/i6JiFqJUhs7gizcnU/s3eJHVPKsEAsbW5Deu3b7xw/6jV0gF9dgygkMy6pEk2kGIgSOVYmcUlUtKs+LLSCR5TYgWLhnGQDdtyYV8VfhlLkB3c5NhqGSWcPe7Z4jkeImqHkDZZB+VgsgkzLEgmbG0ne2Jn6FEopUpZAJUHa4fDAWZrEHt3hxNfOkpKAL2Pph/wAvC2qSAwpySxhlI5mtzGBf/e84fnCUmUkhVh3t29uNoY6IiXOrWqEvYl2wd32v/jeG3w+4J/G5pViKdEh6p2tMhf8AMRHsGx3LmCZKUlVx+fSHOq0WmsC0mzccWb9437H2OIMEEGCCDBBFX8f+Hv4ugrUwDWotrT1GzpP+Jb/1KuFquXrlFsw1SzvDUxLA/jxjOdYeZUBveJAFosB7QP1xr0tInUY0D1H13/b/ABEXqPi09XrUe4xf5cd2jnUzNKYZbbz7bztHvf8A0xEmYhRuC/ra9j37j6xRR1DqMxOsKAawBAN1CzC/rHLOZunoAVnJIEgkgLJuADuIA2Mc3oMPJkVFVLKZm3w747++PQx1Q1Mmiq0zFIZx5j9Hbl3z3aOlKkWy4CzpBPMBczG526bYnTJ8mVYi+4/eHTLrZlafhSAPKbXA+u4LD7CNq+HFEpkUk2kxaLC23exOGpZSUApxEqUmYHM0eYkvd/RuzRA8WeNKlEmnlqWtwQCT01EaTawmepsLm2J46pJUfIbXvtbLbk+mdo2UlYAIDv8Anf0xGecR8R5l8xTq1jUQIVby2Gk2gT3iRt0JNyPleox4ymEwKubjHIw7G/yHzVqKz+1CWxySb3AcC/e1ns8brk8wKlNKi/K6hh7ESMawz6xiHxC4ctPilRWsldQ86S0HTEEA2BII1QYJ+oJsxcunUqWkEgpcPcjgc8kWcWhmWPFXLSpRADhxZuS53b5Rs/AzOWo//rX/ANRj4C4eMFp0qKeIxLxbWanxOu9IkOtaVgdSB98C1K0tF2nmUn6QJU2o6gd2GeLbf7jXPBfiD+My+thpqIdNRfXuPQi+PiS4iJNSlKmSXG0LvHXABU011AkQtSTA0k/Mf6f2xyuZ4DzglyAbD89vQmMZ3iTZPgILOQfv9MFuQIzXO5Z6NeoizVpSDYgAiYgkNp3MXm4G15y6dW/qUA1Hl1As53sX2s1/5hWvpaEU6Uy7LQwJuSbmxtl+w4iw+DG/+RprquNetb76Gg7ARckDpP3YlBapZm2Ys3cfM2GHID8Qv02nKFLUtJfm2XuD7XDX55jRPFQJyWZjfyXiO+k4+u14pLSlSSlWDmPz3m8sVgknUZ1T0MdfoZ2/XHyVUeICUbZva+4+RjqSET53gKbQR5QLeVJ9y5/GESsvTfSGUGxhm7Hcb/e0/TCckifPEo/3XYcb+nG3aG6tUilk2LEBg/DWv/iOdSpJIVZMyTBNpEntG3pfFmZTSJKlabWDfn5mPOyVzqrQleMFhdubcB/kY85jUqgRE8w7+l+0dB2OOZB8RAKSGGfnjsf9x3WppUVK0y3IAYWyebvY/PbERqETJIPcR1PT9scpknUQo2/OIXOtSfKNvoLveGfDDqrIqyJGn+qRcfabegwh1eWJNKykur37Ybd24zDnR0TZk8qSqwucd+fx/aNp8C+H/wCDywVgBVqHzKsX5jsoPZVhfoT1x9p5eiWBFiqneKt3sLCLFjaF4MEEGCCDBBBggjF/if4UbLV/4uiD5NVucDZHPcfyuevckWkY+StaJro32hiqmyJ9EUTh5gzK4HPOLel9orGTpamFNrB5v02m8EG5EfXGU6dMlBUw54J2Gdr/ALxEQuUvSJZYpfbJ2LPY49Gj1xLhqgGogOlJm8gEbgGbgevbrjiT1YumWS3GRY/z9Is09AoJIUQZimd9ycEWGH3zmPfCuLeTRIC6lnVpJ6iOm94xjW9Ol1kzxZatLC9neOJ1ZNlNT1IdT5cNbF7xslKv5PCi/UUGbl7kE2+pw3LQESwgbCPqXmLAF3aMMrce1VGMmmxiBAKgCY6ksQI6d9twlS9OGkBgQMu7nD4wM72jeupDTEgqzfy9+ft8rQDNVXABpNzxBYFNUtsJ3UE9O84ook07ASC4Sb3BLgdrglrZw3EQVUK5c4TJhbJ5Ab3Ajcvh5m2bJrTqFTUpcjado/L26drWwHJ8pSNgctD8uoFQNYI7tzFX+NPDrUMwBsTTf1HzL+x++M5rFLHEV+lBSpihLAKtJZ3bvjkWfYPzF18GVdWRy9wxFMKSNpAg/tj7LVqQFQjPlGVMKDkRmniDKI/Fa/mMKahgdR6nSu/YXH2N74S6hVrlyyhCNX5nBduLXjSno16TPQve47NjPxZLl8i1gYnZLiz5XnXT+GSagEDWCVW4G52uJufpjmkkeGoTEqcKCQxJs133s57AOIkS/G0FbHyntccByMD6xqOVzC1FDKQQe1/cYfQtK06k4MPkFJYxl3jHIvw+q1WnpNOuSBqMsGIYxBnUItJkCfTCldRiqShLFkYA9Qf82jNARJ1Kt5sk7f47evNkHhDjA/6ll6lQ6QCU5iSV1Iy2PYses47p6X9OGJ3+f52irTqmT6WYlCQQm5Ibl+eHw8bZxWnqoVVidVNhHeVOG4lrSFJIO8fnfiGaZ6h1qQbAzuTAF+237YUk+HKQEymIvcfzHPSOlmcAtZIAuObXLPf0iN50AJLaBJAF4kAffbD8qUJS9Us+Y2P8ffPrGdXOTVlS5iW4vxn/AGN48cNzKlipfRIILEags/qJiJ6CcZTqmdLBJSSQcb989tvaKiumU6ZOpA1nSdwBcjSzcHL5ieFWk5BhyBJIut/Ub772x9m1M6dIBkgjWLXv8rt8zbiPJrkKUShRCGLd/wAEcswjELbSIkWjZQbn6H6EYxk1S0FMor1EEhn7sHPH8EQ34UkKfZV9TWAc4G7BveLp8KPChqVRnawPlofwQfzMLF/6VuB3PtfReqZMKl+35+Xj0EqbJlUaZUkXIuef3v8AZo2DHUKQYIIMEEGCCDBBBggjnmaC1EZHUMrCGUiQQdwcEfCHsYyHjngOrl6rGmwNA/IzGCu50k/4f1HqIxjX18uUEmalwTe378nGPeFJdJOlrKpLW529mL/aEtLJ66VZalVFZNTARblI1S0AaSPUza3ed1ColmoQZSPIdIt3xZ8jm294dogtVOVqUStyS5u77f4ftCmkhsFEpc67ReJAkczRbT36xJx6Cb4knyoN1DJvbb3s/aM0UUqfTrnrbTLN2sXDku39uw5MWLi3ifMJllyIUQ0JpEs4AF1P167nEmkqJSqdSlqJZ74Fza/DWaHf0symnMCCHdJ7WYaeXffAil1qQFQNElTGiI9II6T3+t8U+mqUFkF2UDftz+do2rFipp06h5rYt7evbI9olV82+bbmJRKagJTVjyhY2JuTFyT29ABimSJDlCQSTcjF9/T+YXr9KJSVrLlZwQwG2kD12PEWngvE8zQqPmaDUxQEB9biXW8DTN2E7726m2OUVAYS1uTuQCQPU7B/ePPSxMpHBDEW0mznPzbi0M+MeJTn5o19NJBDLoIIeQVB1NAnmBAG8HqBhHqi58qWDLAIe+fXbY4eHKPqS1KSUOk+uwyD+8Vvgmeq5aoaf8U+gvcIYRR0Jm4PcRj5LmzV05mJBBAsC1zDNRUS9KVBJGo5fN2LWNs35hhxDMIwqulR6pVgGNxO41m/yg2BPfp1KdVVUTkmpIQgglvQ2Ttc5LGFJXlQ1ONc0nbkj4gLuwsOH9oWZXNafnTWGEqobYiIg36Dt9oxvUBQTplFu/b/AHfMeokUdZMp3ms4+IMxDuCfViXcB3eGHAeN5uj5lanVUIqhWVmJXoq6VMwe02vjDxxLUmUHc4sPUvj33jLqcuUGEo3uSTvhv47M8ReI5yvmh51WqXMlYMaVBVjYbCAk2E27xjoVi0TtJIGCOSXAYbkF2bvEyup0adKDqLezHfsxAyxiuVSQtjsd53mIjr023se1q2grJmKsONweD78YAhfp9XMpXTL3BdmsBn5D+7BcCLLw3j2bpoAcy2haZZqNSebaBO4BuLN3tiTOnFvCYhyEuCMnJ3uM44vGlRPGpWljuC1iOzbcb5MV3O8SLTZRpkwqgASR2ufygAk/qcdyJAlApH1j0UlEkSZawfiIbe4Dsfr7sIiZaTJ6DuDve3rh2W6S0QurqQs6kN7MPwPjF3hkM1vThAp+ZgoDNExczHoBhzWZwGtIbG37v88REp0mWkzEzCCkuE3bu7EPbYg2jn/HKIjVTNidpiBEHcW6T1x3V01MFJSkMA7vi7HuM5tHzw6ma6j5iWZge49ew2MWD4d8IfPZpZU/w9Ihqh3BIuEEiCSd/SfTEWSlQmmZve8ejq+lyZEoDU/b8eN6poFAVQAAIAAgADYAdsNQtHrBBBgggwQQYIIMEEGCCDBBHPMUFdSriVIgg45WhK0lKg4MfUqKS4jIPHHAa2TZqqr52WYRLLPlf1AfpU+97mYaBEv4XAd7fY9o9BSmlq0BC/KsOLWd8/SzRUchUoulQgEVFI07nUpDT1vEDfYYomfNM5IKj4ZFy+CGCSDs7swz8485X08ygQCku5ZQA8rZv+5O4e0dcrn388eYVqVFVlXzCFKRuSTEkCY3v7Yz/Q05QUSVWN3SffezHtHSp06XLE7QUIsNJdQVwUtcf6aIviZ6TVwaJXTp2SWGod2YLqM/mj74pUCpqKRQmkEpcAgBzxYE6QRttmMqOapdWNQspSbEkcvnuPfAiNQ5abBYOr5rSepteRNhbtheVOTpuLiLPVqerlVMtBUNB3sGUWcE3vxixtzErh2WepQCBjoD3WQCXOmJt0BgGTv9MZorKaXP/qvgnDjgX/m0Qa+TUrqCsjVsDdmD3Z8/nBiRn+CvQVDUkM4ZlSdbQLEsVgCCRE+2Mf11PWzUinFg2o7B9gPTPDxsmim6ZxYKtbSGu9zpNxuP8Qsy2XeowVepAiQJJ6EmIH/3igtUmWkqWqwG3I9n/eOKSnVMSZSJbrHmcuWRbi1y9t37Q6rcPq0m8so1N2vpkc0e0jSCTA2+2ETUSKym8cqCgnPbvs33xCtCJkus8JCtD2fS7P6se7vh475zh9bLz5VU1ChKuVpkBBAMFjvO20GDc4xlT0V8oBSAAA4ch29Pl3c4G9xap0qpKgFKM3//ADqFtTXZrsHGwdoh8Ny1SpTYAroU3WbsTEQLzJAM9L4+zauTInoCk3ODsBgknaxf7vGE2lQabUSSp1OwclQLgfXSUsNiIjZnieii2XFNTqlpAJY7XkNEQI22nHcynkCsFQhZLWbbftfPIu0ZU0usqJQkplMWuT/DZ+YxaFVQKrC7mDAgarDrBiPv2w1NZQZSt4c6SipkzCfCBcOX2f4QC5zuCA3yidnOKvXCeYBMQWXqFi8d+8W2+q9JRin/AKaR5VOQDfNj/h4Q6nJQmaZ6FXSQCL2ObdvrtERJBaDE2k/2P6fXGkkgOBtzDVfSHRK3CrsMO2Xf2hpwiilVtBPNYqFhZ31KpaQDtE2OmJuMcdTmmnGtJBbOS2GPJGxa4d9olUiQoKExJZW/cF742+kcc9QZGak5gyCwNuki/t0G5OMhWa5ImJLgxf6X0+n1eKdgPLscg5vv9cWh/wCEPAzZwiOXLq3PU0xqI3VP5jMjURAvubYJE+bORcML/L+fx4S6hTJ/Va0DTjfjDcbbtjvG3cK4ZSy1JaNBAlNRAUfuSbknqTc4ZAADCPi1qWdSi5iXj7HMGCCDBBBgggwQQYIIMEEGCCDBBHl0BBBAIIgg3BHY4I+gtcRmHi34eNTLV+Hg9S1Ebifm8v3/AJft0GF5skKSzOOPSPQ0PUqeYkSqxAPCj+/8/PmM+XIlwSVIZWIqAg6lMncfNa31JwrLnJlLAWW4v2/PlDNWJs+UuUnTZPkdmcMzbYfI4u0Ls7RYRA5RGkg7zuD17dtsWQVLGsAA2ORYj0v/AJjyNPKlU81cqeoggsoFJx/24Z8MS4Non8ProjMkeYpESO3zAr0JsBPY4XnU82cgokeUpL5F85Zz/lvbnqJnBfjVJsp2yd29ME24xHqjWVahZTURBLaCLryxfTJ2iTaYwi8woMtYGpTAlssdWDgA/jRTXQiTQlTuRZIB5LFVuxPo/MdM1nmqDVVBLltSspU/mme7MxJGwtGGOn08mSCBbAw+OB+XhepkzQgLljUhQZQdtQ9XcN27vEWhW0lTrM6tVwIDWO3X1/bDE1CFAylOXd9jf0/Mwn/5acmYVU6UoGkJLOXSMC9gPqcvsHmZr1mqpXqHmhWUAflk6Rp3EgE3Ox98Q5Uqm8FdLIchy/rZyTjNh39o0p6hS6pDSgFNz63w77Nd8WeOua4UlUGoFUKzQoZpEyQ9pmxB5RAEYJFaqlT4UyWFFNyWwGGkPhyTclyfs5UeOqehCpxSCCGTY8ucPb1/lNWzg1Mr3UEgGmAGOkEDfoZ3P9icUplYuagFCAFWzx37+kPSujrpEywqYVIALIJZiq+rysT6HBvDV/LFNkpUiwkKCjEseWRBIMiWJ+XraOkSX4mvVNWxyxFs8ONgNz7w1SkKnJWFABQJL4BGxuGhdnOFLQIWoZfVcCDA0g79SCdJ2uD9K/Tpxqy4skDPNyLjYHbNoj9c6wyVyJCG1ZN7htuL3y7+8fKxVJIUNZRTI5Qo62i/Y7XmDthyeFzmSlWgJ1AhhcbMX9VX5uNo8vImL1Ou5JBLk59PoONoTZlJN4Ufr/r9zjJA2Jj2sqaVSdYSokWAGB2YdhdX+I9rTLECmpLMQFABJJvsBeTbYY2qZX9yXIaOOjdRl6zJngJUCW29Xz3+ojUfCPw3ZglTiA+W4pTJN5Gtukfyg/XcYSl0gBJJsdo0ra6XrV4Azv8AxGn0qQUBVAVQIAAgAegw4AAGESCSS5j3j7HyDBBBgggwQQYIIMEEGCCDBBBgggwQQYIIMEEJ+PeG6GbH4qQ/SosBx9evsZGMJ1Oib8QjRE5aAyTFD8SeAmWiFRfMjeolMaoHdVGsk+7T6dZZp6ynm60ErTw5t7Et8rw3JrkpKlTk6nDFtx3+8ZrURzWcPqFQdCCDI3Ebg+nTF2mSsq1MxO/3hXqvUqdckSZIaW1wwd9j/O+YZ+HuEU61bTULKYJWAIMCSZaxNtoO5MdcLdRVMopKp6w5cD57nt6txloyV1GUvw5FMfK2SWUOQwx7bNe0eONcKOVqLfWSCQYBsRH994HQj0wp+oJqhqRkEcgvn7jF+8U6Kf8AqnRPUxFkpFnAG5L+liMcQPRoPIQl2AWeeA8gEiAojSwi25m5gTRWtBJnT1MVG4HHL/faJSV1tABKlBhcgsD7F8/xHvKcSqAGmqUyXMh9JBFjsw2+nS1hjnw0/qkzRq8r2dgxO/OwvbBZ4Wp1SvCXPmKANsl1KYgm1ntfvHKm7ImmASoMsJIE/wC4gWwnMpJq1FnLkE+35nMUJ1d0+sqBPUsosRsD2bLW9Ns3iMKjGmVClZNg5g9LgdBjUUOlSVrN+O3eGKrra5q/DbDBxcWznJiFocjoPRoP1vhgU2rzA2P0hZXVJSZgAlkqTxufZrdo70FgCRqIEiAQB9OgxsUS1AzAwBz6+/zibXrq5c7w5zhQHY29vl2aG1DhbOoKghtJtHUSR9Ii/fEaq6gmRMMtPI3fh/d3ttmOKaSqbqWrhhyfzneGHAPhvm80dVSaCTPmVBLMf8KTMD1gdpw0hJOMPaPTSKuTLpAlSfMoHUBb0JPPpGteFfCVDIpFMFnPzVHux3+ii5sPrO+GHLMTEohOoqSGf83h/j5BBgggwQQYIIMEEGCCDBBBgggwQQYIIMEEGCCDBBBgggwQQYIIgcT4NQzAivRSp2LKJHsdx9MdJWpODHC5aV/EHio8V+FuXc6qFWrQYbX1qD7Hm/8A6wVC1z06VGOqKXIpphUUBQIZj83B2MVPifwqzo1FKtKsCI5iytuDYGV6Rv1wtKQuTdDRanT6CoYqSUkY3/Pk8eF8AZimgbymFVVtDapa8k6Z/uPTribOnVgWQUkpJ42+f8RmamWlHhAul+IT5jw7m6IUeRmWJ300XI2IGwO3X3t1w5LqZylagkizXHcfghZFDSVDqmEZdnZ/4ibwTw9miG15ausiAWR1M36QABMXM7WF5HFVVVoUlUp37AY7/g9YzrunULESQPnYH6n/ADDPO+Da7KBSytVTYFmZCWnfVLA79Y+0xhamV1ATTMmXd7YA/PnCkqUEyTJVj6vyD+2O0RMr8M8+45lpU77VKkxbcaAw/XF2bM1ygkZ3/wAdo06SE0dWZynYYb1s7/jxcPD/AMMqdGWr1mqswghV0L+pJPvbCEykExtSjbi3+YqVvU/1NvDAs17luP8AEXLIcKo0QBSpqsCB1IHaTfGsunlyy6Rc77n1OYlbMIm42ggwQQYIIMEEGCCDBBBgggwQQYIIMEEGCCDBBBgggwQQYIIMEEGCCDBBBgggwQQYIIMEEGCCDBBBgggwQQYIIMEEGCCDBBBgggwQQYIIMEEGCCDBBBggj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data:image/jpeg;base64,/9j/4AAQSkZJRgABAQAAAQABAAD/2wCEAAkGBxQTEhUUEhQWFhUXGSAbGRgYGB4aHxweIBscHR8fHR8dIiggHiAlHR4eJDEhJyotMC4uHR8zODMsNygtLisBCgoKDg0OGxAQGzAmICYyMDcxMjIuLzc0NDAyNzIwLS0yMCwsLTIyLTguNDIsMiwsLiwsLywyLCw0MDQvMjQyNP/AABEIAOQA3QMBEQACEQEDEQH/xAAcAAACAwEBAQEAAAAAAAAAAAAABQQGBwMCAQj/xAA/EAACAQIEBAQEBAQFBAIDAQABAhEDIQAEEjEFIkFRBhNhcQcygZEjQqGxFFJywWKC0fDxFTOSsiXhJHOiFv/EABoBAAMBAQEBAAAAAAAAAAAAAAAEBQMCBgH/xAA7EQABAgUDAgQFAwQCAgEFAQABAhEAAwQhMRJBUQVhEyJxgTKRobHwFMHRI0Lh8QZSFWJyJDOCorKS/9oADAMBAAIRAxEAPwDccEEGCCDBBBgggwQQYIIMEEGCCDBBBgggwQQYII5vmFG7KPcgY+gE4jNU1CfiUB7x8p5lG+V1PsQcYmfKGVD5iPqJiV/AQfSItTjWXUkNXpAjeXUR7ycapOoOLiGxST1Bwg/Ix9yvGMvUOmnXpOeyupP2BnBBMpJ8sOtBA7gxMVgZggxY4IXj1gggwQQYIIMEEGCCDBBBgggwQQYIIMEEGCCDBBBgggwQQYIIMEEGCCDBBBggjjms0lNS9R1RRuzEADpufXBHcuWuYrSgEngRXeIeNKQWcuPOPoSo95I9/tjtHhsStTD0OePWFqsz5E3wfCJIAJuAADub292EK8p45R486r5ZOyKhAM9C5men8v2xMrDWJH9NIblx+fSKkiXLmpPhpLhnfZ+w/kntEbi+drZirpRmQUgS/wCJAsJEyCSfodjbCtB1nwZZM6+rFnPtb7mOKrokqcErWtTYYOxHsRfu4iuPx6rlyQpGpXlyg5e4uu4I3M7EjfFSoqRXyktZxyQfqfy3u50f/jFHTLK5SyoKBYFvrvbYWu5htw/xlq8tXcgljqgTIOxkmQoMiLmLz28/P6WoomaCSqzXLnYj5X2D2aO+p0U2nWFSkunfFm7Pd+3+1PGOItWrsyllUGNQm4BMWsNr36D0x6ugokSpaJcwlmu5Iufk3AYm948kr/kFQKdUuQXUVOGAsAMA3OQ+AGfmOlBkSqrAsypsVXVJMXuYAnt/fGs/pZmSAJahgu6rE7Bw9tzHCv8AlFVNlLlz3ClEC1mAcks4dWAAfKdxtD3/AP2IR6hAaxAAjTe8gjbeL3O+PGSqCsS2hbF+bH8Fx7R6lAkzJcok6Sq5ByBh9/vxHHh3jfNDVKpUAlgCCDEiwNpgHcg7b49HTFU1Qlggn84hnqdNRSKYz0HAuxB98n7xZuH+NaDL+PFFuxOofeBGHqmR4KtL/T8H1jzHTKhdeoolouL2INvR3+kWPL11dQ6MGU3DKZB9iMLw6tCkKKVBiOY6YI5gwQQYIIMEEGCCDBBBgggwQQYIIMEEGCCDBBBgggwQR5qVAoLMQABJJMAD1OPoBJYR8JADmEtbxPQiVcEatMnlAJmJ1RYkEDv0nE6oqpniGRTp1LZ82GBtkuRb5nMaFIQgTJlgcPZ/nFM8b8T81hSLnSBLjSbXiQZgAA3JBGwtjjpNDVVZM+ZMDDDm3yGDbsRvGg6/J6YryI1L+w987M3OYpubVWgqGWksixBJI/NJEifQdIGLgpgT5yAOR9B39Ywk/wDKZsukWj4p5VYlwGNy99sJD47CPFNy5GyaVMlYSRF9rkmI9frhfw/cQz0ioqaUrQhAJmKB8z5PfYb4O8M69SoXGZepBYwoBJIEEgFYuO3sPXEo0af0/hy0uOPRgSPfMWlVkil1Uk1QBPmvte4B5+4ic3DUzLlqhNPkBKqFQMDAUoC+oAkw1vmtF5wkmcqkQEhGSz3JcO72Z9x27QjT9WTL1CUsBsuz7379i/bkQi4nwxKTG8EMVYCSZDR3ggDtGPSokjwJc7+1QBB5cP7RDlf8irjUTUOCScFmADhh3Nr3F49oxpgKNLo6hpHzAS3U7GATBtfpMnOVN0qKVpIbkZGQR27xcqP03VaRU9KdM1OfUNYs7hyB6OWMS6+U+Vg5KEWLKZ2kbb3sWiAWvecdqqkpm+ElsAlsN/aX2fLZ3xHlqOkmVEhZmJKSlRZr6iSyw2dh5rBh2eOKFVENzJvvfp13H09OmNDKWRgkZIb7/aCpqyvQun8mkNc2Nzp0ottdw4L3FnMheKoqolFJM6mbUW0gGYXpHci5j1wjU0pXqKEseQW/O0MdM6nMA8OobS4AcXUTvwL3uIh183TrBnIZFMwLG4PSBYfSf3w3LXqp0y58x1JB2L9r/Qu2Xe0V6TplfQ9SE+iQFILOAQAAbKcOPUEPcd4u3gviDUV8tmYKwDUwyMpgzdp5bxIIsR62x5+qk1KF+LTKf/sMs+PL9z74vHdb1SRUTyiYnSu97sWLWLYi10fE+X0gu6qCSAZlbGCZWRAPXYd8PUtTMXN8CcnSth6F8N3/APXMJkAy/FRdO549e3fEOlYESDIOxGHiGsY5BePuCCDBBBgggwQQYIIMEEGCCDBBBgggwQQYIIhcW4rSy6a6rQOg3LHso6nGkqUuarSkRjPnokI1rMZfxrj9fPOVA00wbJuO8k7MwiY6Wt36qKiRREhSzqYu3fYY55hKVT1lcBOCR4Z7iwGTz2x/McshQGo1kdUOqV1vuzQRrDkzuxDR1J95pmUpKKfSVFVlEJZk7gEEMxASQ98XzG1anqilGXNVpTLFiSkvpYAu13G7O+bxEp5pjUY6itSopgT0AG7C0fW2/fFlc6XKQpwyRi2x39fQfaPKyZMxRCZfLEuc3LHfb6RG8QZcU1pLoEvqKkGDA0jURLCN4EyRFxhWVVpUhSC9j9ch37GPW9C6WszwvUNJfIc2P9rMxffAvm0JjXVQxKiw2GodN7nv0/THNwpo9dMVSqkgpIJu1/sQb2+frDrw5w4rFVywLgjZjC76hG0WIIO8Y+1C5AkHXdaSCwISXew//LBe5vHh+pCpq67+iCUFmWfMz79muR7bRYcxTZqKMlR4VSGYgzAYtrbsCDPcctuomUnVjNnzZS0hJUoKSXcDyhJSLOT5cgC+o+vzqHQjSBMxPn0hiMOSonk2BOC9hvFXSo1QmqHHlqwUeYLkyZYrsBM9d99xisirTNSEYFmAwwwG4A3+sZ1fR5spXhAFSlEkNZ/c5PI2zi8O+C8MTQWqolUjUSiuDIkSWIsAFMlfQdIGJPUp07xAiQWUoi+TZ2AS2539Yr0pnS1CknvLltdw2o8kjbIzwTHWrlKdXzK1AABVOumV1AONgvQKN5iBb0xn48ymmS5FaQ5NikgeU/3Ft3swufrC02dMmqmKoph0kMS1j2D3uGcmwiKMgtOlqrDeZ1SSBpnp3gj0gztj1IqETNUqUdVnPHDfueXHMeUWJ4KVm2w57HvwLlvQQqymXStUC0zaDq5SI5SeljAE+pntiapKWd2w78k/bYcD0itImzAl1yx/rf8APo8RM7RVbKWjaR1Hr262v9cd1Enw5jLbsR9fzIj3n/Eq2ZUyyyhYkkKFw7s17fY7MXho9U1MuhMiIIAi8QoOrfSIAA239MZyEqCyQQA3dy12bHPs1o8PXU5pK+ZTzE6wVLCSch9/YMw7nEe6XkCnSKmt507OxBssSkGFUEDfV26HCKpdSQpa0JUOzarZcMNQ4uCCN49BN/8ApWpkzWSsDFx5mZLt5VHhgQC8TvC/i6plXFIjXT3amPy33Q7A9YmDPSZxcUlE+aUhbqLN39f9xCSKqkl+OtDS3ZnHz5/Y/WNX4bxGnXQPSYMu3qD2I6H0wnMlqlq0qDGKkmcianUguIlY4jWDBBBgggwQQYIIMEEGCCDBBBggiBxfiQooTGqoQdCdWIG3oJiT0nCtVWS6ZIK942kSFTVMMbmMSz2dzWarmrU1M4JBQTCC9lUe07HaTOOitTeIr4A2fhL4HBf7x6GfL6YU+BKmBCm+Jxqs2og7d8D2j3QzD+Y9KjdKiGSSwC2JBtElT3kEjbbGkukVNIVPSCo3x7W4/YNHmajqdNIp0T5Kv/tnSlH/AGFnJ5c2BtvmPvEaFOErTTYuYGhydKqNKqVKg20XY2MzjmTL0SDLSSVAE4ySXt88ZjLqdLVLMydUjTpBYZcm9z2PHpYw34dwilWSnUWo3msx0iJAIItGkbTIuRte+EJ9dOkL0KQVMATuXueS42uA17WhGkpJipAkukAEk3za4J2PYWPvbnnvCWdrvpFOdLNDMNG6/laepCg2G0xhmk8zzTL06tvfcNsHIub2tvZkqNLoMpdwBta22WxZ8mzvHPJcBqfxlLK11CksA5BuywzW91ESNtp3xWRNShBa5P7x51dOV1AlTH05SLkd2O19n3xiHnj/AIBUo0kqUiDSpTf841QLk/MNr798SqfpsiWtagT5ms/fY53ffEero6siYEzACDuf7WBIsG9M2d4hcE4Mc/QdVdVq6m1Mwb0UmxsdoEDlMRGEpdMoVapf9iQG+ZbZ/V3L3d42nV4U5ljykAMfR7fPbJDvHjjdF+HinSClnKAKyjUQeYExp2nSZ9Dbc4+VlNMqZ6lTLJsw5SGy3uGa9olUZRJly5S5o1JLl3Dg8EnYbXs4wbLOJ+G6iolRQQsA6ka4J3Dg/lB9Yv6RjPpvVUmcQpbEE7Xs7Nt2L+m8UupVc2rlJkS0g6ix4Z2+o7H2zFs8OeF2q5VHMKdDCmx1EtqN6hDRGq9uoN42DSKWclS5iVOFqBKSBgYD3IODazj3iDNoHGhZZSQQ4JscHBD7jvCbNE5aoUqs5UHSSoAYqLxBMaTJt6tuMU1S1VVNqlyQF2fUSzi2qwJK7BlXsAzGIUqUZVWZKllk7jg3a+E7M7XPeLHwLw0jfjUFVFqgl2YMTJiVRTYJOqQd5Auogofp5qpXgKLBNgdyBvwDhjkXNjePQSyZoRMsLbdxt2+/plpkvBGWRmZwapYyddxvO3ocP3KEoUXCQAH7BvtGtMgUxeVY8jN75h7leH0qf/bpqvsIwRoSSXMU34i8MoVDSgqtdm0BpFl3JcdQCB98YVEzw0Fb4Btz2jekmzJM9K5aNTZuQQk2JBGDta8UHxHTy6VVXKlqjWL1QwYNtZfy/lMxF8LUE2oVL8WcPMTYNti73vjsn1iqOlKqEqCwJUpL2Dg6shh2Jd7knbnzwXi9fLZjVQOpiwBpzZx2YTYi/qPS4xtrUhyqwuew7DgcQ3JpaQUqEVNpihY/3Eizl2ckc7W2jcOG59ayyLMLMp3Uxsf9euPtLVS6lGtEecmylSlMYl4ZjKDBBBgggwQQYIIMEEGCCFXiPjtPKUtbgsxsiDdjv12AFy3QfbHC1hIcw3R0a6pelNgMk4H5sIpeb8UM1anAcmpIkArpOiQArLJ+YGYM9Ji/kZtGqpM2dOUHHvZ7CxtgjbnmGlSTJUEAOXvcY5zy3pCocNdXpqEWjT5iXaoJkk6tUCx3AH/3ixSdeTJkTAt5qi3lZkhsMG9yfTgQhXdBpqghSZzFIFgkudnfULH0Z35hd4hzOVo0dFGqatUwKlTSRPXlMGANiFN/WDNFFVW1C0KKSlBTazeo2+eI66Z0qkp0kTEpUpJGWcceli4jnl4VNAko8qwN9VubQwgoPy6tiZnbGUuYoJWpflIDuLNlnBB1egILYMddX6gmfoSllOfUuDjOdi+HzGvcFy2WpItOgEW1gNzFjPWQRhqXOTOAWC73+cJqKETPDNlZbduY7cb4quWpGq4YqN9Ik98C5iUFIP8AcWHrH1StIeKNkOMNmuI0Kq0iqmUJMflViPW+qfb9OTp8W5uBi+++WOGxl+0TZLVFT4pfyWHGPM/zDc+0Wbx+6jI1QxMNpFt51Ax+mNCFEeXMWqZKVTAFM184wYp/wjq/j1lJH/bERNgGjY7YXkoUlZ1RT6jNp108sSWe5LNvfIsfXfMWHx4qh6TNYaH1NBOkDSZEXBmwPqe+M64y0ywopdQI0jUA+xF9tz6Ax5mfST6mfLlyrAuCWdnb74vZiYVLkDmqlKmGdVgeYoJsAYZWixmIkdQw94fTDLm1BOhIVqKuxDuyQ1mfezNvD36OZQEBJ1IKUpvkMPjBzcBmG7Rfc1mEoUi7kKiL9gMerSkqISN4zWtKElSjYQl8RcLpZzLCqFDNo10iWKbra4BI37HC1XIW7gsU9gXFnDH0sXEbUs/T50YU3uMh3yOxiv8Ah7xqKSPRqUyfJJAeyBgNhpJkGf0vbbHFKpS6dCkB3YZH1Pbcxz1abKo5ul3UQ7DZ9nx8otfhnjf8XTd9OnS5SJnZVP8AfFGok+CvS7wpS1Hjy9bNEDxLn2WsKYcU18vUWkgySwEXvcT9MSq1NTpeQCTwG9b24t+CNlVlPJOiaWJxjttv7RlnGMzUWoWZzUJnSd5ANptfb9MaVFFNVqIx67bn/X8Q9S9TpqtEqQlOlQKdambzdss7l8ccxy4JWNMuy6X0rqPmQFJIEg95+UKN9uhOMJiUHQkE7Yy/+MvsA8eoqkzpstCZiCNSim2QLkE3xb1uOYnMPOqLXNIrcNT/AA9JqEEXEE2UAmYgBVHUA/J9XKShVOiYHZlcBwXewF8N6+3nCqVKC5VV8WogFx5U5G53yDgWyHiz5PxaVeswDchIEyweEEA6QdMk6tVhG+1oVPSLpJkqZLUDqzs4e4vlsetxGkmT+qYCz9xi7EX7YzF54FxinmqQqU5HRlO6t2P7+oIOPWoWFhxClVSrppmhXsdiORDHHULQYIIMEEGCCDBBHLNZlaaM9RgqKJJPQDH0AksI5UoJBUcRiviPjD16q5msJQkilQmIpqYIPq8XN9x2AwlMEybNXIHlUBlsE4392i2OoyKelEqSytVyRnl/Qe3HMfKvlJ5VZKTUzWVY5jGowWYGdUyQCBAH6YWXJqVk05Xq07WxhIw3e9zvGFFpowpZAu5OXZr5cZEeeLZ8ViodV00gdQQt+JcECbkEksSbjc3scY0VMuQhTq3cAgZ+E3B4A+W0aTNKJhqJSmUoadRLMGcEONJzjO2xb7lOCIzay4RAFCibgtIuxj21SL26iXarrZpykFOpQGBYBs7G5BfGHePOU1OqpTOUhdlKNzfURcfU3BsS3eJNbO0lqBlcFSyuEJMHZltY9t+3rjuXJXV0iUzFaVNp21FyXw4ZzbtexiVVKVS1S0CW+kjL4AFne3fNw1xFj8OcSV87S0FubUSrCNJYM5X15puO+J3TKKfIW6wNIs4Ni1gfkGitNqJNRWpWkeYJY52+g73yAMw9+IdFnyyqpYE1BZYloVjF7RIBv2xYmKlpAVMIDGxL5NrMCXvZo2nTfDAOgKezHDfMfeKx4OzS1s3SLKQ6FpIACQUaBHQmCdQ9cJmnn09SkEgoU5zcEAvwWGG9IzpaiVOUoy0FJb2a33Nx6s5zFj+JtB6mS0UxLGonVRsZ3YgdMUkqCTf9/wBv9RvMqPAGv1HzBG/5vFd+GauubqKwUHySDBvqV0Bn772vPbGqykSwlJff8/PtEjps0rmKBewsC9hwHv7Em3rE/wCKjlTlmEbuI6mdOI3Uw8sJ5j1VAh9asaQ72t8yNu949fDis1WrWdiYVVAG06i1478v+5xx06jTJJJ+IW9Py0SpM6coqEwBjpIN+DycdmB2OI6/E/NOadPL0gSzks0AnlW3T1P6YozKoU3nJA4fn84vHNRKTOT4aiwybtYNubZbOcRZ+E0vLylJW3WkoM9wonGhWZnnO940RLSEBAwzRkGczIOo+aWcxrOkmLgmZjURH0jHapMmmlIShgNm+t4mdNk1dVPDh73Crg7Bg4Ybu4e0X74YuDQrRH/eO23yJ+++OVFy+xx6RURTrp0+FNSyhngnkdmYeoMLPH2bZM1ytdqIBEEmJqEmI/UfthGpQla06kkkENhn9CbnDP7XhOqnhKgkkAf3PuDs4c7HAeKFxCi0q9QVLizP8vWPQAT9o9MZoqFHUkbOGe+XJvi/G+7x7Xo9LKqpHjpSgFTHSkMwAAwzmzkE5faLBwNaVKlVevolxymJ1GTtG/MJ9CJ6WlVkiomeGuU+S/59O9xClZ1Gd4qpYUWSzJwQ4w5bN22aOHijxCSy08uyrSAglYZCpi+ogaRMzBIPXDPRejCeoTqkG53DN7O19nxxE2amRT00zWh5v9iS7nlhk8tv9Y95vLZVEfMymY0hQESVBblusbkgmViBvHQ9hdRNm/pEOkHUQSB8N2cNYcHMLqBUEJmhlS85BextcYvZvdhHPwpxp8rU86neiXC1qUkkKSdLKbyV/USPUUJfiJniQxJI4y2Tb1xFWd1Gnn0ZE5klGHziw99mjZ6FZXVWQhlYAgi4INwRhrERwQQ4j3gj7BgggwQQYIIzb4peIOYZRDZQHq9u6qf/AG/8cNU8yXJBmLLbDe/pE+rTMnrEiWnVgq9O52HJikZHNUmpr54IAYwQt2BJjaQJvv2i84Sq5k0y1KQPOT7DucY+5jmmT+gr1FKwUgYyCWxd97vluHh1xvPrmjl0pjzAik62KlibSpCxEEAzbrbHnenyZtKJq1+UnZjthnfNxvFldRLmSv1DsHCSA+FZJfb1ir8TzLUqjBW+V9Jko0Xg7C/vj0MkqmJCz8Xo2eRz/mOv0dGhKAQVSyMObFHmAd8H6Mwh5kMnSzNDWa7IQSoUXGoDUBEAmY6E9O1o3UK6ZKq0gIBDAvhrsWLn6gcYjnpoWmjMpSAyuS5Y7YsD2j1wDJIKhWoBqF9fzQbACegjf9cOHqgQjVpdJa7X+ueOT84R6l0FHhoKVaFF/KcM9zb1DPbbiHnBc3Ody+mIV9JC+ocFpPcxH1t1xvTU89KXU5S7h28oI+buW9HeIXTUy5M8BJZw1n8zPz7HhwGi3/EBJyu8Q6mdWnodje/tjWcVBPlb3x9x/qLNdL8SUe343qTYZvFE8EM3/UKS6mIGoxqkfIfy9PfCstP9UY9vTvdo9KlR/wDFvMk6VFmKkjUQ+5AF22bFmEW/4oOBlVlgo8wbjezWHa099sUZZImJ4e/p/to83Wv4CtKXO38/J4rnwyzinOFRYmkxj/Ml+9zjaolJSoqtfjbtt9RCHTkvMKjsG7nGS5FmZv4h78R6wpvlKhGplZ9KD8xKgb9N+xxPq6cVElUsln/l4r6glYUrF3Pt+cx7+GVNRSqkWfUA4mQI1EBbmwk26YJD34s3Jtk92b8vHZQlJJSvU/Zm7N/k/sI3xNCqabszDkIEAGTqWxB3EEyOuE+ohRVLIFr3va1vd99o0pqdU+aEpQF/+pLAje7FmFx3Z4sXGOIBcg1VYINIR25gAP3xSAdLCMVrMkFShjY/Yxl/CD5pL+WigSX6ySfzBiWMmebb+8UylSwmmGoqVYC1rbWAH414rdRr5NOgVYVqHlAUxF//AMcAOGFzyWvF5+GxOjMAhR+NPKZB5RtewtEemK8qV4Q0XYc59+/PeFamulVaJS0F1aRq9fVg/LxWvirmmpZpXCG9NEDyI1a2KqQbd+vX0x0uSJwKCpuLXfGQxG2Hx3jzldLEyoQHwL22v7P6xVa2bqQtOoAwUAquo6QbgkD5TcRNt94kYXTQyjOK025ZsjAsCX9/rHpaatmSKHx0lSlLLajpx33Zti/pEXK52p5oGjUdoBJiAJCz1gG2HiSiXqWWA+j/AC5iXUdLVUJEwFwGLHf3YsMC4JHyiVS4Q9UedTBanUchjYBSAGuNwFn7L0thabWIkKXLSTgE2yD+/pFrpqUT5Im1yQhckDQMO1skkG4ts53iXneBVKNGXqLLGNI5oudPtaTe59Ix9oqyRPnlEsuQM7Ebta+w2iT1CvUiaqcZTIUbOPM4/uyG3YMoDhyTC/MZkJSCrpJ1DWwGwmL/AH/U9LYdUrw1hUvPa/y59/8AMSUoV1CtUqYoMxZxpBYYYMwf3jRfhd4g1hsq5uo10/6balHsTI9Ce2PtQuXNabLLvna+9oaoxMlEyJqSCMA8bf73jQcLQ/BgggwQRxzdcIhY9P1JsB9TjGonJkSlTVYAeOkpKiwjEfGWZD1SyqhvLsL6jMEm8xYC3X2tP6PJnLQaiYq5LscNl/b7CO11MmRU+CmxIbUAHctbg++wztEXgtKkCCaQZBJKknTvGppmVBIBPcgdcW0KCiysvf8AwOTEXrSFyFhaFa0hIZTBjuxIs97DBETsxX8+oTQNJKdNfxGpqNPJsFvMEmJFrze4xPnS5CJ7KWSpRsMMTaxxYB7vez3BheSuqEhSyhrE2wcZF82B9+8Qsnlih82osAgrTqVAx1egbZdMWbee+NaiaUzVUgUSqzhLOByxF3cOOMEb/Uhc6UJgZru+OLeny2iFw2iEdkpu3kyAk7ra0mwB6ev74/qVTJZTPQNTEKP+wWePUTaWSgoqEzwFG4S7uW+EgEWhtw2jUDuWhhzaiWWT0aUs1gN/fEefMHghKUsLMQCz7Xwznc8Rx1eb4yCfFGsAMi7sSk+9nFg+Y4+HEK8UoClqNMVQDHbYE9IvH1xboipVOkrLG/8Aj1EICbLEw6wnUQGy4JN8gEKYORsTGr+P6OvKMOuoFbSJEm49gf0xzXTBLlalBw4f5tDlOlapgEv4topHgFAc2jSIDN6FiVa0dFF49sIyCU1AAFi9uBdr/tDNWhaFaZ6ypYSBvp2LsTctkxafieoOWQFS01I5dwdLX/t9cU5wLAgsQX9e0Spy9Gk97uWt6/6fEVf4e8O8jiAETKOocNKkcrADoTABJ3BkdsK0lR4ytQcWuDkF+D6RRnyJaBqRd94sHxRy7MuXZYGlySTAgEDv69r4anzAgXUQ/AvyfpvCE0SylpjHgHc7Df7RG+GmfBrV6ZCoWVXCrYWkGB9R/sY4plkoAJJ7kkn3Jz7W7CPsmSmXLewUcgM3ZgMY3zcxYPHnDHr5OoKQBqqNSWBNtwJ6kTHrGN1h0kRqgedJ1FLEXBYtv9Iyw+JMwaYy4YinY84CkReAouIN+kWxhIeWnSsjvfD7bl+XxHyvkrrif072/wCuSzXJIAAGAA5OSYjvVqF5D6QD2IBm5sLAEiLCcaVFQFzGB8qQ72yMqfdrDeFOmyqeXTzEVCFKWW8pJsLaXBFjkjgARpPw2DAV1cyQUjlgQdUEWuLb9YxnS1Hjo1O/rt2/dtnaNkJlBajJl6EuGDubAOTfP7N6xTPjA6rn6LEauRDEW5Xc36EHaD67b4u9NQjzKXbZ/qdvwxkummzpnkDgDHJNhYX7vvjaFXBjVru9NTdxuI2kmCAQbmF3gbzAkQurqppGlYsEnbuw4OBjfaKqpBkU6JRmAKb4SPZ+/L8bA59ZbzEUeSFKkkaVUb2mZibC0G03Bm2aKVU+YpKgxF78X4fc3cMSNmeMf/LUUtAKlKtgXLvs+Arf3tC3NUgxHmuoMQqhWJESSTpBIMz03ERvh4gLpwokJfl/25+UMTQmfVldMFTEjcFPsPMQ4GLOpm2htU8QJ/CmlUVyzEcwEjlIM/zdGtAuxkicTKShEitTUqNgLDl8+23tHzqPTqmollEgaiCzYI9HsWfIPzhZmyKgFWouosS0m14OwUiIgyfX1w5TjwwEIwMA49fl7w8aZKpStZSg7qGkkMxZyLg6gADhuWh54FzQSqrMqBgZVjYgkxG+xDHfswvOJnWJc6n01KFYPwjDZ+vPccRJlVMmqnqlm5b4mu6bXxfa1mOdo2nL1g6hl2P+49xitLmJmIC04IcRmpJSWMdMdx8gwQRmnxe4qPwcsDafMqfqEmxkSGMQdh6YXnKDsQ+/5+CL3SaFc2TNmJVpUzJLPxq/YP39ooPnSzFyzCDfvIG+9jMSPe/V6Z4ckJUhAALWAbyuQT2fYH0jxMrp0xc0yAsaw5Z762c+rHJHGI95OrzrTLkB3AjpcxOkDfbbsBe2FEzUyl+OpDlN+5GSP4fBvHpus0stdM9OkCWU55I+tmHL8csuKcLqZadA1pXYUwVtJ+aQsySII7ffGKK+mrVy1yHTMSC4OQPhue77XOY87RyVIkTUz1AJAdPBOWu1hu9gY5Vap5DovTXSWuNR7noYHSMMVVEun1TvEJUCLf8AUYYPcd3F4+9GqaSdUJpZstOiYq5sCbkjFhewx2j4tFnQOwhWJuEUC0CFAt6GAI/TCcpS5ybzBpHxBw4fdne98xV6hPpKComShTvMsxUCx7B9glsPqhxw7jbUqfl1EpdXUMdUbzMbEkTEyJxMV0mVUzAdRlnCnsCwcG4HpuD2jefLmikVVjTNSCANIvqJAIDO7PkAYZjmPfhsUqb0NDFy9SmSNOkLDCNSmSCJJBBvbucV5CZs4/8A22CM35e4IsRYOCLOWuI84uaTUpUpWSGFvrbNzg3DPF3+I9MNkmVjEut/WbY0qlBMok/Z/wA/LRfkrUiYlSSxf8HvjaKZ4AytSlmaM/K9wNLjlKGJJGlrxsfWBiVKqROqkOxZxkZY7AuLchuCY7q/BWt0lWoEu4scixwRvFt+JpAyqEiYqj76Wj/ZxflFQmJKeYTqFIFNNCzlLDuXDD53cMbe0Uj4cVD/ANQSwAIfbvpb9N98az0ErKkhgM+pzfi0fKerQunQhcxapmz/AAhIxazK5y/LNFt+KuYanQossf8Aci4BHyk3Bsbgb9YOEJ6AQCRj/X7xZ6RTyqio8OYHsWHcXHHctw8Z1l87VoVaVcA61AcAgAuDuJ/lI67Xt1wSQtSdQUFDFmN/+tsHf9oW/U0qFKpZUllFXmUtwW/7l232wI3LhXEUr01qUyCDvBBg9QYtbGwLjj1DH5GF1oKCx9fUHBHaKZ418LjzDXphQHI19Oa6gk7aSDB7fXGVTNlSZJmqRqI2H1NvS1j8ozSasL0083QFfFYE2wz97liLDMUzL56nSJUhjUEgiF0DpaSDNxceuJ0pNRVhKCUpR8SS5e1+4a2G/iKlV0AJ11hWVFTAvkvazJJxvdheL/8AD0aTWUFm5aZksGkkPJn/AF/bDVC5SpRYOTYbevf7xNVTpkESwMAXYjV3c5HpiE/xW4YGdKoY69IUIF1aoaR6JBO5N5A9+jWGVU6Dhgc4y/q7ezRa6KuUlShMQC4uX2D/AEv7Zip8Fzn8LzKn4xBADElYiC0+8mB9+2lRQfrJfhrVk8bZ/wAcxA6rXSUVJUm6UuMBw5sMlw13ttbMdaaO6U6KKSw6hhGmJiLBdvsepx1MqZksTnA0Ndg3ZR5IL4uRCy+l0yEyqhM5l6gC/mOptQ+XOCezPMyeUNZFTQiBCWesyhCZOooCBtEWt098IVBp5Gta1K1FgEhzdreUsBbcn54jrp9X1Dxf6CU6C7fbUSAAVO7AJHeFviPh3lPoHNKyp06QZgAe4G8dSO+Dpk1dYgaQ12y9/wDf0j2qKzRKVPnL+EEsDdgCSW744hen4gZ2IlVNjPMe46Sbn74bVMVKqEgjdi319tn92iQumn/+OaWHRNIUXJJSCxAHYW/iPnnw8qWVYB1f5T0HSxA9I74dRomSlLmIBZ8h2BJY37WOGjy56dMRUCnTM8zuA99QY34NyQ55EaN8IeKaqVTLk/I2umP8B3iw/PfYfPhOSr+1o9l1qjMnQsq1FgCWa+252t7RoWGIhQYIIw3jGWfPZutVDAK1QopN+VZVfoQu3c/eRVdRlyCSbnj8+celq6tNLQy6VILkAqb5sTC7LBFULUE00kSACSADpDDrcR/xh+sUrwpen4mDA9zf03aPGS11CupLqEKAI3DWDaXG2Mvu+8QqWa8uCCyvaIFtwbGRMEC1xI6Rhiolicog4OQ2Xh+hqZQphTzX0gki+GFnHBNjcM7wxOdq16iqWqPULAEkbSImBaYEdzGN5MqT0xACClJsS4Zhy529cP8AOXVlHUVKWiUQAk/CSXKRe174Zntybixu9Sq1WnVUs6JCKSF5h8zkgAAaR7XAvvjztTNlSwhFMQETFqNgSo3ZLkkkqJ+QvaOkeHTVcszCorCUklhpAtq0hgGSHD7qztHfhnDnqGlTSq0SCBUeQsX5Vjli6g7ET7Y1TRmUoy5qEBRcHDm/L+a2bBjyLxvNqkVs1U0KISo+V923Zrb8j0xCV80iMVrUZqICql4MMDvtFmmZmYAxmZPnOnysRYYtkX1fRo9FQdPq/J4UwmVMfWFWIbjSBcje20MOFZovXotTTRDrrCrAnUNmF7rMqex6YqU8yYtJSsgs3r3wAG9s/WXWdOl9NqASh9YLFyRsASFYUMOLEejReviHSZsk2kXDKR6X3PoMFQpCZZ1fhOI4ClJUCC17tltx7i0Ujwtxmoubo5dqhaHAshAII7GSoB2Npn2An01LSLn/AKhmXwMPg4tj29Io1VNMk0kqZLUVJUblWUhrDZy7ZuMXzFz+JEfwZldX4iehEmJE2mD/AMb4prGPNp7wjLpv1JMsFi3ba+8Ujwaq/wDUaBpIdMNdlMhfLYAghju0gyAPlucd/rkzHlFg1hcAvkhmuMNd8lo+IoRJk+IC5e+WwGHFvd3zaLp8Ssp5mVW1lqqSZggGVJHc32xjPlrmAIl/EcDksc8DvG1LXS6JZnzSyQC9n9B7lh+PGf52hUVGY1SwRSD5tTU14mCRy9ypuIibThQJQlpYloyCQGHYFQcvfCrO4sIxTNQo/wBQqBJJAyWywccbEH3j54d8Y/wjtppGWKl1J3G0jYTAsI9zjeRKUm4NuP8Abn6+0eiHQ6mafD1gpCXSTlztazWPpndo1zK5mjncvKnVTqKQf2IPYjDOQ0QZsqbTTdCwyhGV8Y8O+RqVWB0tExcncKbyZ32iI98Q11H9VUlYOofCBhtjj8MXx1OYU+KgGwuNm3IF7/5ziLV8OWPm1wZ+RLGABd9o9IxSpTY3fH584m9QlslMyzkq5drN++IUfFcn+JpDW4DUwCFJ/me5A33j2nG6kywsTFJBI/PzvGNLIn1EqbLlrCQA72975Fhn0YPFWyXBfOcDVoUsBzMZYmTYb9zH7HCtVWplhSrk3L+nvYCw53iXJly/CAmh9huNrgsBfl82EPM1kmy6BCoOt2PmfmKC5kmy7Tv03g4Uo6uVPqBMmLISgJ8oxqO4Ad29MtZxCY6bWVElSZaPM5L57AOb3V/+rl+VFdhWA0JVCeh1E2tqEAEDtaAQb9bNXUSkzXJCu5sP3b/cO9F6TOBWkq8NW4xhrbX9cm2ITVirkAA6FgAem9rxEk+/1w1KUhQUEnY9r+u33xGdQKynTqmjzFV8EsxGPiNt2b3MP+E0KPy1AR6BWMnYQwJBIBJKwBvzbRA6imqQTPQHN3+HSBuGLKJ757O8dUnWzo8EKOkCwLlViC+7YBYWAtELiuWTU1FTCM2kNAkgG0AbAn9O2+GqFav0Cp6uHLPn8zlvaFJVVMPVTNLEsQXYOCLnHxEYbNhDLwxSfJZ+gzOCjOaLEdQx0D6a4P8Al98K0tfLnqBFjx6/gMe2l1Qq+nLkKB1IuCd2vbm1jG14qx5uOOdraKbv/KpP2BOOVqCUlR2j6A5jHc7RWki00CuCASZsWXebXhpG+848hSLM1ZmTLfe+LvaK06aFqabvt6wiya0mLvV8xVK8lNASxYmBNtIURcneRbHriZ6tMtKQTycfLJPA+sQpiU0Piabu4u7N62b1GNo4CqxIESBYLEDuQI37zilJkDxmJFubX4seIRnzhMk6kyyCePN5R69/9x3o0tTAM6oAZEyZIFuUA94xj1XXNUQR9R7/AOB6Rr0FM0TFJkn4kK1agwA5BJvgEnjVDoZZHMvXkvKkMxiAIF+2noZN4AN8efnylyZngBIATcFg75PABf7QwiW8kTwhwBkgtoD2GSQWNhcExYeAn+HqUEpsaiswDyNugK6ew6kbRJsBhGmCKitK2ZSCXLu4wX2F8XzFI1Ug0yZymRrACUJFnPrcMM4w7CIfj7JPRzb1F0haqq2o9CJB69yPvirUTPAWSw82HG4ihJlIqqRKVLUAglwlTEgswJ4zYNf6duENprIqeUrMyggLDbiQ0e20/THc6dQVCJen43SbAgP2GByT7PePJo/8/qSmapRQf+xBISCPM55Fg9yCWHFr+IB//ENwOYXO3U40q1KTL1JGG9u8UkqkhQE3ewFw52Dgg/URQOBcYYVaYhQPNQmookEao+bpOxvG4jEimQkFCyC7/c8BhmK1T0yXShcxM3+mwZJv5zbJL7bDccRo3jrLeZkqw/lAf/xYMf0BxfLtaJSVBJdWN/TBPyinfDZZrQANKSw6gTvBM3JN4jbY74l+GZ1f4xYEC4HcMMWw/JeGZn6cU6UySSBud2f0txZjZjtFu8d5Ba2TZGOkakM9jqEfXt6xth+oWpEsqTt+doU8dEn+otAUBsQSDtcB/wAzaKlxnw07ZJTSYVaU6m1C6wZYgAwwJG1o3GJlDR3RUyjoJFx9BfIMVZnUUyDM1S9YP9oZvZ+Mi5O0UVEYOBygM9xck6oMRPbpinKnJlhrepD2wf5ij1SUqbTipQtYVo8oCm83JYXL2HvaL78OOJsuYOXGk0yhaFjlYewAMj33F8OzlU6ryzd8Xxyxdvo8eUQnqniH9c5YC5ax2D7lrtfbmPXjarpzTDUQCAYA66QJB72xGq6EqmpnJLE2yXt+ZEbI6umm8SUpJLJ1fXH733iV8MU567EQWCwYIlQSLDaB3HfGtOlYmEqJvl+d/m+8MTK5dVKSbaRhh837uI7+O+HebXpQTq8s2AvAYdZsLn9Md1lfLo5eqYhwSL8WP8Dj1tEqoXVhWmmXpLEkc3A9DmKNmqqo3lKjF9Rlg02EgqARBm8ggzbtjPw0FaZ806kqYszWLF31O+DkNzeKHR5NVVUkxKFoBSNLKu5wDYDSkYBDkl9rR9zVarUPmyxdRADKOWBNgRAnew32x8lUEi6JKGSq49TtlzsOI7/8hOoSmTUEMkgLCFfEGB1Pb6MQHSYl0idDNUqc7LBH5xIHzAnr6evbHaKPUvQtACUsQ7sb7NuMt6YzE7qfV/CUhVOXSpySCCxB+HFg5GSSRe+9WrytSGJB/NsCAbE6RcW9MVBTKkyzwWfsPvG9R1A9XnJMuWwY6AcFYG5NsgBncGJOWrslNnpvoWfLTm02I6CCJC9ZEWv0M6eqSUeHp7+g5PuMXveLMno9VLrJcyoKfg1KOl2KXHN85a+4OYh1KxVl1MrgHY/mvaJ6TjqTOKJJl4BHF7/4jpfTKHqKk1EkkKwXJtp5HNrj94tXDqGpCj6ValdTM85JZQsi3MO/X1x5SfPMuamdLFjf2DO/MEuckOJRcb+kbLTcEAjYiceyF4jxX/iFmjT4dmGUgEqFk/43VP2bGc0AoIMPdNliZVISQ/8AgPGN8GCszLXqmmNJVbW5rR1IN59d5thaop1SpSDJSFEly+wFwX3w3Y2jHqFWr9UqYpJATZ+WyyfcYu18RwQEQLKbKYQS0yGm4m2w29jh2VJJmFlX7nH589oWq9dOoLmIChljdxtj7H5RFq5X8QCrTY6TzKQQYPcWK9Oo/tjoSioFSseufznEVarqNMpKU0ktQUwBDOEg3HIyXtkRZOE8AZ6eumGYSVEKGkwPmMhh2+Uj23xGqepiSrQ4DMWNi3azE2fIMZJmiQhcvwy6xc5G9iCARkj0LRz8O1FfWHWVksNhCgAHVInfTFweW3XD8ySVIXUqIJtYgsSSTsbHjucsImVk6cVSKKS+wOkj+3cOAWuSdWRZosPDGFAMVBEgBdV9ImW3JI3iL7Y+TukIm0yVklLOSBZ1f2B72By+94hK6sr9aseUqKgAvSMD4le4DjJMXetl04hlRq5W9ROlwOo6j+2CZJRUIZeR8wY9BJnEoC5ZZxCHwx4LrUcx5lVl0KZUKbn39MLy6NUufqDab+vb/cUqyr/UU0lBJ1p+JmAU2O/dsR1+I3E1ASjEmNZuAB0Ezvfpjaq0r0ytTEnh7emfld4h1S5iSgyxd8uAxaxc2HvFAzuWeqKtRMxBMcgiSVEi5sApG0W6TtjGnlTJJS15ZsSLb2DFzs/+LxpP6sKiQimqZWmbKcgl8bmzOSO7GxZ42Pg2dXOZVHItUSHXsSIZfoZGKSgxaNEqStLjBiPwjg1HIpUfVY3Z2gQB+mOEjSGgRKSk+UR38U5damUrqwldBJAm8c3Qg9O+PkxJUkgZjeUsoWFgs28VPwpx0ZcCjU1lSxub6dh0kkbk43/S+CgEG1gA29yS+GIx/Noi0XVBPWZZDHzEkBgzgAMN3N/4vDvi3hDK5tQwGmZM04i+57SbX9MLiUjVqa8Xv1U4ADUbR08MeEKOSZmRndmAEtFgOwAGOwkCO6ysXVTNa7dhj8xGcfEHP6s7VkrpEKPSAAST6NNsJGZqnaRtDErpiptOZwLMN9//AFZrv8oc/DLPTm6itKlkOlZBAupCiIG0mAAMNJmqmFzjb85hOpkCSsoSzYFtL929BmLB8Qc/5Apv31KABzSY2Pt06yO2J3UaL9SpA9eW7OBfNx7jeCVIXMSspLBIcnf2e3zjK8zmUAUsxJmdJBUAAG+oGZtvijNkJWWQNJLbezen+45/4/KmomLQVf00pJtdy4Pw3uSc52Fo+ipXBGvWi7osFReb9yTO/aO+N5FXKAASXT2/c5faF6vo02uQZ7J1YLkDDWAfSEjOXLEm8SOH5BnYMWqA3koRAme+029Z62wlWTFSQrUnzG4F8Zd+AM/LJaN+ndRlS5KJSEoZJu4yRbnclx6cRD4rwx6VYhwUZjKsSWVrXKsQJkRf1v6cSa7xZOoYtYWbbDnAj1VLTSk04ny1BShmzG6nZgbX4awDQ0qNTp5UUH/7r1ATpj5IBMsJC373sJmIwsaOb+t8Yg6Qje/mfg9vQB7R5ifVT6oKlpXqJJABU3IbfB+xPMI+LqtbMBARcqAU5txA3MwBEmScW6YBclHhO4BsbKe9iwsAXvhjYQrTS51F4xrAW3P9vdn3ULMz7xI8QVUNZhl63mU269CRYCYEwACWFvW5xOp6NX6Y+OlKVJOBgjdT8OcQ50eoKagKQgnU4u42cAp9A2H5jbvBuZNTI5Z2uTSWfcCP7YZl/AI+1ssS6haRgEwr+KVWOHVVgEuyKJ/rDT+mNUyvFOgQqKw0ahPGxH+fpGJ06qq8Oosp3Fvp6+vtjCXKUTodgdx/kcx6Dq1RKqZaFFGlflUL8hw7FsNZ/WGPEas6TTGlVSzK2oXNyx2uTF9rDH1HT5koq8Q5v/A3O28ee6d1SYqtloUNTKAYsDbcYHdhs0fctwwtSVg9JizfIHBcTAGsAkqN/wC8AjHEqdKKjrSvy3fSdKv/AFB59Gd4odaraqRUzJUhQ0ncZBLnUcbltwAA0SMtnKtCAj1mLgzpgAEEgadN+w1E3uNsZmXTT1D9QkKAwwILHYuBvsXaxBBjqXTS5tHNXIVpmBmCj6OvJAe+PcGGPDHCgK1J0qRBksVZp7sZkkgGTvsbxh16+nS0tAUCbKxpG1sFrseNsx45RpamcE1KvIC5YB/bcA2xuDgxxbMVAgWwYkiJ0gd2kTEDoBuLTbGngTpVMVLDhVmBODfUTdy+42hmpmUVR1VJo/IkMQSn+4bMWOn1LxN8MeI6mSa5Z6TAlgd995P2vGJDLlKUZdxbJI+4seciKS5xCAkIZai7WZrvcO+HGCb+sXCv8Q0IIo0Xep+UGACT+v6dcbIqwsWSX9vvHcqbJOkzVhINyWJYXuwvdrcxV/EvFKhpOlUstdyGZSSwKE2KgHSCgFxF4B64lyayoVOCnCkHBSPhI2ch7+uIYq+kyly1zVkhKX0l2SSA4BTzw9weWis0agp1VZWUMy8yyQAAxMSdQJNpET2jrXTJExCkqsxta5tnZsn03BxHC1TFyE1AkqUWABTe1/KRm2dTbw58G+I6mWqVGVdOXZ5ZY1CYmKdxDQAT0j1sWS0umYnVNdvkLvYsPrDU0iqmoEhGlATdRtuwPDbDfkMIleM/E9XOqtKlCUybqSVLXtqNoEXIHrfC6Zc6oThiL5sff17RUpE01EtRmkLOLF9J9nu3oW2vEx/G70cqaSaHKqEAZg8SIMGedRtJvsL4UlzaoTRJWAr/ANh+M/YRPkiiUszpqyJbn+0gtw2b7MMEcRW6aVa1IFOURcglSsXAESZJ29+g2fUshIlku97OydsXPMQk1Ej9fMnyWTnSCwMwHLlwx4N/fESOB+JqmUldbaZABEXgw0zafX3HsvMRNCQqTZ3yT9HGO1o9ZT0Ka1ISmyk/FgM7FIsTdu5G4Z4d1fH2ZZOVkBMydG17Lf5iVuSBAkCTiiaCdMSACwIyO5YenG5d9ojzptJRrWZyirSptA+JgHUrhuOR3irVhSeHdCQLHSYJMRcsSReCZnCcmVJSkhQJL2Lc3P17Q5W1lbTkIlAJ1XCSoENkKcMMXsw2cxP4U7RNOmaa0ySaiRPRrQJGmZPpNuuFatJQsqQolyGBJ3f2JOA7X32jzKq6cWBubu2Ady2Xf1sQ1okZ3MZrMlfNL1AgMSsC5FwYA2G5w4qXMB1EW/8AkH9Di/JEXJPUaUUnhJ1Bail1aFY3t5g12AJD5LNEDK1suzq9ZWamhlQQFvPUEmQCthabzGFa4TahBMrShTEXUSW2OAdRvcuwYwpRS6+nHgygVpWXdKR6EYLABnZr2BdxHfiPGVzVWoS5RFWUkCSYuJERO3aw9Zm0lPM6fTukOoljwxvvuGBDXuYq9RoJ0oy0TbpyQ5soOLEdjyfSFr8VPlgLTVFgAgHVrIuCwIibTbFuXRzDOCp8zUbsWZnewZvrw8Q6tNDKA8JJ1ZKGszi5JfgAM+Y9Z/iFSvUZ3poH0jUzSfv/ACbxHTa18L0dCilSoanbAxvk+gzzD1b1FXgITLSoS1u5P/8AIaxZW7DHuIeUpVjrdRKi5YdJO8kWuZAmTvhiZUISRKmKHmYeu+H/AC3MTp8hVIn9QDdmG+QwuBf1ZtiImZ+nTCmir0yoh3epCX6afzCJ26noLY76VIm1Q8daG02Ac4Juone4tsO7xjX107xtRUpWoJGAR5QGDY3Dk/OENN1LstNAIEWECw+wmMdT0KWvS7jAJj1/Sa6TS0apoQCsAqUx2GWBzG9/Dqvq4dlpEFVKf+DFJ+sT9cdLl+GdHEefTUmp/rHKiTEX4pUi2RMdKiE/eP3Ix8FQmQfEVgcfgjKokqnI0JyYx5sprB0AlgLgCSY/lAEzEWxwaqVoMwlklTej4+29o7XLVLnSpdQC5SGUTYsGIOQBsG4L2Lw68O5ihTSoC3lMVdSxGpgtmOkdSdMAdCTvImV1JVRNmSzdYcE7DgPnDueR7xrUtImpEpAsATY8uUuDks1ji8SeG0KVWjqsFpqGYppU9gTK6mllJYGR2MyMMVM+TJmGnTNJJdrFuWZ2tgMHbL5j4ZVXUzlTlyvMv+2wYPYOWPfvs0IctxKspIpmA6kHlCkBgRf3iwuB2GN1SEzVELGoht3xxkD1EWqfp9FLRJqZ5EognU3lCmwCG52YPe0MMllsxVIYEhqakK5DBmFzGrY6ekEG9pvj6JkmkdM7ypLOGtncNu+W7Qr12jlTUCbRrTMBc/Ek6TYOC4YHvYHh49Z5FbRT5zVchRYQZMWB9dybfbHPUKuUtRWghUoCwBU4bdjYAbWf6RE6ZSVsiUqXp0r1A6iEkMMjVk+j+jXdxmOCeVSFNWXTY+YVZ1DQDHLcz7DpbeJsvrSFoTJ0MDe75B+r2wG2jU9J/UVC6qZMdRdwkgdiM2/jMQvC3CXq5tUZqqap/E1gq4CsZRSoKyLHvitJnomglwT6Bvl6N3jhcumUhEmUAEkAkA+YYIcgnk2cQ78U+Dq1Gm1SiwcEzUZvmiN42gXuL3x8TISlgmyQLD/Wft2hxUx5SjNJWR8IOBy2wccDO4iio5V0V0pqCpvoLFr9ZJAuDeLYZVrmsm23bvt9oOmVk2nkLqVLUEOwDpyLEBw7s3xQw4Vw1q7aKSGSIRAwkfzMR8qE9fQDFH9TLASkpZnv+YPERZ1RWKmKly1HSskkX0kAuBq/uHJYAnaHlL4fZwq4ZUBItzjft3A/02xLmS5azqUHc3HbtmLaKuemUiSEJCUC3J/+VgD8nO8ck8AZxAZpUXMC8y0gysbQJmT7dscEKCkrSSCH32/G9LxoZ4UCJiXBZxb3bj94+0eH1qAYV6WnURJYD6RptuTb/jEqtoZq1+MC5SRwxdub2ObMzGEpdTS0s0K8Pw/KWIDsRbPmuRi7u44flU4erE1ajkwAoVQASQLCOim/NY9N74YlV09Uzw/Dw7nA7+pu5T9haMigJZVIptQcNdVhY2awGNRPmAs8WThvgF2T8RhSDGSoEnb3gH0xX8ZSHSkuCOOffMTpfTp81Ym1KzqGLuRxc/59YeZLwHlUEHVU/rg/pGODMUwAtFJNJLBdTn1L/wCP4h5luE0KfyUqax2UDGcMBIGBEuAB0AwR9jH/AIn0qTZhWy5Ukp+IAbTNtrT3+mEalLrSEm5/BFmg65+gkqStJO47c3+3vFSKEU4qLME9BMx09L/pj6mXPllaSg4G/wBfVh9YTn9Up1qTNEwlJu2/cM+Yc5zh4p0adQmXqJIEGN7EDobgGdt7TGEqOqqJtSqQlNgoD0PqLWYkH7tGFfXSVISdISlTuSkFRTnT2B4GcZvEZ+GMsl6cRM+ZMm8WEH2n2xbUmUsFSJmokAgAvnBy5HtvEqZ/yAqly6RaCAk8gOMMXFvYsMQ1yHHPJdgzJWVQvKGESFso1dmk6lEkgbxiGvpEyplnSdC7+tyeP/UYJIS7ZhyaqSjw1rQoBTuSklLJbzDcDgEByAQWaK9xCuKrua1M66j64U2Bg9CCxjVsCJ3w7TIXThBlzfKA3NtxYgdt/aLANNVSZkmXLAKQM2USq74Gm2SXbFxHJcmKfzAhyLCCIF5BESCY/e17OislBKJuUuduN/mbbWaIUqSZ3jyqYGwYqe19u6SzX5fa+1fDamV4fRB7ufvUfH0zhO/qAWPP4Y6kSlSkBCsiJvi6krZVw5hZQk9oqKZ+hvhDqmsUi9Gf8w3JLLBjHONO1Cowy9WxswDCE2UgTcE2kRAFrjE7ptMuolCZMRjDjPc8gbc5h5VdSqWJc2ygCygPf0xj0heyM2mr5fLEsVKjTYfkm87WAAkmDEY9T5VhPlIccW9c4jzStUvUFTgp1WOSTdgSzAuxOSXZ4d5EjMCnTya6YBLMrENEQxc3EdI0yTtFsQZ+iWqZNq7yQfLgXDMAMvuXLNk7xbTX1CZQStJXUNZSnKQ93BwR7ts0Jc3lCULpr0iBAN4BgLc7794jGq6qUheiX/d/Dn+O8W5AV+mH67QqYlRILAg/+zH5g2MNMnnUOkKz6ouQYEASYDXJ9/aO+87qiplMJCpeBy+N78Da8eWV/wAT0LTNmTQErLm2xIZFmd/YAQwzSpSOulr5wGOuGZiDYAwOwPT9sS5VLOMp1AaSCzf/AMtzFFXW6dc0yEJ1K1AbpAH/AG4Yd8x0fxGEpkNSVKiJpnlLqhAIuJB9t+97YKXps3xvGp5pCc6Ty7HIbO7Ps0Y9SoymQJk9IPiHSFJe4uSTcEC3J5FoZfDzLmrmfM16jSkkaYChtQAB6kyT6XFsX1SDLJOlnL+uzttjYtvHm6FK1zUkWSnPc4z9WP1zGl52lrpuvdSP0xzFxaQtJSrBjCaedZCTUANQiGESO8XOw+u2F5plFDElxgv/AA3pj6wxS/8ADVrWiZqCUbg3P0DEsxyz2wLvfDPGaQzKV0pBEU6XIjlDcuwtc6TF40j1xxIqJspIkzVaiohrcB39vYl+196ykmS9CtLIAIBdu7NyL9u5e2v4bhKI9bP0lMNURT2LAY5K0ixMfWLPHzM0Er0yrQyONwf1B/vjqOFJCgUnBjJ/EHCzQqvTmyxpMXKkiSJO8tsO3TbGehS5jJckgsA2f2BuXcNs7xJkzk0lWJZZIDeYvYZGLnDXdz2i15bx0SoXytVTrBOkjbVYE3PSJx0nWElU1JS3OfZyB9fSKFbXUkkjwV6wRtseC2/tDbwtxypmTULoiKsadLFptfcC3T6HGUuoStZQAQRz6lvs/oRDIDy0zAbKD/n2hlxysyZes6mGWmxB7EKY/XGk06UE9jGM9WiUpQ2BjGvEHFa0lRWcnoxYgEETO/c74lUcyauWTOJB+3bb7ZjqmrkFaElL82u9m2uLFw+5yRCvL1KZQM5bzNRt2AE83SSbew9ba0MsmqCphZIF93N2bLbZ9IZ63OmykmUhLv8AbfDcbRxTOguzsRA5tMkSQRCyt/8Ajpj0U+pSQok2Ofz+eI87I6fMIBCTZy47erXFjYuATvDzLcRdQtVjKR5ekrKoJ2BmdUSev1iMQpvT0TVKlylALPmLKIL92DNgO4zyYcNZKMvTNlOwYFi9x6t3I0uWyIm8V4ggoaaStztqGsAMFOwWDcSLGNrTbCVBTTzX+LUEBSAzC4JYi+z3uHd7tzhPlINKNCSEHcjAdyA2fs28VSqnlM4qLp66SCzf5YtJ9QOnScVUy1eKOBd8fQX9GPrHrKfqaqjpwmMdBdAukubsHUeMkg2H/aPrcRGmRSUGeWSCRIjm6E9TMgfeaC9CJailI2seb8euPTePIShPTVo1zSDZ1AXYNcE3YMG+7WhrwBjXqD+JrXHygsOYRAJ6swg7i4Ix5LqlMullvLRY8DF9uAe2I9amuptapUkOSxJIyWBPbcAgMxjZfDNMLlaQUyumx7gkkYsUGr9MjVlhE+b8Zjn4vpFsjmQASfKcgDeQpIj6jG85OqWR2j4htQcxh2XpFVDZiVV+ZHZSxWSZPKCbxYdb4R/XL8qUDVpPmDhzjyvxuQ1rR1L6ampKzTG52BADAfExIJzkW7wVyNIgy+ohNMLsBzXFgbfr9alRPVMQhSQQou//AK4tZucn0GYV6TT06ZkwTfMhLWYnUq7lr/CAXAz5TDDI5soGMiagCueYbXgEnYnrtvGHRTSF0+tYClICiHY3bLF3bbj5RGnT1zKtUtCSlC1AM9wHsHexOD/uPIHnGKbCoWN3WwksLaiIJuD0M99j51f6aQkiZfTj0w7cbNgRcmy6paQvDWIJFzsLbYuBiPK0PKq10WKxUhS4MaBMFoIv2t1mLThVa5lWUEOkrchP/a1hY2fJe3MXfEkfoZAmtoQTc3IZxa1hqsAdm4htna1TRJcVAlM3YUlaCIGlA1lPzAMsgD3neXSCUkJ8JgSklirPfu9nDg8vHm/FQtZmTVsSTpcDVp3bBPN27wgqZ7LtqY0S9XlgNZY2aQCOgsd5w1JlTQsTArBPf0yNvf2j1lPQ1qx+kWXlaXChY3wBvnIxmNS+F2UUUKlZZC1X5QegUAR6w2q+KMyeuaEhYDi1t/qfvECZRmkmKlkEHdyD8iwszZDjEXTGUcRiXjjhqLmamlmsTKxFyZkGYIg9e3XE6XImKUszQyXsb4yzc83ivRdX1y1UaSdQB3HDjLn6fKzxuDmmWMOp0DVAMSJAi25BIuOptPXerBSoCUPiLE7cv6MPzaPL8WfJacpXl+EG5cFiLMQ/cvtiN2w1H2Mt8RcTT+MqKU8whm5SAFPKLM242HQ9MQqnp82fPUU7sxfDcDHO43i2dCKATpiglKdLvm5ZwBw78loa+B+MN5gpGdLTyE6tBGwBCi0CL/8ALlHNUlRkzVAnbnuG5zZ7RMq1y1LC5LlJwdJSDbIBux5/aO3xLyTFadVY5ZmRMbQY77/YYbWZaJiVKVpdg4/fNv5iB1dDoSQHipUEAy7tAUMwAabhTM+wJgTf5sJLqpaquXckgWSBYlwxvuLm4sRaCmkJVKWgsEvcqPAwCGy4wbg77WL4X1F11gJJKgzaI1Ee8z+/SMOhEzx1qViwbgj6XDY9Y06fLQkkjJA9G/l3dwIt/iVNWVrKZ5kK8sTe1pIHXuMfZ80yZapgD6Q/yvs/2iitBWkpBYmMJz1EK5OsG/eWAEAz0E7CD+U9hKctSp6dRS3ba9/eLfS6YU6Ha5s5G7WzxEVaurYwQet/qcPJmayHDN+Zjz1RRTKPUkqJKs3yQXFt7l32e28FPhzLzNVQL0WQzGQZ5b7DrONjSqAISbZy3oI7ndflTpYlmWXFmY6chztn3v2hlUXSkUmJQGzBoWZIJA2iY5p9PZBKzZwEkh+Dy2XJ7McPtC3TZwm1YdJUosNNlBu9gMAuQBbnBj+UahOuWZQfmIFh6/fDVKuSgalEBPJfthnveL3/ACZOEUqWAAPkFnXqsRb/AKi+RxeGHhrgVHVUrV3XygGK0y2kzeGcf0hoW833jEXq1bUymlyQX1BzpLW2B9w/HyhWTVyZ8uXTSgSByz6jkMNnFjn6xDqUEYqw/BotsWGrTbaBudh9cUZVX+lYFOuYA7BgCDg9rO4PtGVVUTOplUgLCQGDEXcbPwSHDFveOWaRtJqUASlM6mZQRqaYDcwHcTvBP3W/VrKTKmBtTsHGGA02NwA7AZueW0mdPRSzEmoPm3BLgB3BsSQXa5awEb5wHL+XlqCRGmkix7KBikgMkCMzmJlRAQQdiIx1HyMAqaaafw7Uj56VCuuYFjEEdoFvfe+MJkubT1ZqVKHhKFwBf19XvY7YiJLplTHlyknWDkfe12bePdU0yEbSVGkco2Jjed9/XpcdMbClmJpVLUrUVKIANgxNg7AE8DaKNJPTLqDKI0hKXUQ5U4y4DsOSr5iOHEUc8pGkKYPlLyoBuP5Q09b3PpjKkqkIp/DQS5LuS9uL/bEPHo6TUeNMUFA5GFEk2VZrMzEl39oX5d2pAVKO11gW6ggEALc9wBftjubRifLV/wBbD7dvoYx6hMCFGimq8xuSzEM55Ifljd9y8Tc5xGpmnNJnCWA0h9MaQIJiDEge5wpRdI/TTHl/EDnJuL/vCyOoSpdOFLl60B3GAblh64e0NOJ1T5Ryqv5qtDFzqpgE/OLHnWPQ6STfsp02mVPnfqpXlODqIP8A8Tix7HNouVNVSUifEmpBCrJQm6hbL2I7YLcxXHch/kB1EEE8xgxC9SbAkDFqSRLZJbN34wcQ5WTZy6ZNVJmqSNFgLea5v22a4Mb7weiuUyKarCnT1N17sfffH2aQ5KBbb8MQ/EmzDqnKdRyf9RL4DnvPy9Kr1ZQT77H9ZxyH3jkFxGefETL0hmagYANUpipLMw1BFMIB8sgqSJ6sfTEyvmKlrQvIsGYWd7vm+C2wEVOmUk+aT4ZCQSz5Llg5FrANFc4DUpSnnCKR5SQY0FeYEgXiwtBE39sqszZigEsFAP2IO297tb0ZoXEuZSzymWSxJa4YM/yNnvn1jc0Nh7YsQpGPccqLTzmZPzmpUIKiJ6iARcd49DGN/HRKp1EXJ2Pe2e/yjzdcqdV1KZbtoPl+7kYLOW9WxFg8DZM+aGIJnnZogTcCehY/W3XHnaemVNqPG1WBPuSL/ePSjx0pEuarypACU7Jb1JLHYPbGGhx8Qq5FFFEXJJneFE27TtPrivOp0zkaSCbjHcgf5iP1haRJCFbn8/P2jKM7nSSW1uxJllPsYue5gW74+IoEIUSLlO4yWvnLvn7xmrqSpgCAgAd/lj053i3/AAqrTnKwhQPJEAb2YC94+3rjdajqKScbcRSoZCEU4mIQQCTc7txv65D4i6+PATw/MgXJQiPeBgS2oPGs5eiWpXAjA8vlWaoUJhLw0EgdbgCdO+3fG8yWkFoqUvVzNp0kJ+EOrDENdid3Az72vE7hGRLMdio3ckKqiYBkkTqJjvbbEzqCkSUnQXJxY39P54id+pHUWCkt7/QtxxzvDPN5IM6CndXBuYAPMykKLxa+35gCMK0lWoylzZwug3zYEOO2bPt8oxqummRL0oYJU213tvkfZ7i8cs7mGChWppI2C/h6thBXcKIU3vOrvivLliVNTMCyXGHdrli9/iHfiIapD6kkMQQ5Y4IDszAkFx6F/RKztUhNR8oGYY7kGb9/aYscZzJ+tVhf2+/58o9nT9Ml0gTNnKUXd9D2YXFw4DhnAe4wQDHwZnUwS5Mxa0e5jtjMqmTCEnEVamo6fQSVVFOlOsgHnuzE2G1sCGeZyLqqNTYvRWARtoYyArXuesjeelsJyZyBPImjSu+7ukM5Bb6He3MePqVGuWVyQfNezliS57jfct8ol5BUrmlllpN5j1grvqkEauaANgFM27Ybkyps2qVVah4YHlBFw4De+cnfEIKpykolTEkLffPfv3eN7xtFqDBBGPfFDJJl835xBIrgsF2BZQAZ69jP+LEqplTTNOksDv8AePS9HUqdKMpNiPz87RX8tw5iA4Vni4QDVqJE29RcxeZwwKyToRqVdILA7EG6ixFsM++YgyQZ1VORLIGsjUSrS6SPhdjuC5FwMEGGfEM0hr0wFlxT/GLnzF1EzBFkdgZkkRbpGMOkJqJsqYZi0hIOpNmsAzgDAZmFyb5BhWtTLROeUkqc6bd7D4iXxubb7Qj41XD1LICumCtJtEtBkKRISCRYA33ts9Q1Ewo8NSjbnjPpFqZ0aRLQqoWA7i7OxO57YG+eIhZXKLBUiVm3KA6TJjWF1tud/pOGlKE19AJbJ/3HneoSZ9OuWuoOktu7Fmyl2GwO4J3EWfKMtLL1KbjU78rMwghALBTaDqE7R3HYrOj+IETUKZIYgBrrOSpsgJ3HcgxJoeraJgUhIBcl3wlnYOTcm3q3aImT4f5+Yy9Ihb1VJBs8WLE9zpgfthWVIAUVg/X8/DFmZ1ifMmiTgW+t29hb6xqfxBzjU8ropxqqtoAIm0Ene3QY0UHDQ2hUtDqm/CNnYna3ffm0ePh2ai0GpVF0lG5QSDYiehMXmxx8RNlzB/TLwrTmaUf1vi3/AD8eFfxapaaVOtDWOltO5G8TuOt/9jKfL1sRnnju2/pDsmo8J0nCrN32Y7F8HaM04qyqVAB5gCGGw0qokf5wfoB1k4z6fKJSSfLpJDbkuSx4DEH1fYQvUhakJnG7h7Y4PraP0NljyL7D9sOR1FPreEHq5pqlUhU1MwKmWaWkTItAxiqVrCkzC4LML25+Z+kIopT+oMws3YZfmw/eLdlcslJAqAKoxohCUDSkMIfJJJJjIvF/iWnma7NTqtpp/hpCnSTuWDbXMibfLjpWtwhJZ3vx7OH7ZYxC6pJmzZgGnygZ+/2EIstxNaZBdA4W5mCD2639scVslapSZMgkLT/cM3z79406ZQJmL8SaWlk3d2tt/nD2i+fDTh3lvqAmaUl5JnUwMdhER3tv0whS1fj1C9Vjht7MCT79949ZWIky5IlSfhBti3yA/O8Wjxq8ZKuZAhRv/UO+K0p9YYteIdWHkLB4jFmq806SVIkiAPT1kXx2Tp8tmGdvbPyu8SfA00iVGyjYMSSRuT72Ibg8RFL6uYKYkQNh9d97x7HGSkS3cY2GfvDtMJ1IseKnhL3ztaznniO/D67U31KSNOpgCZADHSfvMWg+uEZ8unUlSSl9VmCmNsPa/Z7PFnqVfVrppcoAgN5yEhlcelr537RYc5XrvR1F6QM/OoDMA3LvstiZ2tGPOoTSoqSgBRTcNdrXvur945opSgQuYHUBuPt/swgz2QNLy50jWCwAMTBN/uMXJddJnTCZaSwYY3+t/wB3hinqKqbTrkKIScgq3c4YMQPnZoitl2fQPKI1QQVIjSQDJ23kR3knpikZ8lMtWpQT65xjv7PHmag/1lIUpyLNwbC3NvfA3hxmqLCiXZ5NiqGbQTMx1v1iPoDiBVT5ZqxLlDZiq13Aa/5aPRdIqAEgKBBJU/uWSANg2eSSYf8AwoyCVsw+YAIFIQF6KzAgx6QW9djhyklTPE85cDfl8fT7xY6ysy0Jkm557fjRrOKcedgwQRTfirwU5jJalBL0GFQQLldnA/ymf8oxhUfAVcRS6XUCTPuWB/BGUJX8hRRYrVUj5GjknYqwJg9Y6WnfEpAE7+okFCnHmGFNsQfuIzMhNROmEEaGLj8D4id/0hq9CpVD6ERghOwIhRIblB++0WvZpNcaeoTKnAedzZ+SWa5b5vfi/MyilSpaUouCkF7uNL/xew+ULnZMrXC7il8s7k7kkGdMC0Qb3vth3wJdZLMyX5QRsXbvs7/NuISRVr8NctaiVBmNw5cEC+q9rPbtEuoi8z0xAa4HLqMd23AA/vbDvSRMppgkzANW5dwclx9PQesea6jVmpmjUpRa3mcN23BJO+cAmIWR4rVqOqqy00vFS4M9ebtIgR1JBjHXU6xYSvS5S4ZrEEbbd/bGGhiTSIkJExCf6mkuM2LsW9G2z6xcvh5ltedVtI0pLapliQpUFv8AzMbb+mJFIVEHWp1G57duxfIfZ94oywNaZaQwQL23PHIbf6w1+JubnMZejNgCxHSWMAn2gnGtQoBBfh/l+e0W6ehmVUiYlKQQWd39bWzuxzErwRxPVm6qDSEK8iqwMAaSJAuCZN+pB2wv06UpEkKWDqOSdyM/L7EQtUU8unmeEg7BwzAG+OYd+P8AKeZkawEyoDCPQg/tOKaASoAQlVJCpSnD7/KMny3Bw+XapTjWJ1LpM2uZOwkEQfSN7Yj1vUFyKoS1JASd3y/1scty+zlmlmidKTKJJA7Cx7DcNgEn9o3PIn8JP6V/YYqx8Zo74IIqHxOz9WlkyKYOlzpd5jSD/rt9/TH0Fi8MUsnxZoT/ALLbDvGL5HhhqEqqBo5mUdYkkgbRH2sMaomFTFdwCBtvb5+u8R+qKFMpQD3djdwHsDvy/OdoaDWqMxVDT1QAQGuDawmLaoJ7e08qCxOaUq9zxZ2f0u3z4jaRW0BSEzZZJZINywZIszjJueOxi6fDHijGt5RFijNOx3Agj5YgCLTbfE9NCZdSqerNx6uxfn1eHFV8medEtLBgbbNYg/sxLjiLh49H/wAfmf6P7jDgbeM1oMxJQN4xJco8F9DMzRpMEjpP1xsEgpcm9vftCUmtkJqRLZkpChnBuyr9y+c3j0tA3kqKkgBQd5BuCBfp74mzagoWCASL3DNa3I7x6KsqHoGkyypCxbUXIYuFXJu+z2Fto46TNm1RvyzAv/MCBMdDJAjqRhuUpKpKlf3Hbdty4b/FomVKpkvTKWCUNbzMHOxbtfDdjFor+bWoUxTJVlsoQaC08skE6vzCBPykzO58rplSZ6lzA4U9zfuz42ueRaKNHVSQFJy3Iub4HtvFVzNJkqMtQHVvvIuLfp1ja/qbtNNC0lUsAX4w3vz/ABGyKSmrkJmCYUpDguz9wS3Frdrl4F4hUYKBug3URa5lotYf3x2mmCphmHzOQWJe/YH6xjXJ6XS/0kpSdSS1z5VG1mBuTe++4jzlUasjUzVOkHV5dhqjrJN7/lHv7KVc7SvxVSwVYKv9Djc+kcSaOVQVKdSgxDjj05javhnwY5bIUwwipUJqPNjLfKD2IQKCOhnFGSGQI+9Sn+NUEguBb894tWNYQgwQR8ZQRBuDuMEEfnrxnwY5LMtRIJVjqpE31ISYE912+k9RjmctKEpAwPz5Rt0ej/8AqVLUSw7c/uP4ML01yVZioiCrTCxtyz7euPqNM2XrLEDFhb0MfKqop5VVoSFpO5BN0kfgsMYjpSKhCKjeYTtpAPqZJ9rW/bGqVSrJl8Xf6tCdVR1KZxngDSHIYkdgWy53a9rtaPlbMyCxDAxusExcQJNt/wBMOVU4EBTlJ5wOL49HiTSU60zGSkLBe2e+qz3s4f3Ec+CBgwdyppA6OmoWJVoAA/LcScRZkyYzp/duCMZvZx3tFqvQEykyEg+Lw7uMgBy476SPlaNW+E2RqBa9apTCayAsGZiSTEnSJ2FsMInomjy3IyeTnO/tCdDLABWN+2Gs3MWHO+E6NbMNWrc8gALERHqDfAUglzFWXUzpaShCyAch7Q2ynD6VKPLponSygH746jF3jpnKAqU3Q7MpX7iMEGY/Omcdl1jY0xpqSbgk6ZJiymZk7++PikyQXKtvmd878gfaGOmSJtNUAqQkvdPDC6cDIwHOW9I/Q/C2mjSPdF/9Rj7C8VfgHi4Nn8xkqsBldvKboRM6T2YTYdRgJEbrkaZaVgu/0iy8a4auZoVKLzpqKRI3HYj2N8fCHjOXMVLWFpyI/P2a4XWo1mpVBBQ3tAAHtvIMzvBwTNGkDfiFE0kyqWtUw35/e7/veJdZZHLJVIPywSNydyY1GJ7R3x9lTJhQ00X/AG4eJUxFPKqdJDBsnkWe3PaH3wypueIK5DafLcCYCgGNut4H/GPpmJUdILkfvj19e0V6dKpcoJJSNTlh8Rbc7DOMncPGl+NEJyGZAiTSaJ22x9QHUBH2erTKUrgGMByucYVFFSdFIzpLHoCNpAmI2gmAMUCtKHKUjzNftnP40LU1BJqJJK1t5Sw79vdn5ixcE4hSJdqypFtxJgSFUAdb3AKgAe0eSr1r1j9I6RcD53Juw4wS/q0UkgzEIlzGISBZrO1yH5NxiDjNRX8tqYRKbFiVEkkq5mRICwujaLknpdno/i6JiFqJUhs7gizcnU/s3eJHVPKsEAsbW5Deu3b7xw/6jV0gF9dgygkMy6pEk2kGIgSOVYmcUlUtKs+LLSCR5TYgWLhnGQDdtyYV8VfhlLkB3c5NhqGSWcPe7Z4jkeImqHkDZZB+VgsgkzLEgmbG0ne2Jn6FEopUpZAJUHa4fDAWZrEHt3hxNfOkpKAL2Pph/wAvC2qSAwpySxhlI5mtzGBf/e84fnCUmUkhVh3t29uNoY6IiXOrWqEvYl2wd32v/jeG3w+4J/G5pViKdEh6p2tMhf8AMRHsGx3LmCZKUlVx+fSHOq0WmsC0mzccWb9437H2OIMEEGCCDBBFX8f+Hv4ugrUwDWotrT1GzpP+Jb/1KuFquXrlFsw1SzvDUxLA/jxjOdYeZUBveJAFosB7QP1xr0tInUY0D1H13/b/ABEXqPi09XrUe4xf5cd2jnUzNKYZbbz7bztHvf8A0xEmYhRuC/ra9j37j6xRR1DqMxOsKAawBAN1CzC/rHLOZunoAVnJIEgkgLJuADuIA2Mc3oMPJkVFVLKZm3w747++PQx1Q1Mmiq0zFIZx5j9Hbl3z3aOlKkWy4CzpBPMBczG526bYnTJ8mVYi+4/eHTLrZlafhSAPKbXA+u4LD7CNq+HFEpkUk2kxaLC23exOGpZSUApxEqUmYHM0eYkvd/RuzRA8WeNKlEmnlqWtwQCT01EaTawmepsLm2J46pJUfIbXvtbLbk+mdo2UlYAIDv8Anf0xGecR8R5l8xTq1jUQIVby2Gk2gT3iRt0JNyPleox4ymEwKubjHIw7G/yHzVqKz+1CWxySb3AcC/e1ns8brk8wKlNKi/K6hh7ESMawz6xiHxC4ctPilRWsldQ86S0HTEEA2BII1QYJ+oJsxcunUqWkEgpcPcjgc8kWcWhmWPFXLSpRADhxZuS53b5Rs/AzOWo//rX/ANRj4C4eMFp0qKeIxLxbWanxOu9IkOtaVgdSB98C1K0tF2nmUn6QJU2o6gd2GeLbf7jXPBfiD+My+thpqIdNRfXuPQi+PiS4iJNSlKmSXG0LvHXABU011AkQtSTA0k/Mf6f2xyuZ4DzglyAbD89vQmMZ3iTZPgILOQfv9MFuQIzXO5Z6NeoizVpSDYgAiYgkNp3MXm4G15y6dW/qUA1Hl1As53sX2s1/5hWvpaEU6Uy7LQwJuSbmxtl+w4iw+DG/+RprquNetb76Gg7ARckDpP3YlBapZm2Ys3cfM2GHID8Qv02nKFLUtJfm2XuD7XDX55jRPFQJyWZjfyXiO+k4+u14pLSlSSlWDmPz3m8sVgknUZ1T0MdfoZ2/XHyVUeICUbZva+4+RjqSET53gKbQR5QLeVJ9y5/GESsvTfSGUGxhm7Hcb/e0/TCckifPEo/3XYcb+nG3aG6tUilk2LEBg/DWv/iOdSpJIVZMyTBNpEntG3pfFmZTSJKlabWDfn5mPOyVzqrQleMFhdubcB/kY85jUqgRE8w7+l+0dB2OOZB8RAKSGGfnjsf9x3WppUVK0y3IAYWyebvY/PbERqETJIPcR1PT9scpknUQo2/OIXOtSfKNvoLveGfDDqrIqyJGn+qRcfabegwh1eWJNKykur37Ybd24zDnR0TZk8qSqwucd+fx/aNp8C+H/wCDywVgBVqHzKsX5jsoPZVhfoT1x9p5eiWBFiqneKt3sLCLFjaF4MEEGCCDBBBggjF/if4UbLV/4uiD5NVucDZHPcfyuevckWkY+StaJro32hiqmyJ9EUTh5gzK4HPOLel9orGTpamFNrB5v02m8EG5EfXGU6dMlBUw54J2Gdr/ALxEQuUvSJZYpfbJ2LPY49Gj1xLhqgGogOlJm8gEbgGbgevbrjiT1YumWS3GRY/z9Is09AoJIUQZimd9ycEWGH3zmPfCuLeTRIC6lnVpJ6iOm94xjW9Ol1kzxZatLC9neOJ1ZNlNT1IdT5cNbF7xslKv5PCi/UUGbl7kE2+pw3LQESwgbCPqXmLAF3aMMrce1VGMmmxiBAKgCY6ksQI6d9twlS9OGkBgQMu7nD4wM72jeupDTEgqzfy9+ft8rQDNVXABpNzxBYFNUtsJ3UE9O84ook07ASC4Sb3BLgdrglrZw3EQVUK5c4TJhbJ5Ab3Ajcvh5m2bJrTqFTUpcjado/L26drWwHJ8pSNgctD8uoFQNYI7tzFX+NPDrUMwBsTTf1HzL+x++M5rFLHEV+lBSpihLAKtJZ3bvjkWfYPzF18GVdWRy9wxFMKSNpAg/tj7LVqQFQjPlGVMKDkRmniDKI/Fa/mMKahgdR6nSu/YXH2N74S6hVrlyyhCNX5nBduLXjSno16TPQve47NjPxZLl8i1gYnZLiz5XnXT+GSagEDWCVW4G52uJufpjmkkeGoTEqcKCQxJs133s57AOIkS/G0FbHyntccByMD6xqOVzC1FDKQQe1/cYfQtK06k4MPkFJYxl3jHIvw+q1WnpNOuSBqMsGIYxBnUItJkCfTCldRiqShLFkYA9Qf82jNARJ1Kt5sk7f47evNkHhDjA/6ll6lQ6QCU5iSV1Iy2PYses47p6X9OGJ3+f52irTqmT6WYlCQQm5Ibl+eHw8bZxWnqoVVidVNhHeVOG4lrSFJIO8fnfiGaZ6h1qQbAzuTAF+237YUk+HKQEymIvcfzHPSOlmcAtZIAuObXLPf0iN50AJLaBJAF4kAffbD8qUJS9Us+Y2P8ffPrGdXOTVlS5iW4vxn/AGN48cNzKlipfRIILEags/qJiJ6CcZTqmdLBJSSQcb989tvaKiumU6ZOpA1nSdwBcjSzcHL5ieFWk5BhyBJIut/Ub772x9m1M6dIBkgjWLXv8rt8zbiPJrkKUShRCGLd/wAEcswjELbSIkWjZQbn6H6EYxk1S0FMor1EEhn7sHPH8EQ34UkKfZV9TWAc4G7BveLp8KPChqVRnawPlofwQfzMLF/6VuB3PtfReqZMKl+35+Xj0EqbJlUaZUkXIuef3v8AZo2DHUKQYIIMEEGCCDBBBggjnmaC1EZHUMrCGUiQQdwcEfCHsYyHjngOrl6rGmwNA/IzGCu50k/4f1HqIxjX18uUEmalwTe378nGPeFJdJOlrKpLW529mL/aEtLJ66VZalVFZNTARblI1S0AaSPUza3ed1ColmoQZSPIdIt3xZ8jm294dogtVOVqUStyS5u77f4ftCmkhsFEpc67ReJAkczRbT36xJx6Cb4knyoN1DJvbb3s/aM0UUqfTrnrbTLN2sXDku39uw5MWLi3ifMJllyIUQ0JpEs4AF1P167nEmkqJSqdSlqJZ74Fza/DWaHf0symnMCCHdJ7WYaeXffAil1qQFQNElTGiI9II6T3+t8U+mqUFkF2UDftz+do2rFipp06h5rYt7evbI9olV82+bbmJRKagJTVjyhY2JuTFyT29ABimSJDlCQSTcjF9/T+YXr9KJSVrLlZwQwG2kD12PEWngvE8zQqPmaDUxQEB9biXW8DTN2E7726m2OUVAYS1uTuQCQPU7B/ePPSxMpHBDEW0mznPzbi0M+MeJTn5o19NJBDLoIIeQVB1NAnmBAG8HqBhHqi58qWDLAIe+fXbY4eHKPqS1KSUOk+uwyD+8Vvgmeq5aoaf8U+gvcIYRR0Jm4PcRj5LmzV05mJBBAsC1zDNRUS9KVBJGo5fN2LWNs35hhxDMIwqulR6pVgGNxO41m/yg2BPfp1KdVVUTkmpIQgglvQ2Ttc5LGFJXlQ1ONc0nbkj4gLuwsOH9oWZXNafnTWGEqobYiIg36Dt9oxvUBQTplFu/b/AHfMeokUdZMp3ms4+IMxDuCfViXcB3eGHAeN5uj5lanVUIqhWVmJXoq6VMwe02vjDxxLUmUHc4sPUvj33jLqcuUGEo3uSTvhv47M8ReI5yvmh51WqXMlYMaVBVjYbCAk2E27xjoVi0TtJIGCOSXAYbkF2bvEyup0adKDqLezHfsxAyxiuVSQtjsd53mIjr023se1q2grJmKsONweD78YAhfp9XMpXTL3BdmsBn5D+7BcCLLw3j2bpoAcy2haZZqNSebaBO4BuLN3tiTOnFvCYhyEuCMnJ3uM44vGlRPGpWljuC1iOzbcb5MV3O8SLTZRpkwqgASR2ufygAk/qcdyJAlApH1j0UlEkSZawfiIbe4Dsfr7sIiZaTJ6DuDve3rh2W6S0QurqQs6kN7MPwPjF3hkM1vThAp+ZgoDNExczHoBhzWZwGtIbG37v88REp0mWkzEzCCkuE3bu7EPbYg2jn/HKIjVTNidpiBEHcW6T1x3V01MFJSkMA7vi7HuM5tHzw6ma6j5iWZge49ew2MWD4d8IfPZpZU/w9Ihqh3BIuEEiCSd/SfTEWSlQmmZve8ejq+lyZEoDU/b8eN6poFAVQAAIAAgADYAdsNQtHrBBBgggwQQYIIMEEGCCDBBHPMUFdSriVIgg45WhK0lKg4MfUqKS4jIPHHAa2TZqqr52WYRLLPlf1AfpU+97mYaBEv4XAd7fY9o9BSmlq0BC/KsOLWd8/SzRUchUoulQgEVFI07nUpDT1vEDfYYomfNM5IKj4ZFy+CGCSDs7swz8485X08ygQCku5ZQA8rZv+5O4e0dcrn388eYVqVFVlXzCFKRuSTEkCY3v7Yz/Q05QUSVWN3SffezHtHSp06XLE7QUIsNJdQVwUtcf6aIviZ6TVwaJXTp2SWGod2YLqM/mj74pUCpqKRQmkEpcAgBzxYE6QRttmMqOapdWNQspSbEkcvnuPfAiNQ5abBYOr5rSepteRNhbtheVOTpuLiLPVqerlVMtBUNB3sGUWcE3vxixtzErh2WepQCBjoD3WQCXOmJt0BgGTv9MZorKaXP/qvgnDjgX/m0Qa+TUrqCsjVsDdmD3Z8/nBiRn+CvQVDUkM4ZlSdbQLEsVgCCRE+2Mf11PWzUinFg2o7B9gPTPDxsmim6ZxYKtbSGu9zpNxuP8Qsy2XeowVepAiQJJ6EmIH/3igtUmWkqWqwG3I9n/eOKSnVMSZSJbrHmcuWRbi1y9t37Q6rcPq0m8so1N2vpkc0e0jSCTA2+2ETUSKym8cqCgnPbvs33xCtCJkus8JCtD2fS7P6se7vh475zh9bLz5VU1ChKuVpkBBAMFjvO20GDc4xlT0V8oBSAAA4ch29Pl3c4G9xap0qpKgFKM3//ADqFtTXZrsHGwdoh8Ny1SpTYAroU3WbsTEQLzJAM9L4+zauTInoCk3ODsBgknaxf7vGE2lQabUSSp1OwclQLgfXSUsNiIjZnieii2XFNTqlpAJY7XkNEQI22nHcynkCsFQhZLWbbftfPIu0ZU0usqJQkplMWuT/DZ+YxaFVQKrC7mDAgarDrBiPv2w1NZQZSt4c6SipkzCfCBcOX2f4QC5zuCA3yidnOKvXCeYBMQWXqFi8d+8W2+q9JRin/AKaR5VOQDfNj/h4Q6nJQmaZ6FXSQCL2ObdvrtERJBaDE2k/2P6fXGkkgOBtzDVfSHRK3CrsMO2Xf2hpwiilVtBPNYqFhZ31KpaQDtE2OmJuMcdTmmnGtJBbOS2GPJGxa4d9olUiQoKExJZW/cF742+kcc9QZGak5gyCwNuki/t0G5OMhWa5ImJLgxf6X0+n1eKdgPLscg5vv9cWh/wCEPAzZwiOXLq3PU0xqI3VP5jMjURAvubYJE+bORcML/L+fx4S6hTJ/Va0DTjfjDcbbtjvG3cK4ZSy1JaNBAlNRAUfuSbknqTc4ZAADCPi1qWdSi5iXj7HMGCCDBBBgggwQQYIIMEEGCCDBBHl0BBBAIIgg3BHY4I+gtcRmHi34eNTLV+Hg9S1Ebifm8v3/AJft0GF5skKSzOOPSPQ0PUqeYkSqxAPCj+/8/PmM+XIlwSVIZWIqAg6lMncfNa31JwrLnJlLAWW4v2/PlDNWJs+UuUnTZPkdmcMzbYfI4u0Ls7RYRA5RGkg7zuD17dtsWQVLGsAA2ORYj0v/AJjyNPKlU81cqeoggsoFJx/24Z8MS4Non8ProjMkeYpESO3zAr0JsBPY4XnU82cgokeUpL5F85Zz/lvbnqJnBfjVJsp2yd29ME24xHqjWVahZTURBLaCLryxfTJ2iTaYwi8woMtYGpTAlssdWDgA/jRTXQiTQlTuRZIB5LFVuxPo/MdM1nmqDVVBLltSspU/mme7MxJGwtGGOn08mSCBbAw+OB+XhepkzQgLljUhQZQdtQ9XcN27vEWhW0lTrM6tVwIDWO3X1/bDE1CFAylOXd9jf0/Mwn/5acmYVU6UoGkJLOXSMC9gPqcvsHmZr1mqpXqHmhWUAflk6Rp3EgE3Ox98Q5Uqm8FdLIchy/rZyTjNh39o0p6hS6pDSgFNz63w77Nd8WeOua4UlUGoFUKzQoZpEyQ9pmxB5RAEYJFaqlT4UyWFFNyWwGGkPhyTclyfs5UeOqehCpxSCCGTY8ucPb1/lNWzg1Mr3UEgGmAGOkEDfoZ3P9icUplYuagFCAFWzx37+kPSujrpEywqYVIALIJZiq+rysT6HBvDV/LFNkpUiwkKCjEseWRBIMiWJ+XraOkSX4mvVNWxyxFs8ONgNz7w1SkKnJWFABQJL4BGxuGhdnOFLQIWoZfVcCDA0g79SCdJ2uD9K/Tpxqy4skDPNyLjYHbNoj9c6wyVyJCG1ZN7htuL3y7+8fKxVJIUNZRTI5Qo62i/Y7XmDthyeFzmSlWgJ1AhhcbMX9VX5uNo8vImL1Ou5JBLk59PoONoTZlJN4Ufr/r9zjJA2Jj2sqaVSdYSokWAGB2YdhdX+I9rTLECmpLMQFABJJvsBeTbYY2qZX9yXIaOOjdRl6zJngJUCW29Xz3+ojUfCPw3ZglTiA+W4pTJN5Gtukfyg/XcYSl0gBJJsdo0ra6XrV4Azv8AxGn0qQUBVAVQIAAgAegw4AAGESCSS5j3j7HyDBBBgggwQQYIIMEEGCCDBBBgggwQQYIIMEEJ+PeG6GbH4qQ/SosBx9evsZGMJ1Oib8QjRE5aAyTFD8SeAmWiFRfMjeolMaoHdVGsk+7T6dZZp6ynm60ErTw5t7Et8rw3JrkpKlTk6nDFtx3+8ZrURzWcPqFQdCCDI3Ebg+nTF2mSsq1MxO/3hXqvUqdckSZIaW1wwd9j/O+YZ+HuEU61bTULKYJWAIMCSZaxNtoO5MdcLdRVMopKp6w5cD57nt6txloyV1GUvw5FMfK2SWUOQwx7bNe0eONcKOVqLfWSCQYBsRH994HQj0wp+oJqhqRkEcgvn7jF+8U6Kf8AqnRPUxFkpFnAG5L+liMcQPRoPIQl2AWeeA8gEiAojSwi25m5gTRWtBJnT1MVG4HHL/faJSV1tABKlBhcgsD7F8/xHvKcSqAGmqUyXMh9JBFjsw2+nS1hjnw0/qkzRq8r2dgxO/OwvbBZ4Wp1SvCXPmKANsl1KYgm1ntfvHKm7ImmASoMsJIE/wC4gWwnMpJq1FnLkE+35nMUJ1d0+sqBPUsosRsD2bLW9Ns3iMKjGmVClZNg5g9LgdBjUUOlSVrN+O3eGKrra5q/DbDBxcWznJiFocjoPRoP1vhgU2rzA2P0hZXVJSZgAlkqTxufZrdo70FgCRqIEiAQB9OgxsUS1AzAwBz6+/zibXrq5c7w5zhQHY29vl2aG1DhbOoKghtJtHUSR9Ii/fEaq6gmRMMtPI3fh/d3ttmOKaSqbqWrhhyfzneGHAPhvm80dVSaCTPmVBLMf8KTMD1gdpw0hJOMPaPTSKuTLpAlSfMoHUBb0JPPpGteFfCVDIpFMFnPzVHux3+ii5sPrO+GHLMTEohOoqSGf83h/j5BBgggwQQYIIMEEGCCDBBBgggwQQYIIMEEGCCDBBBgggwQQYIIgcT4NQzAivRSp2LKJHsdx9MdJWpODHC5aV/EHio8V+FuXc6qFWrQYbX1qD7Hm/8A6wVC1z06VGOqKXIpphUUBQIZj83B2MVPifwqzo1FKtKsCI5iytuDYGV6Rv1wtKQuTdDRanT6CoYqSUkY3/Pk8eF8AZimgbymFVVtDapa8k6Z/uPTribOnVgWQUkpJ42+f8RmamWlHhAul+IT5jw7m6IUeRmWJ300XI2IGwO3X3t1w5LqZylagkizXHcfghZFDSVDqmEZdnZ/4ibwTw9miG15ausiAWR1M36QABMXM7WF5HFVVVoUlUp37AY7/g9YzrunULESQPnYH6n/ADDPO+Da7KBSytVTYFmZCWnfVLA79Y+0xhamV1ATTMmXd7YA/PnCkqUEyTJVj6vyD+2O0RMr8M8+45lpU77VKkxbcaAw/XF2bM1ygkZ3/wAdo06SE0dWZynYYb1s7/jxcPD/AMMqdGWr1mqswghV0L+pJPvbCEykExtSjbi3+YqVvU/1NvDAs17luP8AEXLIcKo0QBSpqsCB1IHaTfGsunlyy6Rc77n1OYlbMIm42ggwQQYIIMEEGCCDBBBgggwQQYIIMEEGCCDBBBgggwQQYIIMEEGCCDBBBgggwQQYIIMEEGCCDBBBgggwQQYIIMEEGCCDBBBgggwQQYIIMEEGCCDBBBggj//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517" y="3194703"/>
            <a:ext cx="2314870" cy="238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7" name="Picture 13" descr="http://www.wsgr.com/publications/PDFSearch/entreport/1H2013/images/chart2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638" y="2949938"/>
            <a:ext cx="2346111" cy="123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00799"/>
      </p:ext>
    </p:extLst>
  </p:cSld>
  <p:clrMapOvr>
    <a:masterClrMapping/>
  </p:clrMapOvr>
  <p:transition spd="med">
    <p:pull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of Start-up Companies</a:t>
            </a:r>
            <a:br>
              <a:rPr lang="en-US" dirty="0"/>
            </a:br>
            <a:r>
              <a:rPr lang="en-US" sz="2800" dirty="0"/>
              <a:t>- An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Valuing Start-up Companies: Methodologies</a:t>
            </a:r>
          </a:p>
          <a:p>
            <a:endParaRPr lang="en-US" sz="2800" b="1" dirty="0"/>
          </a:p>
          <a:p>
            <a:pPr lvl="1"/>
            <a:r>
              <a:rPr lang="en-US" sz="2400" dirty="0"/>
              <a:t>Comparable Method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Discounted Cash Flow Method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The Venture Capital Method</a:t>
            </a:r>
          </a:p>
          <a:p>
            <a:pPr lvl="1"/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264" y="3988956"/>
            <a:ext cx="2606647" cy="1950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0505925"/>
      </p:ext>
    </p:extLst>
  </p:cSld>
  <p:clrMapOvr>
    <a:masterClrMapping/>
  </p:clrMapOvr>
  <p:transition spd="med">
    <p:pull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Valuation Methodologies</a:t>
            </a:r>
            <a:br>
              <a:rPr lang="en-US" altLang="zh-CN" dirty="0"/>
            </a:br>
            <a:r>
              <a:rPr lang="en-US" altLang="zh-CN" sz="2800" dirty="0"/>
              <a:t>- Comparable Method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5528"/>
            <a:ext cx="8229600" cy="4625398"/>
          </a:xfrm>
        </p:spPr>
        <p:txBody>
          <a:bodyPr/>
          <a:lstStyle/>
          <a:p>
            <a:r>
              <a:rPr lang="en-US" sz="2400" dirty="0"/>
              <a:t>Comparable Method</a:t>
            </a:r>
          </a:p>
          <a:p>
            <a:pPr lvl="1"/>
            <a:endParaRPr lang="en-US" altLang="zh-CN" sz="1800" dirty="0">
              <a:ea typeface="宋体" charset="-122"/>
            </a:endParaRPr>
          </a:p>
          <a:p>
            <a:pPr lvl="1"/>
            <a:r>
              <a:rPr lang="en-US" altLang="zh-CN" sz="1800" u="sng" dirty="0">
                <a:ea typeface="宋体" charset="-122"/>
              </a:rPr>
              <a:t>Step 1</a:t>
            </a:r>
            <a:r>
              <a:rPr lang="en-US" altLang="zh-CN" sz="1800" dirty="0">
                <a:ea typeface="宋体" charset="-122"/>
              </a:rPr>
              <a:t>: Look for other firms with similar “value characteristics”</a:t>
            </a:r>
          </a:p>
          <a:p>
            <a:pPr lvl="2"/>
            <a:r>
              <a:rPr lang="en-US" altLang="zh-CN" sz="1800" dirty="0">
                <a:ea typeface="宋体" charset="-122"/>
              </a:rPr>
              <a:t>Risk</a:t>
            </a:r>
          </a:p>
          <a:p>
            <a:pPr lvl="2"/>
            <a:r>
              <a:rPr lang="en-US" altLang="zh-CN" sz="1800" dirty="0">
                <a:ea typeface="宋体" charset="-122"/>
              </a:rPr>
              <a:t>Growth rate</a:t>
            </a:r>
          </a:p>
          <a:p>
            <a:pPr lvl="2"/>
            <a:r>
              <a:rPr lang="en-US" altLang="zh-CN" sz="1800" dirty="0">
                <a:ea typeface="宋体" charset="-122"/>
              </a:rPr>
              <a:t>Capital structure</a:t>
            </a:r>
          </a:p>
          <a:p>
            <a:pPr lvl="2"/>
            <a:r>
              <a:rPr lang="en-US" altLang="zh-CN" sz="1800" dirty="0">
                <a:ea typeface="宋体" charset="-122"/>
              </a:rPr>
              <a:t>Size and timing of cash flows</a:t>
            </a:r>
          </a:p>
          <a:p>
            <a:pPr lvl="1"/>
            <a:endParaRPr lang="en-US" altLang="zh-CN" sz="1800" dirty="0">
              <a:ea typeface="宋体" charset="-122"/>
            </a:endParaRPr>
          </a:p>
          <a:p>
            <a:pPr lvl="1"/>
            <a:r>
              <a:rPr lang="en-US" altLang="zh-CN" sz="1800" u="sng" dirty="0">
                <a:ea typeface="宋体" charset="-122"/>
              </a:rPr>
              <a:t>Step 2</a:t>
            </a:r>
            <a:r>
              <a:rPr lang="en-US" altLang="zh-CN" sz="1800" dirty="0">
                <a:ea typeface="宋体" charset="-122"/>
              </a:rPr>
              <a:t>: Select an appropriate comparable</a:t>
            </a:r>
          </a:p>
          <a:p>
            <a:pPr lvl="2"/>
            <a:r>
              <a:rPr lang="en-US" altLang="zh-CN" sz="1800" dirty="0">
                <a:ea typeface="宋体" charset="-122"/>
              </a:rPr>
              <a:t>P/E multiples</a:t>
            </a:r>
          </a:p>
          <a:p>
            <a:pPr lvl="2"/>
            <a:r>
              <a:rPr lang="en-US" altLang="zh-CN" sz="1800" dirty="0">
                <a:ea typeface="宋体" charset="-122"/>
              </a:rPr>
              <a:t>EBIT &amp; EBITDA multiples</a:t>
            </a:r>
          </a:p>
          <a:p>
            <a:pPr lvl="2"/>
            <a:r>
              <a:rPr lang="en-US" altLang="zh-CN" sz="1800" dirty="0">
                <a:ea typeface="宋体" charset="-122"/>
              </a:rPr>
              <a:t>Revenue multiples</a:t>
            </a:r>
          </a:p>
          <a:p>
            <a:pPr lvl="2"/>
            <a:r>
              <a:rPr lang="en-US" altLang="zh-CN" sz="1800" dirty="0">
                <a:ea typeface="宋体" charset="-122"/>
              </a:rPr>
              <a:t>Book value multiples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1028" name="Picture 4" descr="http://spicygraphic.com/pictures/1283985764BunnyCatClo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254" y="3078669"/>
            <a:ext cx="3245427" cy="268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952498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Valuation Methodologies</a:t>
            </a:r>
            <a:br>
              <a:rPr lang="en-US" altLang="zh-CN" dirty="0"/>
            </a:br>
            <a:r>
              <a:rPr lang="en-US" altLang="zh-CN" sz="2800" dirty="0"/>
              <a:t>- Comparable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Challenges in valuing early stage private companies with comparable method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Finding private or public firms with similar value attributes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Selecting the multiples for a pre-revenue company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Ascertaining valuations of the comparable firm if it is private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6" name="Picture 4" descr="http://spicygraphic.com/pictures/1283985764BunnyCatClo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877" y="4730315"/>
            <a:ext cx="1674837" cy="138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628309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Valuation Methodologies</a:t>
            </a:r>
            <a:br>
              <a:rPr lang="en-US" altLang="zh-CN" dirty="0"/>
            </a:br>
            <a:r>
              <a:rPr lang="en-US" altLang="zh-CN" sz="2800" dirty="0"/>
              <a:t>- Discounted Cash Flow (“DCF”)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Discounted Cash Flow</a:t>
            </a:r>
          </a:p>
          <a:p>
            <a:pPr lvl="1"/>
            <a:endParaRPr lang="en-US" sz="2000" dirty="0"/>
          </a:p>
          <a:p>
            <a:pPr lvl="1"/>
            <a:r>
              <a:rPr lang="en-US" sz="2000" u="sng" dirty="0"/>
              <a:t>Step 1:</a:t>
            </a:r>
            <a:r>
              <a:rPr lang="en-US" sz="2000" dirty="0"/>
              <a:t> Calculate Cash Flow</a:t>
            </a:r>
          </a:p>
          <a:p>
            <a:pPr marL="344487" lvl="1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u="sng" dirty="0"/>
              <a:t>Step 2:</a:t>
            </a:r>
            <a:r>
              <a:rPr lang="en-US" sz="2000" dirty="0"/>
              <a:t> Calculate Discount Rate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u="sng" dirty="0"/>
              <a:t>Step 3:</a:t>
            </a:r>
            <a:r>
              <a:rPr lang="en-US" sz="2000" dirty="0"/>
              <a:t> Calculate the Net Present Value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583778" y="2887670"/>
            <a:ext cx="5147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err="1">
                <a:latin typeface="+mn-lt"/>
              </a:rPr>
              <a:t>CF</a:t>
            </a:r>
            <a:r>
              <a:rPr lang="en-US" sz="1600" b="1" i="1" baseline="-25000" dirty="0" err="1">
                <a:latin typeface="+mn-lt"/>
              </a:rPr>
              <a:t>t</a:t>
            </a:r>
            <a:r>
              <a:rPr lang="en-US" sz="1600" b="1" i="1" baseline="-25000" dirty="0">
                <a:latin typeface="+mn-lt"/>
              </a:rPr>
              <a:t> </a:t>
            </a:r>
            <a:r>
              <a:rPr lang="en-US" sz="1600" b="1" i="1" dirty="0">
                <a:latin typeface="+mn-lt"/>
              </a:rPr>
              <a:t>= </a:t>
            </a:r>
            <a:r>
              <a:rPr lang="en-US" sz="1600" b="1" i="1" dirty="0" err="1">
                <a:latin typeface="+mn-lt"/>
              </a:rPr>
              <a:t>EBIT</a:t>
            </a:r>
            <a:r>
              <a:rPr lang="en-US" sz="1600" b="1" i="1" baseline="-25000" dirty="0" err="1">
                <a:latin typeface="+mn-lt"/>
              </a:rPr>
              <a:t>t</a:t>
            </a:r>
            <a:r>
              <a:rPr lang="en-US" sz="1600" b="1" i="1" baseline="-25000" dirty="0">
                <a:latin typeface="+mn-lt"/>
              </a:rPr>
              <a:t> </a:t>
            </a:r>
            <a:r>
              <a:rPr lang="en-US" sz="1600" b="1" i="1" dirty="0">
                <a:latin typeface="+mn-lt"/>
              </a:rPr>
              <a:t>* (1-</a:t>
            </a:r>
            <a:r>
              <a:rPr lang="el-GR" sz="1600" b="1" i="1" dirty="0">
                <a:latin typeface="+mn-lt"/>
              </a:rPr>
              <a:t>ζ</a:t>
            </a:r>
            <a:r>
              <a:rPr lang="en-US" sz="1600" b="1" i="1" dirty="0">
                <a:latin typeface="+mn-lt"/>
              </a:rPr>
              <a:t>) + </a:t>
            </a:r>
            <a:r>
              <a:rPr lang="en-US" sz="1600" b="1" i="1" dirty="0" err="1">
                <a:latin typeface="+mn-lt"/>
              </a:rPr>
              <a:t>DEPR</a:t>
            </a:r>
            <a:r>
              <a:rPr lang="en-US" sz="1600" b="1" i="1" baseline="-25000" dirty="0" err="1">
                <a:latin typeface="+mn-lt"/>
              </a:rPr>
              <a:t>t</a:t>
            </a:r>
            <a:r>
              <a:rPr lang="en-US" sz="1600" b="1" i="1" baseline="-25000" dirty="0">
                <a:latin typeface="+mn-lt"/>
              </a:rPr>
              <a:t> </a:t>
            </a:r>
            <a:r>
              <a:rPr lang="en-US" sz="1600" b="1" i="1" dirty="0">
                <a:latin typeface="+mn-lt"/>
              </a:rPr>
              <a:t>– </a:t>
            </a:r>
            <a:r>
              <a:rPr lang="en-US" sz="1600" b="1" i="1" dirty="0" err="1">
                <a:latin typeface="+mn-lt"/>
              </a:rPr>
              <a:t>CAPEX</a:t>
            </a:r>
            <a:r>
              <a:rPr lang="en-US" sz="1600" b="1" i="1" baseline="-25000" dirty="0" err="1">
                <a:latin typeface="+mn-lt"/>
              </a:rPr>
              <a:t>t</a:t>
            </a:r>
            <a:r>
              <a:rPr lang="en-US" sz="1600" b="1" i="1" baseline="-25000" dirty="0">
                <a:latin typeface="+mn-lt"/>
              </a:rPr>
              <a:t> </a:t>
            </a:r>
            <a:r>
              <a:rPr lang="en-US" sz="1600" b="1" i="1" dirty="0">
                <a:latin typeface="+mn-lt"/>
              </a:rPr>
              <a:t>- ∆</a:t>
            </a:r>
            <a:r>
              <a:rPr lang="en-US" sz="1600" b="1" i="1" dirty="0" err="1">
                <a:latin typeface="+mn-lt"/>
              </a:rPr>
              <a:t>NWC</a:t>
            </a:r>
            <a:r>
              <a:rPr lang="en-US" sz="1600" b="1" i="1" baseline="-25000" dirty="0" err="1">
                <a:latin typeface="+mn-lt"/>
              </a:rPr>
              <a:t>t</a:t>
            </a:r>
            <a:r>
              <a:rPr lang="en-US" sz="1600" b="1" i="1" baseline="-25000" dirty="0">
                <a:latin typeface="+mn-lt"/>
              </a:rPr>
              <a:t> </a:t>
            </a:r>
            <a:r>
              <a:rPr lang="en-US" sz="1600" b="1" i="1" dirty="0">
                <a:latin typeface="+mn-lt"/>
              </a:rPr>
              <a:t>+ </a:t>
            </a:r>
            <a:r>
              <a:rPr lang="en-US" sz="1600" b="1" i="1" dirty="0" err="1">
                <a:latin typeface="+mn-lt"/>
              </a:rPr>
              <a:t>other</a:t>
            </a:r>
            <a:r>
              <a:rPr lang="en-US" sz="1600" b="1" i="1" baseline="-25000" dirty="0" err="1">
                <a:latin typeface="+mn-lt"/>
              </a:rPr>
              <a:t>t</a:t>
            </a:r>
            <a:endParaRPr lang="en-US" sz="1600" b="1" i="1" baseline="-25000" dirty="0"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96670" y="4025169"/>
            <a:ext cx="54174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latin typeface="+mn-lt"/>
              </a:rPr>
              <a:t>r</a:t>
            </a:r>
            <a:r>
              <a:rPr lang="en-US" sz="1600" b="1" i="1" baseline="-25000" dirty="0">
                <a:latin typeface="+mn-lt"/>
              </a:rPr>
              <a:t> </a:t>
            </a:r>
            <a:r>
              <a:rPr lang="en-US" sz="1600" b="1" i="1" dirty="0">
                <a:latin typeface="+mn-lt"/>
              </a:rPr>
              <a:t>= (D/V) * </a:t>
            </a:r>
            <a:r>
              <a:rPr lang="en-US" sz="1600" b="1" i="1" dirty="0" err="1">
                <a:latin typeface="+mn-lt"/>
              </a:rPr>
              <a:t>r</a:t>
            </a:r>
            <a:r>
              <a:rPr lang="en-US" sz="1600" b="1" i="1" baseline="-25000" dirty="0" err="1">
                <a:latin typeface="+mn-lt"/>
              </a:rPr>
              <a:t>d</a:t>
            </a:r>
            <a:r>
              <a:rPr lang="en-US" sz="1600" b="1" i="1" dirty="0">
                <a:latin typeface="+mn-lt"/>
              </a:rPr>
              <a:t> * (1-</a:t>
            </a:r>
            <a:r>
              <a:rPr lang="el-GR" sz="1600" b="1" i="1" dirty="0">
                <a:latin typeface="+mn-lt"/>
              </a:rPr>
              <a:t>ζ</a:t>
            </a:r>
            <a:r>
              <a:rPr lang="en-US" sz="1600" b="1" i="1" dirty="0">
                <a:latin typeface="+mn-lt"/>
              </a:rPr>
              <a:t>) + (E/V) * r</a:t>
            </a:r>
            <a:r>
              <a:rPr lang="en-US" sz="1600" b="1" i="1" baseline="-25000" dirty="0">
                <a:latin typeface="+mn-lt"/>
              </a:rPr>
              <a:t>e ,   </a:t>
            </a:r>
            <a:r>
              <a:rPr lang="en-US" sz="1600" b="1" i="1" dirty="0">
                <a:latin typeface="+mn-lt"/>
              </a:rPr>
              <a:t>where r</a:t>
            </a:r>
            <a:r>
              <a:rPr lang="en-US" sz="1600" b="1" i="1" baseline="-25000" dirty="0">
                <a:latin typeface="+mn-lt"/>
              </a:rPr>
              <a:t>e =</a:t>
            </a:r>
            <a:r>
              <a:rPr lang="en-US" sz="1600" b="1" i="1" dirty="0">
                <a:latin typeface="+mn-lt"/>
              </a:rPr>
              <a:t> </a:t>
            </a:r>
            <a:r>
              <a:rPr lang="en-US" sz="1600" b="1" i="1" dirty="0" err="1">
                <a:latin typeface="+mn-lt"/>
              </a:rPr>
              <a:t>r</a:t>
            </a:r>
            <a:r>
              <a:rPr lang="en-US" sz="1600" b="1" i="1" baseline="-25000" dirty="0" err="1">
                <a:latin typeface="+mn-lt"/>
              </a:rPr>
              <a:t>f</a:t>
            </a:r>
            <a:r>
              <a:rPr lang="en-US" sz="1600" b="1" i="1" baseline="-25000" dirty="0">
                <a:latin typeface="+mn-lt"/>
              </a:rPr>
              <a:t> + </a:t>
            </a:r>
            <a:r>
              <a:rPr lang="el-GR" sz="1600" b="1" i="1" dirty="0">
                <a:latin typeface="+mn-lt"/>
              </a:rPr>
              <a:t>β</a:t>
            </a:r>
            <a:r>
              <a:rPr lang="en-US" sz="1600" b="1" i="1" dirty="0">
                <a:latin typeface="+mn-lt"/>
              </a:rPr>
              <a:t> * (</a:t>
            </a:r>
            <a:r>
              <a:rPr lang="en-US" sz="1600" b="1" i="1" dirty="0" err="1">
                <a:latin typeface="+mn-lt"/>
              </a:rPr>
              <a:t>r</a:t>
            </a:r>
            <a:r>
              <a:rPr lang="en-US" sz="1600" b="1" i="1" baseline="-25000" dirty="0" err="1">
                <a:latin typeface="+mn-lt"/>
              </a:rPr>
              <a:t>m</a:t>
            </a:r>
            <a:r>
              <a:rPr lang="en-US" sz="1600" b="1" i="1" baseline="-25000" dirty="0">
                <a:latin typeface="+mn-lt"/>
              </a:rPr>
              <a:t> </a:t>
            </a:r>
            <a:r>
              <a:rPr lang="en-US" sz="1600" b="1" i="1" dirty="0">
                <a:latin typeface="+mn-lt"/>
              </a:rPr>
              <a:t>- </a:t>
            </a:r>
            <a:r>
              <a:rPr lang="en-US" sz="1600" b="1" i="1" dirty="0" err="1">
                <a:latin typeface="+mn-lt"/>
              </a:rPr>
              <a:t>r</a:t>
            </a:r>
            <a:r>
              <a:rPr lang="en-US" sz="1600" b="1" i="1" baseline="-25000" dirty="0" err="1">
                <a:latin typeface="+mn-lt"/>
              </a:rPr>
              <a:t>f</a:t>
            </a:r>
            <a:r>
              <a:rPr lang="en-US" sz="1600" b="1" i="1" dirty="0">
                <a:latin typeface="+mn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4313" y="5101207"/>
            <a:ext cx="71465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err="1">
                <a:latin typeface="+mn-lt"/>
              </a:rPr>
              <a:t>NPV</a:t>
            </a:r>
            <a:r>
              <a:rPr lang="en-US" sz="1600" b="1" i="1" baseline="-25000" dirty="0" err="1">
                <a:latin typeface="+mn-lt"/>
              </a:rPr>
              <a:t>t</a:t>
            </a:r>
            <a:r>
              <a:rPr lang="en-US" sz="1600" b="1" i="1" baseline="-25000" dirty="0">
                <a:latin typeface="+mn-lt"/>
              </a:rPr>
              <a:t> </a:t>
            </a:r>
            <a:r>
              <a:rPr lang="en-US" sz="1600" b="1" i="1" dirty="0">
                <a:latin typeface="+mn-lt"/>
              </a:rPr>
              <a:t>= [CF</a:t>
            </a:r>
            <a:r>
              <a:rPr lang="en-US" sz="1600" b="1" i="1" baseline="-25000" dirty="0">
                <a:latin typeface="+mn-lt"/>
              </a:rPr>
              <a:t>1</a:t>
            </a:r>
            <a:r>
              <a:rPr lang="en-US" sz="1600" b="1" i="1" dirty="0">
                <a:latin typeface="+mn-lt"/>
              </a:rPr>
              <a:t>/(1+r)]+[CF</a:t>
            </a:r>
            <a:r>
              <a:rPr lang="en-US" sz="1600" b="1" i="1" baseline="-25000" dirty="0">
                <a:latin typeface="+mn-lt"/>
              </a:rPr>
              <a:t>2</a:t>
            </a:r>
            <a:r>
              <a:rPr lang="en-US" sz="1600" b="1" i="1" dirty="0">
                <a:latin typeface="+mn-lt"/>
              </a:rPr>
              <a:t>/(1+r)</a:t>
            </a:r>
            <a:r>
              <a:rPr lang="en-US" sz="1600" b="1" i="1" baseline="30000" dirty="0">
                <a:latin typeface="+mn-lt"/>
              </a:rPr>
              <a:t>2</a:t>
            </a:r>
            <a:r>
              <a:rPr lang="en-US" sz="1600" b="1" i="1" dirty="0">
                <a:latin typeface="+mn-lt"/>
              </a:rPr>
              <a:t>] +)]+[CF</a:t>
            </a:r>
            <a:r>
              <a:rPr lang="en-US" sz="1600" b="1" i="1" baseline="-25000" dirty="0">
                <a:latin typeface="+mn-lt"/>
              </a:rPr>
              <a:t>3</a:t>
            </a:r>
            <a:r>
              <a:rPr lang="en-US" sz="1600" b="1" i="1" dirty="0">
                <a:latin typeface="+mn-lt"/>
              </a:rPr>
              <a:t>/(1+r)</a:t>
            </a:r>
            <a:r>
              <a:rPr lang="en-US" sz="1600" b="1" i="1" baseline="30000" dirty="0">
                <a:latin typeface="+mn-lt"/>
              </a:rPr>
              <a:t>3</a:t>
            </a:r>
            <a:r>
              <a:rPr lang="en-US" sz="1600" b="1" i="1" dirty="0">
                <a:latin typeface="+mn-lt"/>
              </a:rPr>
              <a:t>]+…+ [(</a:t>
            </a:r>
            <a:r>
              <a:rPr lang="en-US" sz="1600" b="1" i="1" dirty="0" err="1">
                <a:latin typeface="+mn-lt"/>
              </a:rPr>
              <a:t>CF</a:t>
            </a:r>
            <a:r>
              <a:rPr lang="en-US" sz="1600" b="1" i="1" baseline="-25000" dirty="0" err="1">
                <a:latin typeface="+mn-lt"/>
              </a:rPr>
              <a:t>t</a:t>
            </a:r>
            <a:r>
              <a:rPr lang="en-US" sz="1600" b="1" i="1" dirty="0">
                <a:latin typeface="+mn-lt"/>
              </a:rPr>
              <a:t> + </a:t>
            </a:r>
            <a:r>
              <a:rPr lang="en-US" sz="1600" b="1" i="1" dirty="0" err="1">
                <a:latin typeface="+mn-lt"/>
              </a:rPr>
              <a:t>TV</a:t>
            </a:r>
            <a:r>
              <a:rPr lang="en-US" sz="1600" b="1" i="1" baseline="-25000" dirty="0" err="1">
                <a:latin typeface="+mn-lt"/>
              </a:rPr>
              <a:t>t</a:t>
            </a:r>
            <a:r>
              <a:rPr lang="en-US" sz="1600" b="1" i="1" baseline="-25000" dirty="0">
                <a:latin typeface="+mn-lt"/>
              </a:rPr>
              <a:t> </a:t>
            </a:r>
            <a:r>
              <a:rPr lang="en-US" sz="1600" b="1" i="1" dirty="0">
                <a:latin typeface="+mn-lt"/>
              </a:rPr>
              <a:t>/)/(1+r)</a:t>
            </a:r>
            <a:r>
              <a:rPr lang="en-US" sz="1600" b="1" i="1" baseline="30000" dirty="0">
                <a:latin typeface="+mn-lt"/>
              </a:rPr>
              <a:t>t</a:t>
            </a:r>
            <a:r>
              <a:rPr lang="en-US" sz="1600" b="1" i="1" dirty="0">
                <a:latin typeface="+mn-lt"/>
              </a:rPr>
              <a:t>]</a:t>
            </a:r>
            <a:r>
              <a:rPr lang="en-US" sz="1600" b="1" i="1" baseline="-25000" dirty="0">
                <a:latin typeface="+mn-lt"/>
              </a:rPr>
              <a:t>,</a:t>
            </a:r>
          </a:p>
          <a:p>
            <a:r>
              <a:rPr lang="en-US" sz="1600" b="1" i="1" dirty="0">
                <a:latin typeface="+mn-lt"/>
              </a:rPr>
              <a:t>where </a:t>
            </a:r>
            <a:r>
              <a:rPr lang="en-US" sz="1600" b="1" i="1" dirty="0" err="1">
                <a:latin typeface="+mn-lt"/>
              </a:rPr>
              <a:t>TV</a:t>
            </a:r>
            <a:r>
              <a:rPr lang="en-US" sz="1600" b="1" i="1" baseline="-25000" dirty="0" err="1">
                <a:latin typeface="+mn-lt"/>
              </a:rPr>
              <a:t>t</a:t>
            </a:r>
            <a:r>
              <a:rPr lang="en-US" sz="1600" b="1" i="1" dirty="0">
                <a:latin typeface="+mn-lt"/>
              </a:rPr>
              <a:t>=[</a:t>
            </a:r>
            <a:r>
              <a:rPr lang="en-US" sz="1600" b="1" i="1" dirty="0" err="1">
                <a:latin typeface="+mn-lt"/>
              </a:rPr>
              <a:t>CF</a:t>
            </a:r>
            <a:r>
              <a:rPr lang="en-US" sz="1600" b="1" i="1" baseline="-25000" dirty="0" err="1">
                <a:latin typeface="+mn-lt"/>
              </a:rPr>
              <a:t>t</a:t>
            </a:r>
            <a:r>
              <a:rPr lang="en-US" sz="1600" b="1" i="1" dirty="0">
                <a:latin typeface="+mn-lt"/>
              </a:rPr>
              <a:t> *(1+g)]/(r-g)</a:t>
            </a:r>
            <a:endParaRPr lang="en-US" sz="1600" b="1" i="1" baseline="-25000" dirty="0">
              <a:latin typeface="+mn-lt"/>
            </a:endParaRPr>
          </a:p>
        </p:txBody>
      </p:sp>
      <p:pic>
        <p:nvPicPr>
          <p:cNvPr id="2050" name="Picture 2" descr="http://www.handsonbanking.org/biz/wp-content/uploads/2011/02/cashFlowFaucet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7"/>
          <a:stretch/>
        </p:blipFill>
        <p:spPr bwMode="auto">
          <a:xfrm>
            <a:off x="7201912" y="527627"/>
            <a:ext cx="1779244" cy="218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618428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Valuation Methodologies</a:t>
            </a:r>
            <a:br>
              <a:rPr lang="en-US" altLang="zh-CN" dirty="0"/>
            </a:br>
            <a:r>
              <a:rPr lang="en-US" altLang="zh-CN" sz="2800" dirty="0"/>
              <a:t>- Discounted Cash Flow (“DCF”)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7352"/>
            <a:ext cx="8229600" cy="4253573"/>
          </a:xfrm>
        </p:spPr>
        <p:txBody>
          <a:bodyPr/>
          <a:lstStyle/>
          <a:p>
            <a:r>
              <a:rPr lang="en-US" sz="2400" dirty="0"/>
              <a:t>Challenges in valuing early stage private companies </a:t>
            </a:r>
          </a:p>
          <a:p>
            <a:pPr marL="0" indent="0">
              <a:buNone/>
            </a:pPr>
            <a:r>
              <a:rPr lang="en-US" sz="2400" dirty="0"/>
              <a:t>     with DCF method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Ascertaining the financial and cash flow projection of start-up companies 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Calculating the cost of capital (e.g. risk of early stage, illiquidity, market benchmark)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Establishing reasonable assumptions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344487" lvl="1" indent="0">
              <a:buNone/>
            </a:pP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7" name="Picture 2" descr="http://www.handsonbanking.org/biz/wp-content/uploads/2011/02/cashFlowFaucet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7"/>
          <a:stretch/>
        </p:blipFill>
        <p:spPr bwMode="auto">
          <a:xfrm>
            <a:off x="7201912" y="527627"/>
            <a:ext cx="1779244" cy="218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755886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Valuation Methodologies</a:t>
            </a:r>
            <a:br>
              <a:rPr lang="en-US" altLang="zh-CN" dirty="0"/>
            </a:br>
            <a:r>
              <a:rPr lang="en-US" altLang="zh-CN" sz="2800" dirty="0"/>
              <a:t>- The Venture Capital Method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0865"/>
            <a:ext cx="8229600" cy="4530725"/>
          </a:xfrm>
        </p:spPr>
        <p:txBody>
          <a:bodyPr/>
          <a:lstStyle/>
          <a:p>
            <a:r>
              <a:rPr lang="en-US" altLang="zh-CN" sz="2400" dirty="0"/>
              <a:t>Important factors for portfolio companies valuation</a:t>
            </a:r>
            <a:endParaRPr lang="zh-CN" alt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/>
          </p:nvPr>
        </p:nvGraphicFramePr>
        <p:xfrm>
          <a:off x="489528" y="1975528"/>
          <a:ext cx="8229599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6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14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14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8064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Most Important Factor</a:t>
                      </a:r>
                      <a:endParaRPr lang="zh-CN" altLang="en-US" sz="1200" b="1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All</a:t>
                      </a:r>
                      <a:endParaRPr lang="zh-CN" altLang="en-US" sz="1200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Stage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Industry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Fund Size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064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Early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Late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IT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Healthcare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Large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Small</a:t>
                      </a:r>
                      <a:endParaRPr lang="zh-CN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0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Anticipated Exit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46%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38%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58%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34%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50%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45%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47%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0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Comparable companies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/>
                        <a:t>29%</a:t>
                      </a:r>
                      <a:endParaRPr lang="zh-CN" altLang="en-US" sz="1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31%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35%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29%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31%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27%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0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Competitive</a:t>
                      </a:r>
                      <a:r>
                        <a:rPr lang="en-US" altLang="zh-CN" sz="1200" b="1" baseline="0" dirty="0"/>
                        <a:t> pressure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1%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0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Desired</a:t>
                      </a:r>
                      <a:r>
                        <a:rPr lang="en-US" altLang="zh-CN" sz="1200" b="1" baseline="0" dirty="0"/>
                        <a:t> Ownership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18%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27%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15%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16%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19%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73364" y="3642319"/>
            <a:ext cx="8229600" cy="639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sz="2400" kern="0" dirty="0"/>
              <a:t>Financial Metrics Used to Analyze Investment</a:t>
            </a:r>
            <a:r>
              <a:rPr lang="en-US" altLang="zh-CN" sz="2800" kern="0" dirty="0"/>
              <a:t>s</a:t>
            </a:r>
            <a:endParaRPr lang="zh-CN" altLang="en-US" sz="2800" kern="0" dirty="0"/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/>
          </p:nvPr>
        </p:nvGraphicFramePr>
        <p:xfrm>
          <a:off x="489528" y="4207895"/>
          <a:ext cx="8229599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6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14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14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7303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Most Important Factor</a:t>
                      </a:r>
                      <a:endParaRPr lang="zh-CN" altLang="en-US" sz="1200" b="1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All</a:t>
                      </a:r>
                      <a:endParaRPr lang="zh-CN" altLang="en-US" sz="1200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Stage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Industry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Fund Size</a:t>
                      </a:r>
                      <a:endParaRPr lang="zh-CN" altLang="en-US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303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Early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Late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IT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Healthcare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Large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Small</a:t>
                      </a:r>
                      <a:endParaRPr lang="zh-CN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3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None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9%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17%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1%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13%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7%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9%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10%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3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Cash-on</a:t>
                      </a:r>
                      <a:r>
                        <a:rPr lang="en-US" altLang="zh-CN" sz="1200" b="1" baseline="0" dirty="0"/>
                        <a:t>-cash multiple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63%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56%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71%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57%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72%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65%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61%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3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IRR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42%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26%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60%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33%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42%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40%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42%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3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NPV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22%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12%</a:t>
                      </a:r>
                      <a:endParaRPr lang="zh-CN" altLang="en-US" sz="12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21%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16%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29%</a:t>
                      </a:r>
                      <a:endParaRPr lang="zh-CN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24%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21%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5937401"/>
            <a:ext cx="2643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+mn-lt"/>
              </a:rPr>
              <a:t>Source: Gompers et al, Working Paper(2016)</a:t>
            </a:r>
            <a:endParaRPr lang="zh-CN" altLang="en-US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7818276"/>
      </p:ext>
    </p:extLst>
  </p:cSld>
  <p:clrMapOvr>
    <a:masterClrMapping/>
  </p:clrMapOvr>
  <p:transition spd="med">
    <p:pull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2" y="1474230"/>
            <a:ext cx="8335108" cy="4472058"/>
          </a:xfrm>
        </p:spPr>
        <p:txBody>
          <a:bodyPr/>
          <a:lstStyle/>
          <a:p>
            <a:r>
              <a:rPr lang="en-US" sz="2400" dirty="0"/>
              <a:t>The Venture Capital Method</a:t>
            </a:r>
          </a:p>
          <a:p>
            <a:pPr lvl="1"/>
            <a:r>
              <a:rPr lang="en-US" sz="2000" dirty="0"/>
              <a:t>Commonly used in the venture capital community</a:t>
            </a:r>
          </a:p>
          <a:p>
            <a:pPr lvl="1"/>
            <a:r>
              <a:rPr lang="en-US" sz="2000" dirty="0"/>
              <a:t>Consistent with the cash flow trajectory of venture capital backed start-ups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17</a:t>
            </a:fld>
            <a:endParaRPr lang="en-US" altLang="en-US"/>
          </a:p>
        </p:txBody>
      </p:sp>
      <p:cxnSp>
        <p:nvCxnSpPr>
          <p:cNvPr id="7" name="Straight Arrow Connector 6"/>
          <p:cNvCxnSpPr/>
          <p:nvPr/>
        </p:nvCxnSpPr>
        <p:spPr bwMode="auto">
          <a:xfrm flipV="1">
            <a:off x="1897582" y="3252999"/>
            <a:ext cx="28322" cy="264609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 bwMode="auto">
          <a:xfrm>
            <a:off x="1270450" y="4744630"/>
            <a:ext cx="5696792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36166" y="4821774"/>
            <a:ext cx="517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Time</a:t>
            </a:r>
          </a:p>
        </p:txBody>
      </p:sp>
      <p:sp>
        <p:nvSpPr>
          <p:cNvPr id="26" name="Freeform 25"/>
          <p:cNvSpPr/>
          <p:nvPr/>
        </p:nvSpPr>
        <p:spPr bwMode="auto">
          <a:xfrm>
            <a:off x="1901628" y="3228722"/>
            <a:ext cx="3948914" cy="2599839"/>
          </a:xfrm>
          <a:custGeom>
            <a:avLst/>
            <a:gdLst>
              <a:gd name="connsiteX0" fmla="*/ 0 w 3948914"/>
              <a:gd name="connsiteY0" fmla="*/ 1513211 h 2599839"/>
              <a:gd name="connsiteX1" fmla="*/ 979137 w 3948914"/>
              <a:gd name="connsiteY1" fmla="*/ 1836892 h 2599839"/>
              <a:gd name="connsiteX2" fmla="*/ 1699328 w 3948914"/>
              <a:gd name="connsiteY2" fmla="*/ 2532807 h 2599839"/>
              <a:gd name="connsiteX3" fmla="*/ 3948914 w 3948914"/>
              <a:gd name="connsiteY3" fmla="*/ 0 h 2599839"/>
              <a:gd name="connsiteX4" fmla="*/ 3948914 w 3948914"/>
              <a:gd name="connsiteY4" fmla="*/ 0 h 2599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8914" h="2599839">
                <a:moveTo>
                  <a:pt x="0" y="1513211"/>
                </a:moveTo>
                <a:cubicBezTo>
                  <a:pt x="347958" y="1590085"/>
                  <a:pt x="695916" y="1666959"/>
                  <a:pt x="979137" y="1836892"/>
                </a:cubicBezTo>
                <a:cubicBezTo>
                  <a:pt x="1262358" y="2006825"/>
                  <a:pt x="1204365" y="2838956"/>
                  <a:pt x="1699328" y="2532807"/>
                </a:cubicBezTo>
                <a:cubicBezTo>
                  <a:pt x="2194291" y="2226658"/>
                  <a:pt x="3948914" y="0"/>
                  <a:pt x="3948914" y="0"/>
                </a:cubicBezTo>
                <a:lnTo>
                  <a:pt x="3948914" y="0"/>
                </a:lnTo>
              </a:path>
            </a:pathLst>
          </a:cu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12693" y="3048829"/>
            <a:ext cx="4545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IPO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254" y="5093970"/>
            <a:ext cx="9723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Investment</a:t>
            </a:r>
          </a:p>
        </p:txBody>
      </p:sp>
      <p:cxnSp>
        <p:nvCxnSpPr>
          <p:cNvPr id="31" name="Straight Arrow Connector 30"/>
          <p:cNvCxnSpPr>
            <a:stCxn id="30" idx="0"/>
          </p:cNvCxnSpPr>
          <p:nvPr/>
        </p:nvCxnSpPr>
        <p:spPr bwMode="auto">
          <a:xfrm flipV="1">
            <a:off x="1270450" y="4805846"/>
            <a:ext cx="550258" cy="288124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1"/>
          </p:cNvCxnSpPr>
          <p:nvPr/>
        </p:nvCxnSpPr>
        <p:spPr bwMode="auto">
          <a:xfrm flipH="1">
            <a:off x="5955739" y="3179634"/>
            <a:ext cx="556954" cy="7695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TextBox 1029"/>
          <p:cNvSpPr txBox="1"/>
          <p:nvPr/>
        </p:nvSpPr>
        <p:spPr>
          <a:xfrm>
            <a:off x="3139710" y="5023165"/>
            <a:ext cx="8963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+mn-lt"/>
              </a:rPr>
              <a:t>Death Valley</a:t>
            </a:r>
          </a:p>
        </p:txBody>
      </p:sp>
      <p:cxnSp>
        <p:nvCxnSpPr>
          <p:cNvPr id="1034" name="Straight Connector 1033"/>
          <p:cNvCxnSpPr/>
          <p:nvPr/>
        </p:nvCxnSpPr>
        <p:spPr bwMode="auto">
          <a:xfrm>
            <a:off x="2913133" y="4253381"/>
            <a:ext cx="0" cy="829463"/>
          </a:xfrm>
          <a:prstGeom prst="line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997937" y="4253381"/>
            <a:ext cx="9151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Product Development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39710" y="4252614"/>
            <a:ext cx="12587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Product Commercialization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33684" y="5622095"/>
            <a:ext cx="1355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Success of Product</a:t>
            </a:r>
          </a:p>
        </p:txBody>
      </p:sp>
      <p:cxnSp>
        <p:nvCxnSpPr>
          <p:cNvPr id="55" name="Straight Arrow Connector 54"/>
          <p:cNvCxnSpPr>
            <a:stCxn id="54" idx="1"/>
          </p:cNvCxnSpPr>
          <p:nvPr/>
        </p:nvCxnSpPr>
        <p:spPr bwMode="auto">
          <a:xfrm flipH="1">
            <a:off x="3776730" y="5752900"/>
            <a:ext cx="556954" cy="770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090764" y="4993216"/>
            <a:ext cx="14219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Success as a business</a:t>
            </a:r>
          </a:p>
        </p:txBody>
      </p:sp>
      <p:cxnSp>
        <p:nvCxnSpPr>
          <p:cNvPr id="60" name="Straight Arrow Connector 59"/>
          <p:cNvCxnSpPr>
            <a:stCxn id="59" idx="1"/>
          </p:cNvCxnSpPr>
          <p:nvPr/>
        </p:nvCxnSpPr>
        <p:spPr bwMode="auto">
          <a:xfrm flipH="1" flipV="1">
            <a:off x="4644830" y="4805846"/>
            <a:ext cx="445934" cy="318175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0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730680" y="5075124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6891603" y="2966425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7881017" y="2951034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7650256" y="2942009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7395894" y="2951036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7146015" y="2951035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/>
          <p:cNvCxnSpPr/>
          <p:nvPr/>
        </p:nvCxnSpPr>
        <p:spPr bwMode="auto">
          <a:xfrm flipV="1">
            <a:off x="6805379" y="4021079"/>
            <a:ext cx="633322" cy="11252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495832" y="3895900"/>
            <a:ext cx="972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Company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17" y="3312310"/>
            <a:ext cx="1249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Cumulative Profit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127" y="5623966"/>
            <a:ext cx="1249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Cumulative Loss</a:t>
            </a:r>
          </a:p>
        </p:txBody>
      </p:sp>
    </p:spTree>
    <p:extLst>
      <p:ext uri="{BB962C8B-B14F-4D97-AF65-F5344CB8AC3E}">
        <p14:creationId xmlns:p14="http://schemas.microsoft.com/office/powerpoint/2010/main" val="3580604458"/>
      </p:ext>
    </p:extLst>
  </p:cSld>
  <p:clrMapOvr>
    <a:masterClrMapping/>
  </p:clrMapOvr>
  <p:transition spd="med">
    <p:pull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Valuation Methodologies</a:t>
            </a:r>
            <a:br>
              <a:rPr lang="en-US" altLang="zh-CN" dirty="0"/>
            </a:br>
            <a:r>
              <a:rPr lang="en-US" altLang="zh-CN" sz="2800" dirty="0"/>
              <a:t>- The Venture Capital Method</a:t>
            </a:r>
            <a:endParaRPr lang="zh-CN" alt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7290"/>
            <a:ext cx="8229600" cy="4213635"/>
          </a:xfrm>
        </p:spPr>
        <p:txBody>
          <a:bodyPr/>
          <a:lstStyle/>
          <a:p>
            <a:r>
              <a:rPr lang="en-US" altLang="zh-CN" sz="2400" dirty="0"/>
              <a:t>The Venture Capital Method – An Example</a:t>
            </a:r>
          </a:p>
          <a:p>
            <a:pPr lvl="1"/>
            <a:endParaRPr lang="en-US" altLang="zh-CN" sz="1800" dirty="0"/>
          </a:p>
          <a:p>
            <a:pPr lvl="1"/>
            <a:r>
              <a:rPr lang="en-US" altLang="zh-CN" sz="1800" dirty="0"/>
              <a:t>Institutional Venture Partners (together with other VCs) invested </a:t>
            </a:r>
            <a:r>
              <a:rPr lang="en-US" altLang="zh-CN" sz="1800" b="1" dirty="0"/>
              <a:t>$80M </a:t>
            </a:r>
            <a:r>
              <a:rPr lang="en-US" altLang="zh-CN" sz="1800" dirty="0"/>
              <a:t>in Snapchat in June 2013 at a pre-money valuation of </a:t>
            </a:r>
            <a:r>
              <a:rPr lang="en-US" altLang="zh-CN" sz="1800" b="1" dirty="0"/>
              <a:t>$800M</a:t>
            </a:r>
            <a:r>
              <a:rPr lang="en-US" altLang="zh-CN" sz="1800" dirty="0"/>
              <a:t>, which implies a </a:t>
            </a:r>
            <a:r>
              <a:rPr lang="en-US" altLang="zh-CN" sz="1800" b="1" dirty="0"/>
              <a:t>9.1%</a:t>
            </a:r>
            <a:r>
              <a:rPr lang="en-US" altLang="zh-CN" sz="1800" dirty="0"/>
              <a:t> ownership at the time of investment.</a:t>
            </a:r>
          </a:p>
          <a:p>
            <a:pPr lvl="1"/>
            <a:endParaRPr lang="en-US" altLang="zh-CN" sz="1800" dirty="0"/>
          </a:p>
          <a:p>
            <a:pPr lvl="1"/>
            <a:r>
              <a:rPr lang="en-US" altLang="zh-CN" sz="1800" dirty="0"/>
              <a:t>Assume that you are the partner at Institutional Venture Partner (IVP), you know that IVP requires </a:t>
            </a:r>
            <a:r>
              <a:rPr lang="en-US" altLang="zh-CN" sz="1800" b="1" dirty="0"/>
              <a:t>60%</a:t>
            </a:r>
            <a:r>
              <a:rPr lang="en-US" altLang="zh-CN" sz="1800" dirty="0"/>
              <a:t> annualized compounded return from the deal. You also expect Snapchat to go public in 2018, which is </a:t>
            </a:r>
            <a:r>
              <a:rPr lang="en-US" altLang="zh-CN" sz="1800" b="1" dirty="0"/>
              <a:t>5 years</a:t>
            </a:r>
            <a:r>
              <a:rPr lang="en-US" altLang="zh-CN" sz="1800" dirty="0"/>
              <a:t> after your investment.</a:t>
            </a:r>
          </a:p>
          <a:p>
            <a:pPr lvl="1"/>
            <a:endParaRPr lang="en-US" altLang="zh-CN" sz="1800" dirty="0"/>
          </a:p>
          <a:p>
            <a:pPr lvl="1"/>
            <a:r>
              <a:rPr lang="en-US" altLang="zh-CN" sz="1800" dirty="0"/>
              <a:t>What should be the valuation of Snapchat at IPO in order to meet your return requirement?  </a:t>
            </a: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419" y="430858"/>
            <a:ext cx="1181734" cy="1181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8775145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Valuation Methodologies</a:t>
            </a:r>
            <a:br>
              <a:rPr lang="en-US" altLang="zh-CN" dirty="0"/>
            </a:br>
            <a:r>
              <a:rPr lang="en-US" altLang="zh-CN" sz="2800" dirty="0"/>
              <a:t>- The Venture Capital Method</a:t>
            </a:r>
            <a:endParaRPr lang="zh-CN" alt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The Venture Capital Method – An Example</a:t>
            </a:r>
          </a:p>
          <a:p>
            <a:endParaRPr lang="zh-CN" alt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30691" y="2443206"/>
            <a:ext cx="2154949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zh-CN" sz="1200" b="1" u="sng" dirty="0">
                <a:latin typeface="Garamond" panose="02020404030301010803" pitchFamily="18" charset="0"/>
              </a:rPr>
              <a:t>Future Value Required by IVP</a:t>
            </a:r>
            <a:endParaRPr lang="zh-CN" altLang="en-US" sz="1400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02410" y="2799733"/>
                <a:ext cx="341151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Garamond" panose="02020404030301010803" pitchFamily="18" charset="0"/>
                  </a:rPr>
                  <a:t>Future Value Required = Investment </a:t>
                </a:r>
                <a14:m>
                  <m:oMath xmlns:m="http://schemas.openxmlformats.org/officeDocument/2006/math">
                    <m:r>
                      <a:rPr lang="en-US" altLang="zh-CN" sz="120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CN" sz="1200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altLang="zh-CN" sz="1200" dirty="0">
                    <a:latin typeface="Garamond" panose="02020404030301010803" pitchFamily="18" charset="0"/>
                  </a:rPr>
                  <a:t>(1+ IRR)</a:t>
                </a:r>
                <a:r>
                  <a:rPr lang="en-US" altLang="zh-CN" sz="1200" baseline="30000" dirty="0">
                    <a:latin typeface="Garamond" panose="02020404030301010803" pitchFamily="18" charset="0"/>
                  </a:rPr>
                  <a:t>years</a:t>
                </a:r>
              </a:p>
              <a:p>
                <a:r>
                  <a:rPr lang="en-US" altLang="zh-CN" sz="1200" dirty="0">
                    <a:latin typeface="Garamond" panose="02020404030301010803" pitchFamily="18" charset="0"/>
                  </a:rPr>
                  <a:t>                                    = $80M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1200" dirty="0">
                    <a:latin typeface="Garamond" panose="02020404030301010803" pitchFamily="18" charset="0"/>
                  </a:rPr>
                  <a:t> (1+60%)</a:t>
                </a:r>
                <a:r>
                  <a:rPr lang="en-US" altLang="zh-CN" sz="1200" baseline="30000" dirty="0">
                    <a:latin typeface="Garamond" panose="02020404030301010803" pitchFamily="18" charset="0"/>
                  </a:rPr>
                  <a:t>5</a:t>
                </a:r>
                <a:r>
                  <a:rPr lang="en-US" altLang="zh-CN" sz="1200" dirty="0">
                    <a:latin typeface="Garamond" panose="02020404030301010803" pitchFamily="18" charset="0"/>
                  </a:rPr>
                  <a:t> </a:t>
                </a:r>
              </a:p>
              <a:p>
                <a:r>
                  <a:rPr lang="en-US" altLang="zh-CN" sz="1200" dirty="0">
                    <a:latin typeface="Garamond" panose="02020404030301010803" pitchFamily="18" charset="0"/>
                  </a:rPr>
                  <a:t>                                    = $838.9M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10" y="2799733"/>
                <a:ext cx="3411511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179" b="-4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346592" y="2432864"/>
            <a:ext cx="1932901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zh-CN" sz="1200" b="1" u="sng" dirty="0">
                <a:latin typeface="Garamond" panose="02020404030301010803" pitchFamily="18" charset="0"/>
              </a:rPr>
              <a:t>Final % Ownership of IVP</a:t>
            </a:r>
            <a:endParaRPr lang="zh-CN" altLang="en-US" sz="1400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07285" y="2810800"/>
                <a:ext cx="358579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Garamond" panose="02020404030301010803" pitchFamily="18" charset="0"/>
                  </a:rPr>
                  <a:t>Final % Ownership = Current % Ownership </a:t>
                </a:r>
                <a14:m>
                  <m:oMath xmlns:m="http://schemas.openxmlformats.org/officeDocument/2006/math">
                    <m:r>
                      <a:rPr lang="en-US" altLang="zh-CN" sz="120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 sz="1200" b="0" i="0" smtClean="0">
                        <a:latin typeface="Cambria Math" panose="02040503050406030204" pitchFamily="18" charset="0"/>
                      </a:rPr>
                      <m:t>Dilution</m:t>
                    </m:r>
                  </m:oMath>
                </a14:m>
                <a:endParaRPr lang="en-US" altLang="zh-CN" sz="1200" b="0" dirty="0">
                  <a:latin typeface="Garamond" panose="02020404030301010803" pitchFamily="18" charset="0"/>
                </a:endParaRPr>
              </a:p>
              <a:p>
                <a:r>
                  <a:rPr lang="en-US" altLang="zh-CN" sz="1200" dirty="0">
                    <a:latin typeface="Garamond" panose="02020404030301010803" pitchFamily="18" charset="0"/>
                  </a:rPr>
                  <a:t>                                = 9.1%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1200" dirty="0">
                    <a:latin typeface="Garamond" panose="02020404030301010803" pitchFamily="18" charset="0"/>
                  </a:rPr>
                  <a:t>  (1-40%)</a:t>
                </a:r>
              </a:p>
              <a:p>
                <a:r>
                  <a:rPr lang="en-US" altLang="zh-CN" sz="1200" dirty="0">
                    <a:latin typeface="Garamond" panose="02020404030301010803" pitchFamily="18" charset="0"/>
                  </a:rPr>
                  <a:t>                                = 5.5%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285" y="2810800"/>
                <a:ext cx="3585790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70" b="-5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/>
          <p:cNvSpPr/>
          <p:nvPr/>
        </p:nvSpPr>
        <p:spPr bwMode="auto">
          <a:xfrm rot="2616272">
            <a:off x="3570561" y="3339031"/>
            <a:ext cx="380124" cy="335436"/>
          </a:xfrm>
          <a:prstGeom prst="rightArrow">
            <a:avLst/>
          </a:prstGeom>
          <a:solidFill>
            <a:srgbClr val="FFFF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ight Arrow 11"/>
          <p:cNvSpPr/>
          <p:nvPr/>
        </p:nvSpPr>
        <p:spPr bwMode="auto">
          <a:xfrm rot="8308063">
            <a:off x="4670705" y="3338072"/>
            <a:ext cx="380124" cy="335436"/>
          </a:xfrm>
          <a:prstGeom prst="rightArrow">
            <a:avLst/>
          </a:prstGeom>
          <a:solidFill>
            <a:srgbClr val="FFFF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44197" y="3736994"/>
            <a:ext cx="1661353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zh-CN" sz="1200" b="1" u="sng" dirty="0">
                <a:latin typeface="Garamond" panose="02020404030301010803" pitchFamily="18" charset="0"/>
              </a:rPr>
              <a:t>Required Value at IPO</a:t>
            </a:r>
            <a:endParaRPr lang="zh-CN" altLang="en-US" sz="1400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487315" y="4113504"/>
                <a:ext cx="5575116" cy="389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Garamond" panose="02020404030301010803" pitchFamily="18" charset="0"/>
                  </a:rPr>
                  <a:t>Required Company Value at IPO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b="0" i="1" smtClean="0">
                            <a:latin typeface="Cambria Math"/>
                          </a:rPr>
                          <m:t>𝐹𝑢𝑡𝑢𝑟𝑒</m:t>
                        </m:r>
                        <m:r>
                          <a:rPr lang="en-US" altLang="zh-CN" sz="1200" b="0" i="1" smtClean="0">
                            <a:latin typeface="Cambria Math"/>
                          </a:rPr>
                          <m:t> </m:t>
                        </m:r>
                        <m:r>
                          <a:rPr lang="en-US" altLang="zh-CN" sz="1200" b="0" i="1" smtClean="0">
                            <a:latin typeface="Cambria Math"/>
                          </a:rPr>
                          <m:t>𝑉𝑎𝑙𝑢𝑒</m:t>
                        </m:r>
                        <m:r>
                          <a:rPr lang="en-US" altLang="zh-CN" sz="1200" b="0" i="1" smtClean="0">
                            <a:latin typeface="Cambria Math"/>
                          </a:rPr>
                          <m:t> </m:t>
                        </m:r>
                        <m:r>
                          <a:rPr lang="en-US" altLang="zh-CN" sz="1200" b="0" i="1" smtClean="0">
                            <a:latin typeface="Cambria Math"/>
                          </a:rPr>
                          <m:t>𝑅𝑒𝑞𝑢𝑖𝑟𝑒𝑑</m:t>
                        </m:r>
                      </m:num>
                      <m:den>
                        <m:r>
                          <a:rPr lang="en-US" altLang="zh-CN" sz="1200" b="0" i="1" smtClean="0">
                            <a:latin typeface="Cambria Math"/>
                          </a:rPr>
                          <m:t>𝐹𝑖𝑛𝑎𝑙</m:t>
                        </m:r>
                        <m:r>
                          <a:rPr lang="en-US" altLang="zh-CN" sz="1200" b="0" i="1" smtClean="0">
                            <a:latin typeface="Cambria Math"/>
                          </a:rPr>
                          <m:t> % </m:t>
                        </m:r>
                        <m:r>
                          <a:rPr lang="en-US" altLang="zh-CN" sz="1200" b="0" i="1" smtClean="0">
                            <a:latin typeface="Cambria Math"/>
                          </a:rPr>
                          <m:t>𝑂𝑤𝑛𝑒𝑟𝑠h𝑖𝑝</m:t>
                        </m:r>
                      </m:den>
                    </m:f>
                  </m:oMath>
                </a14:m>
                <a:r>
                  <a:rPr lang="en-US" altLang="zh-CN" sz="1200" dirty="0">
                    <a:latin typeface="Garamond" panose="020204040303010108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1200" dirty="0">
                            <a:latin typeface="Garamond" panose="02020404030301010803" pitchFamily="18" charset="0"/>
                          </a:rPr>
                          <m:t>$</m:t>
                        </m:r>
                        <m:r>
                          <m:rPr>
                            <m:nor/>
                          </m:rPr>
                          <a:rPr lang="en-US" altLang="zh-CN" sz="1200" b="0" i="0" dirty="0" smtClean="0">
                            <a:latin typeface="Garamond" panose="02020404030301010803" pitchFamily="18" charset="0"/>
                          </a:rPr>
                          <m:t>838.9</m:t>
                        </m:r>
                        <m:r>
                          <m:rPr>
                            <m:nor/>
                          </m:rPr>
                          <a:rPr lang="en-US" altLang="zh-CN" sz="1200" b="0" i="0" dirty="0" smtClean="0">
                            <a:latin typeface="Garamond" panose="02020404030301010803" pitchFamily="18" charset="0"/>
                          </a:rPr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CN" sz="1200" b="0" i="0" dirty="0" smtClean="0">
                            <a:latin typeface="Cambria Math" panose="02040503050406030204" pitchFamily="18" charset="0"/>
                          </a:rPr>
                          <m:t>5.5</m:t>
                        </m:r>
                        <m:r>
                          <m:rPr>
                            <m:nor/>
                          </m:rPr>
                          <a:rPr lang="en-US" altLang="zh-CN" sz="1200" dirty="0">
                            <a:latin typeface="Garamond" panose="02020404030301010803" pitchFamily="18" charset="0"/>
                          </a:rPr>
                          <m:t>% </m:t>
                        </m:r>
                      </m:den>
                    </m:f>
                  </m:oMath>
                </a14:m>
                <a:r>
                  <a:rPr lang="en-US" altLang="zh-CN" sz="1200" dirty="0">
                    <a:latin typeface="Garamond" panose="020204040303010108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i="1" smtClean="0">
                        <a:latin typeface="Cambria Math"/>
                        <a:ea typeface="Cambria Math"/>
                      </a:rPr>
                      <m:t>≈</m:t>
                    </m:r>
                    <m:r>
                      <a:rPr lang="en-US" altLang="zh-CN" sz="1200" b="1" i="1" smtClean="0">
                        <a:latin typeface="Cambria Math"/>
                        <a:ea typeface="Cambria Math"/>
                      </a:rPr>
                      <m:t>$</m:t>
                    </m:r>
                    <m:r>
                      <a:rPr lang="en-US" altLang="zh-CN" sz="1200" b="1" i="1" smtClean="0">
                        <a:latin typeface="Cambria Math"/>
                        <a:ea typeface="Cambria Math"/>
                      </a:rPr>
                      <m:t>𝟏𝟓</m:t>
                    </m:r>
                    <m:r>
                      <a:rPr lang="en-US" altLang="zh-CN" sz="1200" b="1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en-US" altLang="zh-CN" sz="1200" b="1" i="1" smtClean="0">
                        <a:latin typeface="Cambria Math"/>
                        <a:ea typeface="Cambria Math"/>
                      </a:rPr>
                      <m:t>𝟑</m:t>
                    </m:r>
                    <m:r>
                      <a:rPr lang="en-US" altLang="zh-CN" sz="12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1200" b="1" i="1" smtClean="0">
                        <a:latin typeface="Cambria Math"/>
                        <a:ea typeface="Cambria Math"/>
                      </a:rPr>
                      <m:t>𝑩𝒊𝒍𝒍𝒊𝒐𝒏</m:t>
                    </m:r>
                  </m:oMath>
                </a14:m>
                <a:endParaRPr lang="en-US" altLang="zh-CN" sz="1200" b="1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315" y="4113504"/>
                <a:ext cx="5575116" cy="389530"/>
              </a:xfrm>
              <a:prstGeom prst="rect">
                <a:avLst/>
              </a:prstGeom>
              <a:blipFill rotWithShape="0">
                <a:blip r:embed="rId5"/>
                <a:stretch>
                  <a:fillRect l="-109" b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9" t="15928" r="5736" b="18288"/>
          <a:stretch/>
        </p:blipFill>
        <p:spPr bwMode="auto">
          <a:xfrm>
            <a:off x="1412945" y="5326696"/>
            <a:ext cx="722163" cy="2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305790" y="5692221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Garamond" panose="02020404030301010803" pitchFamily="18" charset="0"/>
              </a:rPr>
              <a:t>$104 Billion</a:t>
            </a:r>
            <a:endParaRPr lang="zh-CN" altLang="en-US" sz="1200" b="1" dirty="0">
              <a:latin typeface="Garamond" panose="02020404030301010803" pitchFamily="18" charset="0"/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63" y="5214080"/>
            <a:ext cx="466528" cy="466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2644542" y="5692540"/>
            <a:ext cx="987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Garamond" panose="02020404030301010803" pitchFamily="18" charset="0"/>
              </a:rPr>
              <a:t>$24.5 Billion</a:t>
            </a:r>
            <a:endParaRPr lang="zh-CN" altLang="en-US" sz="1200" b="1" dirty="0">
              <a:latin typeface="Garamond" panose="02020404030301010803" pitchFamily="18" charset="0"/>
            </a:endParaRPr>
          </a:p>
        </p:txBody>
      </p:sp>
      <p:pic>
        <p:nvPicPr>
          <p:cNvPr id="19" name="Picture 5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13" b="31973"/>
          <a:stretch/>
        </p:blipFill>
        <p:spPr bwMode="auto">
          <a:xfrm>
            <a:off x="6862588" y="5307577"/>
            <a:ext cx="982060" cy="31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6895801" y="5692540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Garamond" panose="02020404030301010803" pitchFamily="18" charset="0"/>
              </a:rPr>
              <a:t>$4.5 Billion</a:t>
            </a:r>
            <a:endParaRPr lang="zh-CN" altLang="en-US" sz="1200" b="1" dirty="0">
              <a:latin typeface="Garamond" panose="02020404030301010803" pitchFamily="18" charset="0"/>
            </a:endParaRPr>
          </a:p>
        </p:txBody>
      </p:sp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7144" y="5262852"/>
            <a:ext cx="1167453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5573053" y="5692221"/>
            <a:ext cx="8034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Garamond" panose="02020404030301010803" pitchFamily="18" charset="0"/>
              </a:rPr>
              <a:t>$7 Billion</a:t>
            </a:r>
            <a:endParaRPr lang="zh-CN" altLang="en-US" sz="1200" b="1" dirty="0">
              <a:latin typeface="Garamond" panose="02020404030301010803" pitchFamily="18" charset="0"/>
            </a:endParaRPr>
          </a:p>
        </p:txBody>
      </p:sp>
      <p:pic>
        <p:nvPicPr>
          <p:cNvPr id="23" name="Picture 7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4" t="30741" r="7469" b="30555"/>
          <a:stretch/>
        </p:blipFill>
        <p:spPr bwMode="auto">
          <a:xfrm>
            <a:off x="3882810" y="5351914"/>
            <a:ext cx="1139678" cy="190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4050936" y="5692220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Garamond" panose="02020404030301010803" pitchFamily="18" charset="0"/>
              </a:rPr>
              <a:t>$12.7 Billion</a:t>
            </a:r>
            <a:endParaRPr lang="zh-CN" altLang="en-US" sz="1200" b="1" dirty="0">
              <a:latin typeface="Garamond" panose="02020404030301010803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5931" y="4842144"/>
            <a:ext cx="3235629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zh-CN" sz="1200" b="1" u="sng" dirty="0">
                <a:latin typeface="Garamond" panose="02020404030301010803" pitchFamily="18" charset="0"/>
              </a:rPr>
              <a:t>Comparable Internet Companies’ Value at IPO</a:t>
            </a:r>
            <a:endParaRPr lang="zh-CN" altLang="en-US" sz="14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845027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6" grpId="0"/>
      <p:bldP spid="18" grpId="0"/>
      <p:bldP spid="20" grpId="0"/>
      <p:bldP spid="22" grpId="0"/>
      <p:bldP spid="24" grpId="0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4130"/>
            <a:ext cx="8229600" cy="453679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400" dirty="0"/>
              <a:t>The Venture Capital Method - Basic Step</a:t>
            </a:r>
            <a:endParaRPr lang="en-US" altLang="zh-CN" sz="1800" u="sng" dirty="0">
              <a:ea typeface="宋体" charset="-122"/>
            </a:endParaRPr>
          </a:p>
          <a:p>
            <a:pPr lvl="1">
              <a:spcBef>
                <a:spcPct val="50000"/>
              </a:spcBef>
            </a:pPr>
            <a:r>
              <a:rPr lang="en-US" altLang="zh-CN" sz="1800" u="sng" dirty="0">
                <a:ea typeface="宋体" charset="-122"/>
              </a:rPr>
              <a:t>Step 1</a:t>
            </a:r>
            <a:r>
              <a:rPr lang="en-US" altLang="zh-CN" sz="1800" dirty="0">
                <a:ea typeface="宋体" charset="-122"/>
              </a:rPr>
              <a:t>: Estimate the terminal value of the firm in a future year (e.g. in the liquidity event)</a:t>
            </a:r>
          </a:p>
          <a:p>
            <a:pPr lvl="2">
              <a:spcBef>
                <a:spcPct val="50000"/>
              </a:spcBef>
            </a:pPr>
            <a:r>
              <a:rPr lang="en-US" altLang="zh-CN" sz="1600" dirty="0">
                <a:ea typeface="宋体" charset="-122"/>
              </a:rPr>
              <a:t>E.g., calculate using a multiple / comparable method</a:t>
            </a:r>
          </a:p>
          <a:p>
            <a:pPr lvl="2">
              <a:spcBef>
                <a:spcPct val="50000"/>
              </a:spcBef>
            </a:pPr>
            <a:r>
              <a:rPr lang="en-US" altLang="zh-CN" sz="1600" b="1" dirty="0">
                <a:solidFill>
                  <a:srgbClr val="0066FF"/>
                </a:solidFill>
                <a:ea typeface="宋体" charset="-122"/>
              </a:rPr>
              <a:t>Terminal Value = P/E * projected net income</a:t>
            </a:r>
          </a:p>
          <a:p>
            <a:pPr lvl="1">
              <a:spcBef>
                <a:spcPct val="50000"/>
              </a:spcBef>
            </a:pPr>
            <a:endParaRPr lang="en-US" altLang="zh-CN" sz="1800" u="sng" dirty="0">
              <a:ea typeface="宋体" charset="-122"/>
            </a:endParaRPr>
          </a:p>
          <a:p>
            <a:pPr lvl="1">
              <a:spcBef>
                <a:spcPct val="50000"/>
              </a:spcBef>
            </a:pPr>
            <a:r>
              <a:rPr lang="en-US" altLang="zh-CN" sz="1800" u="sng" dirty="0">
                <a:ea typeface="宋体" charset="-122"/>
              </a:rPr>
              <a:t>Step 2</a:t>
            </a:r>
            <a:r>
              <a:rPr lang="en-US" altLang="zh-CN" sz="1800" dirty="0">
                <a:ea typeface="宋体" charset="-122"/>
              </a:rPr>
              <a:t>: Discount terminal value</a:t>
            </a:r>
          </a:p>
          <a:p>
            <a:pPr lvl="2">
              <a:spcBef>
                <a:spcPct val="50000"/>
              </a:spcBef>
            </a:pPr>
            <a:r>
              <a:rPr lang="en-US" altLang="zh-CN" sz="1600" b="1" dirty="0">
                <a:solidFill>
                  <a:srgbClr val="0066FF"/>
                </a:solidFill>
                <a:ea typeface="宋体" charset="-122"/>
              </a:rPr>
              <a:t>DTV = Terminal value / (1+target rate of return)</a:t>
            </a:r>
            <a:r>
              <a:rPr lang="en-US" altLang="zh-CN" sz="1600" b="1" baseline="30000" dirty="0">
                <a:solidFill>
                  <a:srgbClr val="0066FF"/>
                </a:solidFill>
                <a:ea typeface="宋体" charset="-122"/>
              </a:rPr>
              <a:t>years</a:t>
            </a:r>
            <a:endParaRPr lang="en-US" altLang="zh-CN" sz="1600" b="1" dirty="0">
              <a:solidFill>
                <a:srgbClr val="0066FF"/>
              </a:solidFill>
              <a:ea typeface="宋体" charset="-122"/>
            </a:endParaRPr>
          </a:p>
          <a:p>
            <a:pPr lvl="1">
              <a:spcBef>
                <a:spcPct val="50000"/>
              </a:spcBef>
            </a:pPr>
            <a:endParaRPr lang="en-US" altLang="zh-CN" sz="1800" u="sng" dirty="0">
              <a:ea typeface="宋体" charset="-122"/>
            </a:endParaRPr>
          </a:p>
          <a:p>
            <a:pPr lvl="1">
              <a:spcBef>
                <a:spcPct val="50000"/>
              </a:spcBef>
            </a:pPr>
            <a:r>
              <a:rPr lang="en-US" altLang="zh-CN" sz="1800" u="sng" dirty="0">
                <a:ea typeface="宋体" charset="-122"/>
              </a:rPr>
              <a:t>Step 3</a:t>
            </a:r>
            <a:r>
              <a:rPr lang="en-US" altLang="zh-CN" sz="1800" dirty="0">
                <a:ea typeface="宋体" charset="-122"/>
              </a:rPr>
              <a:t>: Calculate </a:t>
            </a:r>
            <a:r>
              <a:rPr lang="en-US" altLang="zh-CN" sz="1800" b="1" dirty="0">
                <a:solidFill>
                  <a:srgbClr val="0066FF"/>
                </a:solidFill>
                <a:ea typeface="宋体" charset="-122"/>
              </a:rPr>
              <a:t>final</a:t>
            </a:r>
            <a:r>
              <a:rPr lang="en-US" altLang="zh-CN" sz="1800" dirty="0">
                <a:ea typeface="宋体" charset="-122"/>
              </a:rPr>
              <a:t> % ownership</a:t>
            </a:r>
          </a:p>
          <a:p>
            <a:pPr lvl="2">
              <a:spcBef>
                <a:spcPct val="50000"/>
              </a:spcBef>
            </a:pPr>
            <a:r>
              <a:rPr lang="en-US" altLang="zh-CN" sz="1600" b="1" dirty="0">
                <a:solidFill>
                  <a:srgbClr val="0066FF"/>
                </a:solidFill>
                <a:ea typeface="宋体" charset="-122"/>
              </a:rPr>
              <a:t>Required final % ownership = investment / discounted terminal value</a:t>
            </a:r>
          </a:p>
          <a:p>
            <a:pPr lvl="2"/>
            <a:endParaRPr lang="en-US" sz="1400" dirty="0"/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20</a:t>
            </a:fld>
            <a:endParaRPr lang="en-US" altLang="en-US"/>
          </a:p>
        </p:txBody>
      </p:sp>
      <p:pic>
        <p:nvPicPr>
          <p:cNvPr id="6" name="Picture 2" descr="http://www.alleywatch.com/wp-content/uploads/2013/07/valuati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276" y="453155"/>
            <a:ext cx="1903647" cy="126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54599"/>
      </p:ext>
    </p:extLst>
  </p:cSld>
  <p:clrMapOvr>
    <a:masterClrMapping/>
  </p:clrMapOvr>
  <p:transition spd="med">
    <p:pull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An Example</a:t>
            </a:r>
          </a:p>
          <a:p>
            <a:pPr lvl="1"/>
            <a:r>
              <a:rPr lang="en-US" sz="2000" dirty="0"/>
              <a:t>A VC considers an investment in </a:t>
            </a:r>
            <a:r>
              <a:rPr lang="en-US" sz="2000" dirty="0" err="1"/>
              <a:t>MicroElectronics</a:t>
            </a:r>
            <a:r>
              <a:rPr lang="en-US" sz="2000" dirty="0"/>
              <a:t> Corp. (MEC)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21</a:t>
            </a:fld>
            <a:endParaRPr lang="en-US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609600" y="2604654"/>
          <a:ext cx="7934036" cy="32327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34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818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 Summary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Required </a:t>
                      </a:r>
                      <a:r>
                        <a:rPr lang="en-US" sz="1600"/>
                        <a:t>Internal Rate of Return (IRR) </a:t>
                      </a:r>
                      <a:r>
                        <a:rPr lang="en-US" sz="1600" dirty="0"/>
                        <a:t>of 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$3.5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Term (Investment</a:t>
                      </a:r>
                      <a:r>
                        <a:rPr lang="en-US" sz="1600" baseline="0" dirty="0"/>
                        <a:t> Horizon)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 years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Projected Net</a:t>
                      </a:r>
                      <a:r>
                        <a:rPr lang="en-US" sz="1600" baseline="0" dirty="0"/>
                        <a:t> Income in Year 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$2.5</a:t>
                      </a:r>
                      <a:r>
                        <a:rPr lang="en-US" sz="1600" baseline="0" dirty="0"/>
                        <a:t> million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P/E</a:t>
                      </a:r>
                      <a:r>
                        <a:rPr lang="en-US" sz="1600" baseline="0" dirty="0"/>
                        <a:t> in Year 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Number</a:t>
                      </a:r>
                      <a:r>
                        <a:rPr lang="en-US" sz="1600" baseline="0" dirty="0"/>
                        <a:t> of Shares Outstanding Before Financing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1,000,000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530565"/>
      </p:ext>
    </p:extLst>
  </p:cSld>
  <p:clrMapOvr>
    <a:masterClrMapping/>
  </p:clrMapOvr>
  <p:transition spd="med">
    <p:pull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Valuation Methodologies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cs typeface="Arial" panose="020B0604020202020204" pitchFamily="34" charset="0"/>
              </a:rPr>
              <a:t>- The Venture Capital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00000"/>
            </a:pPr>
            <a:r>
              <a:rPr lang="en-US" sz="2000" dirty="0">
                <a:cs typeface="Arial" panose="020B0604020202020204" pitchFamily="34" charset="0"/>
              </a:rPr>
              <a:t>MEC Example</a:t>
            </a:r>
          </a:p>
          <a:p>
            <a:pPr lvl="1">
              <a:buSzPct val="100000"/>
            </a:pPr>
            <a:r>
              <a:rPr lang="en-US" sz="1800" dirty="0">
                <a:cs typeface="Arial" panose="020B0604020202020204" pitchFamily="34" charset="0"/>
              </a:rPr>
              <a:t>Pricing the transaction</a:t>
            </a:r>
          </a:p>
          <a:p>
            <a:pPr lvl="2">
              <a:buSzPct val="100000"/>
            </a:pPr>
            <a:r>
              <a:rPr lang="en-US" sz="1600" dirty="0">
                <a:cs typeface="Arial" panose="020B0604020202020204" pitchFamily="34" charset="0"/>
              </a:rPr>
              <a:t>How much equity in MEC should the VC get in return for the cash investment?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latin typeface="+mn-lt"/>
                <a:cs typeface="Arial" panose="020B0604020202020204" pitchFamily="34" charset="0"/>
              </a:rPr>
              <a:t>Copyright © 2019 by Raphael ("Raffi")  Amit</a:t>
            </a:r>
            <a:endParaRPr lang="en-US" altLang="en-US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848033" y="2996631"/>
            <a:ext cx="7467600" cy="9144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1200" b="1" dirty="0">
              <a:solidFill>
                <a:schemeClr val="hlink"/>
              </a:solidFill>
              <a:ea typeface="宋体" charset="-122"/>
              <a:cs typeface="Arial" panose="020B0604020202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429689" y="3038061"/>
            <a:ext cx="6492875" cy="826377"/>
            <a:chOff x="1355725" y="2813411"/>
            <a:chExt cx="6492875" cy="826377"/>
          </a:xfrm>
        </p:grpSpPr>
        <p:sp>
          <p:nvSpPr>
            <p:cNvPr id="7" name="Text Box 14"/>
            <p:cNvSpPr txBox="1">
              <a:spLocks noChangeArrowheads="1"/>
            </p:cNvSpPr>
            <p:nvPr/>
          </p:nvSpPr>
          <p:spPr bwMode="auto">
            <a:xfrm>
              <a:off x="1355725" y="3009745"/>
              <a:ext cx="2759730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lt"/>
                  <a:ea typeface="宋体" charset="-122"/>
                  <a:cs typeface="Arial" panose="020B0604020202020204" pitchFamily="34" charset="0"/>
                </a:rPr>
                <a:t>Final Ownership Required =</a:t>
              </a:r>
            </a:p>
          </p:txBody>
        </p:sp>
        <p:sp>
          <p:nvSpPr>
            <p:cNvPr id="8" name="Text Box 15"/>
            <p:cNvSpPr txBox="1">
              <a:spLocks noChangeArrowheads="1"/>
            </p:cNvSpPr>
            <p:nvPr/>
          </p:nvSpPr>
          <p:spPr bwMode="auto">
            <a:xfrm>
              <a:off x="5327650" y="2813411"/>
              <a:ext cx="1191929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lt"/>
                  <a:ea typeface="宋体" charset="-122"/>
                  <a:cs typeface="Arial" panose="020B0604020202020204" pitchFamily="34" charset="0"/>
                </a:rPr>
                <a:t>Investment</a:t>
              </a:r>
            </a:p>
          </p:txBody>
        </p:sp>
        <p:sp>
          <p:nvSpPr>
            <p:cNvPr id="9" name="Text Box 16"/>
            <p:cNvSpPr txBox="1">
              <a:spLocks noChangeArrowheads="1"/>
            </p:cNvSpPr>
            <p:nvPr/>
          </p:nvSpPr>
          <p:spPr bwMode="auto">
            <a:xfrm>
              <a:off x="4659875" y="3270456"/>
              <a:ext cx="2712922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lt"/>
                  <a:ea typeface="宋体" charset="-122"/>
                  <a:cs typeface="Arial" panose="020B0604020202020204" pitchFamily="34" charset="0"/>
                </a:rPr>
                <a:t>Discounted Terminal Value</a:t>
              </a:r>
            </a:p>
          </p:txBody>
        </p:sp>
        <p:sp>
          <p:nvSpPr>
            <p:cNvPr id="10" name="Line 17"/>
            <p:cNvSpPr>
              <a:spLocks noChangeShapeType="1"/>
            </p:cNvSpPr>
            <p:nvPr/>
          </p:nvSpPr>
          <p:spPr bwMode="auto">
            <a:xfrm>
              <a:off x="4184073" y="3188577"/>
              <a:ext cx="3664527" cy="58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 dirty="0">
                <a:latin typeface="+mn-lt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429689" y="4327627"/>
            <a:ext cx="3618302" cy="796514"/>
            <a:chOff x="4212115" y="5332681"/>
            <a:chExt cx="3618302" cy="796514"/>
          </a:xfrm>
        </p:grpSpPr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5584846" y="5332681"/>
              <a:ext cx="1284391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lt"/>
                  <a:ea typeface="宋体" charset="-122"/>
                  <a:cs typeface="Arial" panose="020B0604020202020204" pitchFamily="34" charset="0"/>
                </a:rPr>
                <a:t>Investment</a:t>
              </a:r>
            </a:p>
          </p:txBody>
        </p:sp>
        <p:sp>
          <p:nvSpPr>
            <p:cNvPr id="20" name="Text Box 8"/>
            <p:cNvSpPr txBox="1">
              <a:spLocks noChangeArrowheads="1"/>
            </p:cNvSpPr>
            <p:nvPr/>
          </p:nvSpPr>
          <p:spPr bwMode="auto">
            <a:xfrm>
              <a:off x="4623667" y="5762483"/>
              <a:ext cx="3206750" cy="3667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lt"/>
                  <a:ea typeface="宋体" charset="-122"/>
                  <a:cs typeface="Arial" panose="020B0604020202020204" pitchFamily="34" charset="0"/>
                </a:rPr>
                <a:t>P/E x (Terminal Net Income)</a:t>
              </a:r>
            </a:p>
          </p:txBody>
        </p:sp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4212115" y="5517347"/>
              <a:ext cx="338554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lt"/>
                  <a:ea typeface="宋体" charset="-122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>
              <a:off x="4669315" y="5702013"/>
              <a:ext cx="3048000" cy="0"/>
            </a:xfrm>
            <a:prstGeom prst="lin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0"/>
              <p:cNvSpPr txBox="1">
                <a:spLocks noChangeArrowheads="1"/>
              </p:cNvSpPr>
              <p:nvPr/>
            </p:nvSpPr>
            <p:spPr bwMode="auto">
              <a:xfrm>
                <a:off x="4934889" y="4402743"/>
                <a:ext cx="2289216" cy="742576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latin typeface="+mn-lt"/>
                    <a:ea typeface="宋体" charset="-122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/>
                        <a:ea typeface="宋体" charset="-122"/>
                      </a:rPr>
                      <m:t>  </m:t>
                    </m:r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/>
                            <a:ea typeface="Cambria Math"/>
                          </a:rPr>
                          <m:t>$3.5</m:t>
                        </m:r>
                        <m:r>
                          <a:rPr lang="en-US" altLang="zh-CN" sz="2000" b="0" i="1" smtClean="0">
                            <a:latin typeface="Cambria Math"/>
                            <a:ea typeface="Cambria Math"/>
                          </a:rPr>
                          <m:t>𝑀</m:t>
                        </m:r>
                      </m:num>
                      <m:den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/>
                                <a:ea typeface="宋体" charset="-122"/>
                              </a:rPr>
                              <m:t>15</m:t>
                            </m:r>
                            <m:r>
                              <a:rPr lang="en-US" altLang="zh-CN" sz="2000" i="1">
                                <a:latin typeface="Cambria Math"/>
                                <a:ea typeface="Cambria Math"/>
                              </a:rPr>
                              <m:t>×$2.5</m:t>
                            </m:r>
                            <m:r>
                              <a:rPr lang="en-US" altLang="zh-CN" sz="2000" i="1">
                                <a:latin typeface="Cambria Math"/>
                                <a:ea typeface="Cambria Math"/>
                              </a:rPr>
                              <m:t>𝑀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/>
                                    <a:ea typeface="宋体" charset="-122"/>
                                  </a:rPr>
                                  <m:t>(1+50%)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/>
                                    <a:ea typeface="宋体" charset="-122"/>
                                  </a:rPr>
                                  <m:t>5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n-US" altLang="zh-CN" sz="2000" b="0" i="1" smtClean="0">
                        <a:latin typeface="Cambria Math"/>
                        <a:ea typeface="宋体" charset="-122"/>
                      </a:rPr>
                      <m:t>=70.9%</m:t>
                    </m:r>
                  </m:oMath>
                </a14:m>
                <a:endParaRPr lang="en-US" altLang="zh-CN" sz="2000" dirty="0">
                  <a:latin typeface="+mn-lt"/>
                  <a:ea typeface="宋体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4889" y="4402743"/>
                <a:ext cx="2289216" cy="742576"/>
              </a:xfrm>
              <a:prstGeom prst="rect">
                <a:avLst/>
              </a:prstGeom>
              <a:blipFill rotWithShape="0">
                <a:blip r:embed="rId3"/>
                <a:stretch>
                  <a:fillRect l="-2933"/>
                </a:stretch>
              </a:blip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 24"/>
          <p:cNvSpPr/>
          <p:nvPr/>
        </p:nvSpPr>
        <p:spPr bwMode="auto">
          <a:xfrm>
            <a:off x="4434805" y="3038061"/>
            <a:ext cx="45719" cy="733663"/>
          </a:xfrm>
          <a:prstGeom prst="arc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MS PGothic" pitchFamily="34" charset="-128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687837" y="5172973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lt"/>
                <a:ea typeface="宋体" charset="-122"/>
                <a:cs typeface="Arial" panose="020B0604020202020204" pitchFamily="34" charset="0"/>
              </a:rPr>
              <a:t>(1 + IRR)</a:t>
            </a:r>
            <a:r>
              <a:rPr lang="en-US" altLang="zh-CN" b="1" baseline="30000" dirty="0">
                <a:latin typeface="+mn-lt"/>
                <a:ea typeface="宋体" charset="-122"/>
                <a:cs typeface="Arial" panose="020B0604020202020204" pitchFamily="34" charset="0"/>
              </a:rPr>
              <a:t>years</a:t>
            </a:r>
            <a:r>
              <a:rPr lang="en-US" altLang="zh-CN" b="1" dirty="0">
                <a:latin typeface="+mn-lt"/>
                <a:ea typeface="宋体" charset="-122"/>
                <a:cs typeface="Arial" panose="020B0604020202020204" pitchFamily="34" charset="0"/>
              </a:rPr>
              <a:t> </a:t>
            </a:r>
            <a:endParaRPr lang="zh-CN" altLang="en-US" dirty="0">
              <a:latin typeface="+mn-lt"/>
            </a:endParaRPr>
          </a:p>
        </p:txBody>
      </p:sp>
      <p:cxnSp>
        <p:nvCxnSpPr>
          <p:cNvPr id="28" name="Straight Connector 27"/>
          <p:cNvCxnSpPr/>
          <p:nvPr/>
        </p:nvCxnSpPr>
        <p:spPr bwMode="auto">
          <a:xfrm>
            <a:off x="1969731" y="5124141"/>
            <a:ext cx="288231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247089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Valuation Methodologies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cs typeface="Arial" panose="020B0604020202020204" pitchFamily="34" charset="0"/>
              </a:rPr>
              <a:t>- The Venture Capital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00000"/>
            </a:pPr>
            <a:r>
              <a:rPr lang="en-US" sz="2000" dirty="0">
                <a:cs typeface="Arial" panose="020B0604020202020204" pitchFamily="34" charset="0"/>
              </a:rPr>
              <a:t>MEC Example</a:t>
            </a:r>
          </a:p>
          <a:p>
            <a:pPr lvl="1">
              <a:buSzPct val="100000"/>
            </a:pPr>
            <a:r>
              <a:rPr lang="en-US" sz="1800" dirty="0">
                <a:cs typeface="Arial" panose="020B0604020202020204" pitchFamily="34" charset="0"/>
              </a:rPr>
              <a:t>Pricing the transaction</a:t>
            </a:r>
          </a:p>
          <a:p>
            <a:pPr lvl="2">
              <a:buSzPct val="100000"/>
            </a:pPr>
            <a:r>
              <a:rPr lang="en-US" sz="1600" dirty="0">
                <a:cs typeface="Arial" panose="020B0604020202020204" pitchFamily="34" charset="0"/>
              </a:rPr>
              <a:t>How much equity in MEC should the VC get in return for the cash investment?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latin typeface="+mn-lt"/>
                <a:cs typeface="Arial" panose="020B0604020202020204" pitchFamily="34" charset="0"/>
              </a:rPr>
              <a:t>Copyright © 2019 by Raphael ("Raffi")  Amit</a:t>
            </a:r>
            <a:endParaRPr lang="en-US" altLang="en-US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23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848033" y="2996631"/>
            <a:ext cx="7467600" cy="9144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1200" b="1" dirty="0">
              <a:solidFill>
                <a:schemeClr val="hlink"/>
              </a:solidFill>
              <a:ea typeface="宋体" charset="-122"/>
              <a:cs typeface="Arial" panose="020B0604020202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429689" y="3048595"/>
            <a:ext cx="6492875" cy="815827"/>
            <a:chOff x="1355725" y="2823945"/>
            <a:chExt cx="6492875" cy="815827"/>
          </a:xfrm>
        </p:grpSpPr>
        <p:sp>
          <p:nvSpPr>
            <p:cNvPr id="7" name="Text Box 14"/>
            <p:cNvSpPr txBox="1">
              <a:spLocks noChangeArrowheads="1"/>
            </p:cNvSpPr>
            <p:nvPr/>
          </p:nvSpPr>
          <p:spPr bwMode="auto">
            <a:xfrm>
              <a:off x="1355725" y="3009745"/>
              <a:ext cx="2759730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lt"/>
                  <a:ea typeface="宋体" charset="-122"/>
                  <a:cs typeface="Arial" panose="020B0604020202020204" pitchFamily="34" charset="0"/>
                </a:rPr>
                <a:t>Final Ownership Required =</a:t>
              </a:r>
            </a:p>
          </p:txBody>
        </p:sp>
        <p:sp>
          <p:nvSpPr>
            <p:cNvPr id="8" name="Text Box 15"/>
            <p:cNvSpPr txBox="1">
              <a:spLocks noChangeArrowheads="1"/>
            </p:cNvSpPr>
            <p:nvPr/>
          </p:nvSpPr>
          <p:spPr bwMode="auto">
            <a:xfrm>
              <a:off x="4621235" y="2823945"/>
              <a:ext cx="2683940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lt"/>
                  <a:ea typeface="宋体" charset="-122"/>
                  <a:cs typeface="Arial" panose="020B0604020202020204" pitchFamily="34" charset="0"/>
                </a:rPr>
                <a:t>Future Value of Investment</a:t>
              </a:r>
            </a:p>
          </p:txBody>
        </p:sp>
        <p:sp>
          <p:nvSpPr>
            <p:cNvPr id="9" name="Text Box 16"/>
            <p:cNvSpPr txBox="1">
              <a:spLocks noChangeArrowheads="1"/>
            </p:cNvSpPr>
            <p:nvPr/>
          </p:nvSpPr>
          <p:spPr bwMode="auto">
            <a:xfrm>
              <a:off x="5188634" y="3270440"/>
              <a:ext cx="1549142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lt"/>
                  <a:ea typeface="宋体" charset="-122"/>
                  <a:cs typeface="Arial" panose="020B0604020202020204" pitchFamily="34" charset="0"/>
                </a:rPr>
                <a:t>Terminal Value</a:t>
              </a:r>
            </a:p>
          </p:txBody>
        </p:sp>
        <p:sp>
          <p:nvSpPr>
            <p:cNvPr id="10" name="Line 17"/>
            <p:cNvSpPr>
              <a:spLocks noChangeShapeType="1"/>
            </p:cNvSpPr>
            <p:nvPr/>
          </p:nvSpPr>
          <p:spPr bwMode="auto">
            <a:xfrm>
              <a:off x="4184073" y="3188577"/>
              <a:ext cx="3664527" cy="58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 dirty="0">
                <a:latin typeface="+mn-lt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363950" y="4327628"/>
            <a:ext cx="3618302" cy="835726"/>
            <a:chOff x="4212115" y="5293469"/>
            <a:chExt cx="3618302" cy="835726"/>
          </a:xfrm>
        </p:grpSpPr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4774981" y="5293469"/>
              <a:ext cx="1284391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lt"/>
                  <a:ea typeface="宋体" charset="-122"/>
                  <a:cs typeface="Arial" panose="020B0604020202020204" pitchFamily="34" charset="0"/>
                </a:rPr>
                <a:t>Investment</a:t>
              </a:r>
            </a:p>
          </p:txBody>
        </p:sp>
        <p:sp>
          <p:nvSpPr>
            <p:cNvPr id="20" name="Text Box 8"/>
            <p:cNvSpPr txBox="1">
              <a:spLocks noChangeArrowheads="1"/>
            </p:cNvSpPr>
            <p:nvPr/>
          </p:nvSpPr>
          <p:spPr bwMode="auto">
            <a:xfrm>
              <a:off x="4623667" y="5762483"/>
              <a:ext cx="3206750" cy="3667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lt"/>
                  <a:ea typeface="宋体" charset="-122"/>
                  <a:cs typeface="Arial" panose="020B0604020202020204" pitchFamily="34" charset="0"/>
                </a:rPr>
                <a:t>P/E x (Terminal Net Income)</a:t>
              </a:r>
            </a:p>
          </p:txBody>
        </p:sp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4212115" y="5517347"/>
              <a:ext cx="338554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lt"/>
                  <a:ea typeface="宋体" charset="-122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>
              <a:off x="4669315" y="5702013"/>
              <a:ext cx="3048000" cy="0"/>
            </a:xfrm>
            <a:prstGeom prst="line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0"/>
              <p:cNvSpPr txBox="1">
                <a:spLocks noChangeArrowheads="1"/>
              </p:cNvSpPr>
              <p:nvPr/>
            </p:nvSpPr>
            <p:spPr bwMode="auto">
              <a:xfrm>
                <a:off x="4869150" y="4441956"/>
                <a:ext cx="3048527" cy="58843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latin typeface="+mn-lt"/>
                    <a:ea typeface="宋体" charset="-122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/>
                        <a:ea typeface="宋体" charset="-122"/>
                      </a:rPr>
                      <m:t>  </m:t>
                    </m:r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/>
                            <a:ea typeface="Cambria Math"/>
                          </a:rPr>
                          <m:t>$3.5</m:t>
                        </m:r>
                        <m:r>
                          <a:rPr lang="en-US" altLang="zh-CN" sz="2000" b="0" i="1" smtClean="0">
                            <a:latin typeface="Cambria Math"/>
                            <a:ea typeface="Cambria Math"/>
                          </a:rPr>
                          <m:t>𝑀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/>
                                <a:ea typeface="宋体" charset="-122"/>
                              </a:rPr>
                              <m:t>(1+50%)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/>
                                <a:ea typeface="宋体" charset="-122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15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×$2.5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a:rPr lang="en-US" altLang="zh-CN" sz="2000" b="0" i="1" smtClean="0">
                        <a:latin typeface="Cambria Math"/>
                        <a:ea typeface="宋体" charset="-122"/>
                      </a:rPr>
                      <m:t>=70.9%</m:t>
                    </m:r>
                  </m:oMath>
                </a14:m>
                <a:endParaRPr lang="en-US" altLang="zh-CN" sz="2000" dirty="0">
                  <a:latin typeface="+mn-lt"/>
                  <a:ea typeface="宋体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9150" y="4441956"/>
                <a:ext cx="3048527" cy="588431"/>
              </a:xfrm>
              <a:prstGeom prst="rect">
                <a:avLst/>
              </a:prstGeom>
              <a:blipFill rotWithShape="0">
                <a:blip r:embed="rId3"/>
                <a:stretch>
                  <a:fillRect l="-2200" b="-6250"/>
                </a:stretch>
              </a:blip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c 24"/>
          <p:cNvSpPr/>
          <p:nvPr/>
        </p:nvSpPr>
        <p:spPr bwMode="auto">
          <a:xfrm>
            <a:off x="4434805" y="3038061"/>
            <a:ext cx="45719" cy="733663"/>
          </a:xfrm>
          <a:prstGeom prst="arc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MS PGothic" pitchFamily="34" charset="-128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435520" y="4336029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lt"/>
                <a:ea typeface="宋体" charset="-122"/>
                <a:cs typeface="Arial" panose="020B0604020202020204" pitchFamily="34" charset="0"/>
              </a:rPr>
              <a:t>(1 + IRR)</a:t>
            </a:r>
            <a:r>
              <a:rPr lang="en-US" altLang="zh-CN" b="1" baseline="30000" dirty="0">
                <a:latin typeface="+mn-lt"/>
                <a:ea typeface="宋体" charset="-122"/>
                <a:cs typeface="Arial" panose="020B0604020202020204" pitchFamily="34" charset="0"/>
              </a:rPr>
              <a:t>years</a:t>
            </a:r>
            <a:r>
              <a:rPr lang="en-US" altLang="zh-CN" b="1" dirty="0">
                <a:latin typeface="+mn-lt"/>
                <a:ea typeface="宋体" charset="-122"/>
                <a:cs typeface="Arial" panose="020B0604020202020204" pitchFamily="34" charset="0"/>
              </a:rPr>
              <a:t> </a:t>
            </a:r>
            <a:endParaRPr lang="zh-CN" altLang="en-US" dirty="0">
              <a:latin typeface="+mn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64032" y="432762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lt"/>
                <a:ea typeface="宋体" charset="-122"/>
                <a:cs typeface="Arial" panose="020B0604020202020204" pitchFamily="34" charset="0"/>
              </a:rPr>
              <a:t>x</a:t>
            </a:r>
            <a:endParaRPr lang="zh-CN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5196653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Arial" panose="020B0604020202020204" pitchFamily="34" charset="0"/>
              </a:rPr>
              <a:t>Valuation Methodologies</a:t>
            </a:r>
            <a:b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800" dirty="0">
                <a:cs typeface="Arial" panose="020B0604020202020204" pitchFamily="34" charset="0"/>
              </a:rPr>
              <a:t>- The Venture Capital Method</a:t>
            </a:r>
            <a:endParaRPr lang="en-US"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00000"/>
            </a:pPr>
            <a:r>
              <a:rPr lang="en-US" sz="2000" dirty="0">
                <a:cs typeface="Arial" panose="020B0604020202020204" pitchFamily="34" charset="0"/>
              </a:rPr>
              <a:t>MEC Example</a:t>
            </a:r>
          </a:p>
          <a:p>
            <a:pPr lvl="1">
              <a:buSzPct val="100000"/>
            </a:pPr>
            <a:r>
              <a:rPr lang="en-US" sz="1800" dirty="0">
                <a:cs typeface="Arial" panose="020B0604020202020204" pitchFamily="34" charset="0"/>
              </a:rPr>
              <a:t>Computing shares to issue and share price</a:t>
            </a:r>
          </a:p>
          <a:p>
            <a:pPr lvl="2">
              <a:buSzPct val="100000"/>
            </a:pPr>
            <a:r>
              <a:rPr lang="en-US" sz="1600" dirty="0">
                <a:cs typeface="Arial" panose="020B0604020202020204" pitchFamily="34" charset="0"/>
              </a:rPr>
              <a:t>How many new shares does MEC have to issue?</a:t>
            </a:r>
          </a:p>
          <a:p>
            <a:pPr lvl="2">
              <a:buSzPct val="100000"/>
            </a:pPr>
            <a:r>
              <a:rPr lang="en-US" sz="1600" dirty="0">
                <a:cs typeface="Arial" panose="020B0604020202020204" pitchFamily="34" charset="0"/>
              </a:rPr>
              <a:t>At what price?</a:t>
            </a:r>
          </a:p>
          <a:p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871451" y="2951095"/>
            <a:ext cx="7467600" cy="9144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1200" b="1">
              <a:solidFill>
                <a:schemeClr val="hlink"/>
              </a:solidFill>
              <a:ea typeface="宋体" charset="-122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291071" y="2995029"/>
            <a:ext cx="6492875" cy="826532"/>
            <a:chOff x="1355725" y="2813411"/>
            <a:chExt cx="6492875" cy="826532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1355725" y="3009745"/>
              <a:ext cx="2798908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lt"/>
                  <a:ea typeface="宋体" charset="-122"/>
                  <a:cs typeface="Arial" panose="020B0604020202020204" pitchFamily="34" charset="0"/>
                </a:rPr>
                <a:t>% of Ownership Acquired =</a:t>
              </a:r>
            </a:p>
          </p:txBody>
        </p:sp>
        <p:sp>
          <p:nvSpPr>
            <p:cNvPr id="9" name="Text Box 15"/>
            <p:cNvSpPr txBox="1">
              <a:spLocks noChangeArrowheads="1"/>
            </p:cNvSpPr>
            <p:nvPr/>
          </p:nvSpPr>
          <p:spPr bwMode="auto">
            <a:xfrm>
              <a:off x="5327650" y="2813411"/>
              <a:ext cx="1250663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lt"/>
                  <a:ea typeface="宋体" charset="-122"/>
                  <a:cs typeface="Arial" panose="020B0604020202020204" pitchFamily="34" charset="0"/>
                </a:rPr>
                <a:t>New Shares</a:t>
              </a:r>
            </a:p>
          </p:txBody>
        </p:sp>
        <p:sp>
          <p:nvSpPr>
            <p:cNvPr id="10" name="Text Box 16"/>
            <p:cNvSpPr txBox="1">
              <a:spLocks noChangeArrowheads="1"/>
            </p:cNvSpPr>
            <p:nvPr/>
          </p:nvSpPr>
          <p:spPr bwMode="auto">
            <a:xfrm>
              <a:off x="4669905" y="3270611"/>
              <a:ext cx="2507418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lt"/>
                  <a:ea typeface="宋体" charset="-122"/>
                  <a:cs typeface="Arial" panose="020B0604020202020204" pitchFamily="34" charset="0"/>
                </a:rPr>
                <a:t>New Shares + Old Shares</a:t>
              </a:r>
            </a:p>
          </p:txBody>
        </p:sp>
        <p:sp>
          <p:nvSpPr>
            <p:cNvPr id="11" name="Line 17"/>
            <p:cNvSpPr>
              <a:spLocks noChangeShapeType="1"/>
            </p:cNvSpPr>
            <p:nvPr/>
          </p:nvSpPr>
          <p:spPr bwMode="auto">
            <a:xfrm>
              <a:off x="4184073" y="3188577"/>
              <a:ext cx="3664527" cy="58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871451" y="4017895"/>
            <a:ext cx="7467600" cy="9144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1200" b="1">
              <a:solidFill>
                <a:schemeClr val="hlink"/>
              </a:solidFill>
              <a:ea typeface="宋体" charset="-122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871451" y="5040761"/>
            <a:ext cx="7467600" cy="9144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1200" b="1">
              <a:solidFill>
                <a:schemeClr val="hlink"/>
              </a:solidFill>
              <a:ea typeface="宋体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980015" y="4173025"/>
                <a:ext cx="4676088" cy="604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New</m:t>
                      </m:r>
                      <m:r>
                        <a:rPr lang="en-US" sz="16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Shares</m:t>
                      </m:r>
                      <m:r>
                        <a:rPr lang="en-US" sz="1600" b="0" i="0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latin typeface="Cambria Math"/>
                            </a:rPr>
                            <m:t>%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of</m:t>
                          </m:r>
                          <m:r>
                            <a:rPr lang="en-US" sz="1600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ownership</m:t>
                          </m:r>
                        </m:num>
                        <m:den>
                          <m:r>
                            <a:rPr lang="en-US" sz="1600" b="0" i="0" smtClean="0">
                              <a:latin typeface="Cambria Math"/>
                            </a:rPr>
                            <m:t>1−(%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of</m:t>
                          </m:r>
                          <m:r>
                            <a:rPr lang="en-US" sz="1600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ownership</m:t>
                          </m:r>
                          <m:r>
                            <a:rPr lang="en-US" sz="1600" b="0" i="0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1600" b="0" i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  <a:ea typeface="Cambria Math"/>
                        </a:rPr>
                        <m:t>Old</m:t>
                      </m:r>
                      <m:r>
                        <a:rPr lang="en-US" sz="1600" b="0" i="0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  <a:ea typeface="Cambria Math"/>
                        </a:rPr>
                        <m:t>Shares</m:t>
                      </m:r>
                    </m:oMath>
                  </m:oMathPara>
                </a14:m>
                <a:endParaRPr lang="en-US" sz="1600" dirty="0"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015" y="4173025"/>
                <a:ext cx="4676088" cy="60414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335515" y="5213075"/>
                <a:ext cx="2582951" cy="553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Share</m:t>
                      </m:r>
                      <m:r>
                        <a:rPr lang="en-US" sz="16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Price</m:t>
                      </m:r>
                      <m:r>
                        <a:rPr lang="en-US" sz="1600" b="0" i="0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Investment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New</m:t>
                          </m:r>
                          <m:r>
                            <a:rPr lang="en-US" sz="1600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Shares</m:t>
                          </m:r>
                        </m:den>
                      </m:f>
                    </m:oMath>
                  </m:oMathPara>
                </a14:m>
                <a:endParaRPr lang="en-US" sz="1600" dirty="0"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515" y="5213075"/>
                <a:ext cx="2582951" cy="55335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485340" y="4161265"/>
                <a:ext cx="2599493" cy="5645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latin typeface="Cambria Math"/>
                              <a:ea typeface="Cambria Math"/>
                            </a:rPr>
                            <m:t>70.9%</m:t>
                          </m:r>
                        </m:num>
                        <m:den>
                          <m:r>
                            <a:rPr lang="en-US" sz="1600" b="0" i="0" smtClean="0">
                              <a:latin typeface="Cambria Math"/>
                              <a:ea typeface="Cambria Math"/>
                            </a:rPr>
                            <m:t>1−70.9%</m:t>
                          </m:r>
                        </m:den>
                      </m:f>
                      <m:r>
                        <a:rPr lang="en-US" sz="1600" b="0" i="0" smtClean="0">
                          <a:latin typeface="Cambria Math"/>
                          <a:ea typeface="Cambria Math"/>
                        </a:rPr>
                        <m:t>×1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  <a:ea typeface="Cambria Math"/>
                        </a:rPr>
                        <m:t>M</m:t>
                      </m:r>
                      <m:r>
                        <a:rPr lang="en-US" sz="1600" b="0" i="0" smtClean="0">
                          <a:latin typeface="Cambria Math"/>
                          <a:ea typeface="Cambria Math"/>
                        </a:rPr>
                        <m:t>=2.4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  <a:ea typeface="Cambria Math"/>
                        </a:rPr>
                        <m:t>M</m:t>
                      </m:r>
                    </m:oMath>
                  </m:oMathPara>
                </a14:m>
                <a:endParaRPr lang="en-US" sz="1600" dirty="0"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5340" y="4161265"/>
                <a:ext cx="2599493" cy="56457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776740" y="5205668"/>
                <a:ext cx="2223173" cy="5681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latin typeface="Cambria Math"/>
                            </a:rPr>
                            <m:t>$3.5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M</m:t>
                          </m:r>
                        </m:num>
                        <m:den>
                          <m:r>
                            <a:rPr lang="en-US" sz="1600" b="0" i="0" smtClean="0">
                              <a:latin typeface="Cambria Math"/>
                            </a:rPr>
                            <m:t>2.4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M</m:t>
                          </m:r>
                        </m:den>
                      </m:f>
                      <m:r>
                        <a:rPr lang="en-US" sz="1600" b="0" i="0" smtClean="0">
                          <a:latin typeface="Cambria Math"/>
                        </a:rPr>
                        <m:t>=$1.4/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/>
                        </a:rPr>
                        <m:t>share</m:t>
                      </m:r>
                    </m:oMath>
                  </m:oMathPara>
                </a14:m>
                <a:endParaRPr lang="en-US" sz="1600" dirty="0"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740" y="5205668"/>
                <a:ext cx="2223173" cy="56816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069176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  <p:bldP spid="26" grpId="0"/>
      <p:bldP spid="27" grpId="0"/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Arial" panose="020B0604020202020204" pitchFamily="34" charset="0"/>
              </a:rPr>
              <a:t>Valuation Methodologies</a:t>
            </a:r>
            <a:b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800" dirty="0">
                <a:cs typeface="Arial" panose="020B0604020202020204" pitchFamily="34" charset="0"/>
              </a:rPr>
              <a:t>- The Venture Capital Method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00000"/>
            </a:pPr>
            <a:r>
              <a:rPr lang="en-US" sz="2000" dirty="0">
                <a:cs typeface="Arial" panose="020B0604020202020204" pitchFamily="34" charset="0"/>
              </a:rPr>
              <a:t>MEC Example</a:t>
            </a:r>
          </a:p>
          <a:p>
            <a:pPr lvl="1">
              <a:buSzPct val="100000"/>
            </a:pPr>
            <a:r>
              <a:rPr lang="en-US" sz="1800" dirty="0">
                <a:cs typeface="Arial" panose="020B0604020202020204" pitchFamily="34" charset="0"/>
              </a:rPr>
              <a:t>Computing the implied valuation</a:t>
            </a:r>
          </a:p>
          <a:p>
            <a:pPr lvl="2">
              <a:buSzPct val="100000"/>
            </a:pPr>
            <a:r>
              <a:rPr lang="en-US" sz="1800" dirty="0">
                <a:cs typeface="Arial" panose="020B0604020202020204" pitchFamily="34" charset="0"/>
              </a:rPr>
              <a:t>What is MEC’s post-money value?</a:t>
            </a:r>
          </a:p>
          <a:p>
            <a:pPr lvl="2">
              <a:buSzPct val="100000"/>
            </a:pPr>
            <a:r>
              <a:rPr lang="en-US" sz="1800" dirty="0">
                <a:cs typeface="Arial" panose="020B0604020202020204" pitchFamily="34" charset="0"/>
              </a:rPr>
              <a:t>What is MEC’s pre-money value?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681182" y="3347007"/>
            <a:ext cx="7467600" cy="9144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1400" b="1">
              <a:solidFill>
                <a:schemeClr val="hlink"/>
              </a:solidFill>
              <a:ea typeface="宋体" charset="-122"/>
              <a:cs typeface="Arial" panose="020B0604020202020204" pitchFamily="34" charset="0"/>
            </a:endParaRPr>
          </a:p>
        </p:txBody>
      </p: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681182" y="4653953"/>
            <a:ext cx="7467600" cy="9144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1400" b="1">
              <a:solidFill>
                <a:schemeClr val="hlink"/>
              </a:solidFill>
              <a:ea typeface="宋体" charset="-122"/>
              <a:cs typeface="Arial" panose="020B0604020202020204" pitchFamily="34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715219" y="4930752"/>
            <a:ext cx="5408597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+mn-lt"/>
                <a:ea typeface="宋体" charset="-122"/>
                <a:cs typeface="Arial" panose="020B0604020202020204" pitchFamily="34" charset="0"/>
              </a:rPr>
              <a:t>Pre-Money Valuation = Post-Money Valuation – New Investment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309452" y="3534966"/>
                <a:ext cx="4774512" cy="5732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+mn-lt"/>
                    <a:cs typeface="Arial" panose="020B0604020202020204" pitchFamily="34" charset="0"/>
                  </a:rPr>
                  <a:t>Post-Money Valuation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Investment</m:t>
                        </m:r>
                      </m:num>
                      <m:den>
                        <m:r>
                          <a:rPr lang="en-US" sz="2000" b="0" i="0" smtClean="0">
                            <a:latin typeface="Cambria Math"/>
                          </a:rPr>
                          <m:t>%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of</m:t>
                        </m:r>
                        <m:r>
                          <a:rPr lang="en-US" sz="2000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Ownership</m:t>
                        </m:r>
                        <m:r>
                          <a:rPr lang="en-US" sz="2000" b="0" i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Acquired</m:t>
                        </m:r>
                      </m:den>
                    </m:f>
                  </m:oMath>
                </a14:m>
                <a:endParaRPr lang="en-US" sz="2000" dirty="0"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452" y="3534966"/>
                <a:ext cx="4774512" cy="573298"/>
              </a:xfrm>
              <a:prstGeom prst="rect">
                <a:avLst/>
              </a:prstGeom>
              <a:blipFill rotWithShape="1">
                <a:blip r:embed="rId3"/>
                <a:stretch>
                  <a:fillRect l="-1405"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083964" y="3524579"/>
                <a:ext cx="2041456" cy="5592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smtClean="0">
                            <a:latin typeface="Cambria Math"/>
                          </a:rPr>
                          <m:t>$3.5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M</m:t>
                        </m:r>
                      </m:num>
                      <m:den>
                        <m:r>
                          <a:rPr lang="en-US" sz="2000" b="0" i="0" smtClean="0">
                            <a:latin typeface="Cambria Math"/>
                          </a:rPr>
                          <m:t>70.9%</m:t>
                        </m:r>
                      </m:den>
                    </m:f>
                    <m:r>
                      <a:rPr lang="en-US" sz="2000" b="0" i="0" smtClean="0">
                        <a:latin typeface="Cambria Math"/>
                      </a:rPr>
                      <m:t>=$4.9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M</m:t>
                    </m:r>
                  </m:oMath>
                </a14:m>
                <a:endParaRPr lang="en-US" sz="2000" dirty="0"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964" y="3524579"/>
                <a:ext cx="2041456" cy="55925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5973186" y="4930752"/>
            <a:ext cx="2175596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+mn-lt"/>
                <a:ea typeface="宋体" charset="-122"/>
                <a:cs typeface="Arial" panose="020B0604020202020204" pitchFamily="34" charset="0"/>
              </a:rPr>
              <a:t>= $4.9M-$3.5M = $1.4M</a:t>
            </a:r>
          </a:p>
        </p:txBody>
      </p:sp>
    </p:spTree>
    <p:extLst>
      <p:ext uri="{BB962C8B-B14F-4D97-AF65-F5344CB8AC3E}">
        <p14:creationId xmlns:p14="http://schemas.microsoft.com/office/powerpoint/2010/main" val="1441774782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4" grpId="0"/>
      <p:bldP spid="15" grpId="0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Methodologies</a:t>
            </a:r>
            <a:br>
              <a:rPr lang="en-US" dirty="0"/>
            </a:br>
            <a:r>
              <a:rPr lang="en-US" sz="2800" dirty="0"/>
              <a:t>- Visualization of the Series A Financing of MEC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26</a:t>
            </a:fld>
            <a:endParaRPr lang="en-US" altLang="en-US"/>
          </a:p>
        </p:txBody>
      </p:sp>
      <p:grpSp>
        <p:nvGrpSpPr>
          <p:cNvPr id="3" name="Group 2"/>
          <p:cNvGrpSpPr/>
          <p:nvPr/>
        </p:nvGrpSpPr>
        <p:grpSpPr>
          <a:xfrm>
            <a:off x="295275" y="1430376"/>
            <a:ext cx="8210144" cy="4406343"/>
            <a:chOff x="110856" y="1439790"/>
            <a:chExt cx="8967938" cy="4668650"/>
          </a:xfrm>
        </p:grpSpPr>
        <p:sp>
          <p:nvSpPr>
            <p:cNvPr id="8" name="Text Box 2"/>
            <p:cNvSpPr txBox="1">
              <a:spLocks noChangeArrowheads="1"/>
            </p:cNvSpPr>
            <p:nvPr/>
          </p:nvSpPr>
          <p:spPr bwMode="auto">
            <a:xfrm>
              <a:off x="471610" y="1439790"/>
              <a:ext cx="4054475" cy="2038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US" sz="1400" b="1" dirty="0">
                  <a:latin typeface="+mn-lt"/>
                  <a:cs typeface="Arial" panose="020B0604020202020204" pitchFamily="34" charset="0"/>
                </a:rPr>
                <a:t>VC required IRR: 	50%</a:t>
              </a:r>
            </a:p>
            <a:p>
              <a:pPr algn="l" eaLnBrk="1" hangingPunct="1"/>
              <a:r>
                <a:rPr lang="en-US" sz="1400" b="1" dirty="0">
                  <a:latin typeface="+mn-lt"/>
                  <a:cs typeface="Arial" panose="020B0604020202020204" pitchFamily="34" charset="0"/>
                </a:rPr>
                <a:t>Amount of investment:  $3.5m</a:t>
              </a:r>
            </a:p>
            <a:p>
              <a:pPr algn="l" eaLnBrk="1" hangingPunct="1"/>
              <a:r>
                <a:rPr lang="en-US" sz="1400" b="1" dirty="0">
                  <a:latin typeface="+mn-lt"/>
                  <a:cs typeface="Arial" panose="020B0604020202020204" pitchFamily="34" charset="0"/>
                </a:rPr>
                <a:t>Term of investment:	5 years</a:t>
              </a:r>
            </a:p>
            <a:p>
              <a:pPr algn="l" eaLnBrk="1" hangingPunct="1"/>
              <a:r>
                <a:rPr lang="en-US" sz="1400" b="1" dirty="0">
                  <a:latin typeface="+mn-lt"/>
                  <a:cs typeface="Arial" panose="020B0604020202020204" pitchFamily="34" charset="0"/>
                </a:rPr>
                <a:t>Projected net income:    $2.5m</a:t>
              </a:r>
            </a:p>
            <a:p>
              <a:pPr algn="l" eaLnBrk="1" hangingPunct="1"/>
              <a:r>
                <a:rPr lang="en-US" sz="1400" b="1" dirty="0">
                  <a:latin typeface="+mn-lt"/>
                  <a:cs typeface="Arial" panose="020B0604020202020204" pitchFamily="34" charset="0"/>
                </a:rPr>
                <a:t>P/E multiple:	15x</a:t>
              </a:r>
            </a:p>
            <a:p>
              <a:pPr algn="l" eaLnBrk="1" hangingPunct="1"/>
              <a:r>
                <a:rPr lang="en-US" sz="1400" b="1" dirty="0">
                  <a:latin typeface="+mn-lt"/>
                  <a:cs typeface="Arial" panose="020B0604020202020204" pitchFamily="34" charset="0"/>
                </a:rPr>
                <a:t>Outstanding shares:	1,000,000</a:t>
              </a:r>
            </a:p>
          </p:txBody>
        </p:sp>
        <p:grpSp>
          <p:nvGrpSpPr>
            <p:cNvPr id="12" name="Group 6"/>
            <p:cNvGrpSpPr>
              <a:grpSpLocks/>
            </p:cNvGrpSpPr>
            <p:nvPr/>
          </p:nvGrpSpPr>
          <p:grpSpPr bwMode="auto">
            <a:xfrm>
              <a:off x="615892" y="5721090"/>
              <a:ext cx="8462902" cy="387350"/>
              <a:chOff x="-366" y="3747"/>
              <a:chExt cx="5996" cy="183"/>
            </a:xfrm>
          </p:grpSpPr>
          <p:sp>
            <p:nvSpPr>
              <p:cNvPr id="13" name="Line 7"/>
              <p:cNvSpPr>
                <a:spLocks noChangeShapeType="1"/>
              </p:cNvSpPr>
              <p:nvPr/>
            </p:nvSpPr>
            <p:spPr bwMode="auto">
              <a:xfrm flipV="1">
                <a:off x="203" y="3889"/>
                <a:ext cx="4882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4" name="Line 8"/>
              <p:cNvSpPr>
                <a:spLocks noChangeShapeType="1"/>
              </p:cNvSpPr>
              <p:nvPr/>
            </p:nvSpPr>
            <p:spPr bwMode="auto">
              <a:xfrm flipV="1">
                <a:off x="203" y="3798"/>
                <a:ext cx="0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5" name="Line 9"/>
              <p:cNvSpPr>
                <a:spLocks noChangeShapeType="1"/>
              </p:cNvSpPr>
              <p:nvPr/>
            </p:nvSpPr>
            <p:spPr bwMode="auto">
              <a:xfrm flipV="1">
                <a:off x="5082" y="3793"/>
                <a:ext cx="0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6" name="Text Box 10"/>
              <p:cNvSpPr txBox="1">
                <a:spLocks noChangeArrowheads="1"/>
              </p:cNvSpPr>
              <p:nvPr/>
            </p:nvSpPr>
            <p:spPr bwMode="auto">
              <a:xfrm>
                <a:off x="-366" y="3747"/>
                <a:ext cx="559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l" eaLnBrk="1" hangingPunct="1"/>
                <a:r>
                  <a:rPr lang="en-US" sz="1600" b="1" dirty="0">
                    <a:latin typeface="+mn-lt"/>
                    <a:cs typeface="Arial" panose="020B0604020202020204" pitchFamily="34" charset="0"/>
                  </a:rPr>
                  <a:t>Today</a:t>
                </a:r>
              </a:p>
            </p:txBody>
          </p:sp>
          <p:sp>
            <p:nvSpPr>
              <p:cNvPr id="17" name="Text Box 11"/>
              <p:cNvSpPr txBox="1">
                <a:spLocks noChangeArrowheads="1"/>
              </p:cNvSpPr>
              <p:nvPr/>
            </p:nvSpPr>
            <p:spPr bwMode="auto">
              <a:xfrm>
                <a:off x="5077" y="3761"/>
                <a:ext cx="553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l" eaLnBrk="1" hangingPunct="1"/>
                <a:r>
                  <a:rPr lang="en-US" sz="1600" b="1" dirty="0">
                    <a:latin typeface="+mn-lt"/>
                    <a:cs typeface="Arial" panose="020B0604020202020204" pitchFamily="34" charset="0"/>
                  </a:rPr>
                  <a:t>Year 5</a:t>
                </a:r>
              </a:p>
            </p:txBody>
          </p:sp>
        </p:grpSp>
        <p:grpSp>
          <p:nvGrpSpPr>
            <p:cNvPr id="18" name="Group 12"/>
            <p:cNvGrpSpPr>
              <a:grpSpLocks/>
            </p:cNvGrpSpPr>
            <p:nvPr/>
          </p:nvGrpSpPr>
          <p:grpSpPr bwMode="auto">
            <a:xfrm>
              <a:off x="6403871" y="2841538"/>
              <a:ext cx="1905000" cy="3095426"/>
              <a:chOff x="4320" y="2257"/>
              <a:chExt cx="1200" cy="1488"/>
            </a:xfrm>
          </p:grpSpPr>
          <p:sp>
            <p:nvSpPr>
              <p:cNvPr id="19" name="AutoShape 13"/>
              <p:cNvSpPr>
                <a:spLocks noChangeArrowheads="1"/>
              </p:cNvSpPr>
              <p:nvPr/>
            </p:nvSpPr>
            <p:spPr bwMode="auto">
              <a:xfrm>
                <a:off x="4320" y="2257"/>
                <a:ext cx="1200" cy="1488"/>
              </a:xfrm>
              <a:prstGeom prst="cube">
                <a:avLst>
                  <a:gd name="adj" fmla="val 25000"/>
                </a:avLst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US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20" name="Text Box 14"/>
              <p:cNvSpPr txBox="1">
                <a:spLocks noChangeArrowheads="1"/>
              </p:cNvSpPr>
              <p:nvPr/>
            </p:nvSpPr>
            <p:spPr bwMode="auto">
              <a:xfrm>
                <a:off x="4390" y="2807"/>
                <a:ext cx="833" cy="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400" b="1" dirty="0">
                    <a:latin typeface="+mn-lt"/>
                    <a:cs typeface="Arial" panose="020B0604020202020204" pitchFamily="34" charset="0"/>
                  </a:rPr>
                  <a:t>Net income</a:t>
                </a:r>
              </a:p>
              <a:p>
                <a:pPr eaLnBrk="1" hangingPunct="1"/>
                <a:r>
                  <a:rPr lang="en-US" sz="1400" b="1" dirty="0">
                    <a:latin typeface="+mn-lt"/>
                    <a:cs typeface="Arial" panose="020B0604020202020204" pitchFamily="34" charset="0"/>
                  </a:rPr>
                  <a:t>$2.5m</a:t>
                </a:r>
              </a:p>
              <a:p>
                <a:pPr eaLnBrk="1" hangingPunct="1"/>
                <a:endParaRPr lang="en-US" sz="1400" b="1" dirty="0">
                  <a:latin typeface="+mn-lt"/>
                  <a:cs typeface="Arial" panose="020B0604020202020204" pitchFamily="34" charset="0"/>
                </a:endParaRPr>
              </a:p>
              <a:p>
                <a:pPr eaLnBrk="1" hangingPunct="1"/>
                <a:r>
                  <a:rPr lang="en-US" sz="1400" b="1" dirty="0">
                    <a:latin typeface="+mn-lt"/>
                    <a:cs typeface="Arial" panose="020B0604020202020204" pitchFamily="34" charset="0"/>
                  </a:rPr>
                  <a:t>P/E multiple</a:t>
                </a:r>
              </a:p>
              <a:p>
                <a:pPr eaLnBrk="1" hangingPunct="1"/>
                <a:r>
                  <a:rPr lang="en-US" sz="1400" b="1" dirty="0">
                    <a:latin typeface="+mn-lt"/>
                    <a:cs typeface="Arial" panose="020B0604020202020204" pitchFamily="34" charset="0"/>
                  </a:rPr>
                  <a:t>15x</a:t>
                </a:r>
              </a:p>
            </p:txBody>
          </p:sp>
        </p:grpSp>
        <p:grpSp>
          <p:nvGrpSpPr>
            <p:cNvPr id="21" name="Group 15"/>
            <p:cNvGrpSpPr>
              <a:grpSpLocks/>
            </p:cNvGrpSpPr>
            <p:nvPr/>
          </p:nvGrpSpPr>
          <p:grpSpPr bwMode="auto">
            <a:xfrm>
              <a:off x="110856" y="3660687"/>
              <a:ext cx="2055813" cy="1328637"/>
              <a:chOff x="96" y="2449"/>
              <a:chExt cx="1036" cy="864"/>
            </a:xfrm>
          </p:grpSpPr>
          <p:sp>
            <p:nvSpPr>
              <p:cNvPr id="22" name="Line 16"/>
              <p:cNvSpPr>
                <a:spLocks noChangeShapeType="1"/>
              </p:cNvSpPr>
              <p:nvPr/>
            </p:nvSpPr>
            <p:spPr bwMode="auto">
              <a:xfrm>
                <a:off x="672" y="3025"/>
                <a:ext cx="38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96" y="2449"/>
                <a:ext cx="1036" cy="64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0" y="8613"/>
                      <a:pt x="0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5" y="13940"/>
                      <a:pt x="475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300"/>
                      <a:pt x="6247" y="20300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7"/>
                      <a:pt x="11036" y="21597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7"/>
                      <a:pt x="15802" y="18947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0"/>
                      <a:pt x="16758" y="0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0"/>
                      <a:pt x="13174" y="0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50"/>
                      <a:pt x="9358" y="650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2"/>
                      <a:pt x="5288" y="1972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10"/>
                      <a:pt x="2172" y="13110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anchor="ctr" anchorCtr="1"/>
              <a:lstStyle/>
              <a:p>
                <a:pPr>
                  <a:defRPr/>
                </a:pPr>
                <a:r>
                  <a:rPr lang="en-US" sz="1200" dirty="0">
                    <a:latin typeface="+mn-lt"/>
                    <a:cs typeface="Arial" panose="020B0604020202020204" pitchFamily="34" charset="0"/>
                  </a:rPr>
                  <a:t>Management and Employees: 29%</a:t>
                </a:r>
              </a:p>
            </p:txBody>
          </p:sp>
        </p:grpSp>
        <p:grpSp>
          <p:nvGrpSpPr>
            <p:cNvPr id="26" name="Group 20"/>
            <p:cNvGrpSpPr>
              <a:grpSpLocks/>
            </p:cNvGrpSpPr>
            <p:nvPr/>
          </p:nvGrpSpPr>
          <p:grpSpPr bwMode="auto">
            <a:xfrm>
              <a:off x="2076290" y="3660683"/>
              <a:ext cx="1581623" cy="1328641"/>
              <a:chOff x="1104" y="2449"/>
              <a:chExt cx="846" cy="864"/>
            </a:xfrm>
          </p:grpSpPr>
          <p:sp>
            <p:nvSpPr>
              <p:cNvPr id="27" name="Line 21"/>
              <p:cNvSpPr>
                <a:spLocks noChangeShapeType="1"/>
              </p:cNvSpPr>
              <p:nvPr/>
            </p:nvSpPr>
            <p:spPr bwMode="auto">
              <a:xfrm flipH="1">
                <a:off x="1104" y="3025"/>
                <a:ext cx="48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8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1152" y="2449"/>
                <a:ext cx="798" cy="64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0" y="8613"/>
                      <a:pt x="0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5" y="13940"/>
                      <a:pt x="475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300"/>
                      <a:pt x="6247" y="20300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7"/>
                      <a:pt x="11036" y="21597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7"/>
                      <a:pt x="15802" y="18947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0"/>
                      <a:pt x="16758" y="0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0"/>
                      <a:pt x="13174" y="0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50"/>
                      <a:pt x="9358" y="650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2"/>
                      <a:pt x="5288" y="1972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10"/>
                      <a:pt x="2172" y="13110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bg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anchor="ctr" anchorCtr="1"/>
              <a:lstStyle/>
              <a:p>
                <a:pPr>
                  <a:defRPr/>
                </a:pPr>
                <a:r>
                  <a:rPr lang="en-US" sz="1200" dirty="0">
                    <a:latin typeface="+mn-lt"/>
                    <a:cs typeface="Arial" panose="020B0604020202020204" pitchFamily="34" charset="0"/>
                  </a:rPr>
                  <a:t>VCs: 71%</a:t>
                </a:r>
              </a:p>
            </p:txBody>
          </p:sp>
        </p:grpSp>
        <p:grpSp>
          <p:nvGrpSpPr>
            <p:cNvPr id="31" name="Group 25"/>
            <p:cNvGrpSpPr>
              <a:grpSpLocks/>
            </p:cNvGrpSpPr>
            <p:nvPr/>
          </p:nvGrpSpPr>
          <p:grpSpPr bwMode="auto">
            <a:xfrm>
              <a:off x="1419121" y="3332498"/>
              <a:ext cx="4985224" cy="2604468"/>
              <a:chOff x="624" y="2568"/>
              <a:chExt cx="3609" cy="1177"/>
            </a:xfrm>
          </p:grpSpPr>
          <p:sp>
            <p:nvSpPr>
              <p:cNvPr id="32" name="AutoShape 26"/>
              <p:cNvSpPr>
                <a:spLocks noChangeArrowheads="1"/>
              </p:cNvSpPr>
              <p:nvPr/>
            </p:nvSpPr>
            <p:spPr bwMode="auto">
              <a:xfrm>
                <a:off x="624" y="3265"/>
                <a:ext cx="864" cy="480"/>
              </a:xfrm>
              <a:prstGeom prst="cube">
                <a:avLst>
                  <a:gd name="adj" fmla="val 25000"/>
                </a:avLst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US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33" name="Line 27"/>
              <p:cNvSpPr>
                <a:spLocks noChangeShapeType="1"/>
              </p:cNvSpPr>
              <p:nvPr/>
            </p:nvSpPr>
            <p:spPr bwMode="auto">
              <a:xfrm flipV="1">
                <a:off x="1300" y="3745"/>
                <a:ext cx="29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34" name="Line 28"/>
              <p:cNvSpPr>
                <a:spLocks noChangeShapeType="1"/>
              </p:cNvSpPr>
              <p:nvPr/>
            </p:nvSpPr>
            <p:spPr bwMode="auto">
              <a:xfrm flipH="1">
                <a:off x="1488" y="2568"/>
                <a:ext cx="2722" cy="6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35" name="Text Box 29"/>
              <p:cNvSpPr txBox="1">
                <a:spLocks noChangeArrowheads="1"/>
              </p:cNvSpPr>
              <p:nvPr/>
            </p:nvSpPr>
            <p:spPr bwMode="auto">
              <a:xfrm rot="20185650">
                <a:off x="2425" y="2652"/>
                <a:ext cx="1387" cy="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l" eaLnBrk="1" hangingPunct="1"/>
                <a:r>
                  <a:rPr lang="en-US" sz="1400" b="1" dirty="0">
                    <a:latin typeface="+mn-lt"/>
                  </a:rPr>
                  <a:t>discount rate = 50%</a:t>
                </a:r>
              </a:p>
            </p:txBody>
          </p:sp>
        </p:grpSp>
        <p:sp>
          <p:nvSpPr>
            <p:cNvPr id="36" name="Text Box 30"/>
            <p:cNvSpPr txBox="1">
              <a:spLocks noChangeArrowheads="1"/>
            </p:cNvSpPr>
            <p:nvPr/>
          </p:nvSpPr>
          <p:spPr bwMode="auto">
            <a:xfrm>
              <a:off x="5491441" y="2523267"/>
              <a:ext cx="3587353" cy="326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 b="1" dirty="0">
                  <a:latin typeface="+mn-lt"/>
                  <a:cs typeface="Arial" panose="020B0604020202020204" pitchFamily="34" charset="0"/>
                </a:rPr>
                <a:t>Value in 5 Years = $2.5m x 15 = $37.5m</a:t>
              </a:r>
            </a:p>
          </p:txBody>
        </p:sp>
      </p:grpSp>
      <p:sp>
        <p:nvSpPr>
          <p:cNvPr id="6" name="Rectangle 5"/>
          <p:cNvSpPr/>
          <p:nvPr/>
        </p:nvSpPr>
        <p:spPr bwMode="auto">
          <a:xfrm>
            <a:off x="1505795" y="5173645"/>
            <a:ext cx="838196" cy="5092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24" name="Straight Arrow Connector 23"/>
          <p:cNvCxnSpPr/>
          <p:nvPr/>
        </p:nvCxnSpPr>
        <p:spPr bwMode="auto">
          <a:xfrm flipH="1">
            <a:off x="2039304" y="5428269"/>
            <a:ext cx="820390" cy="511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810214" y="5275975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+mn-lt"/>
              </a:rPr>
              <a:t>$3.5m</a:t>
            </a:r>
            <a:endParaRPr lang="zh-CN" altLang="en-US" sz="1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8290060"/>
      </p:ext>
    </p:extLst>
  </p:cSld>
  <p:clrMapOvr>
    <a:masterClrMapping/>
  </p:clrMapOvr>
  <p:transition spd="med">
    <p:pull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4130"/>
            <a:ext cx="8229600" cy="453679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400" dirty="0"/>
              <a:t>Basic Steps</a:t>
            </a:r>
            <a:endParaRPr lang="en-US" altLang="zh-CN" sz="1800" u="sng" dirty="0">
              <a:ea typeface="宋体" charset="-122"/>
            </a:endParaRPr>
          </a:p>
          <a:p>
            <a:pPr lvl="1">
              <a:spcBef>
                <a:spcPct val="50000"/>
              </a:spcBef>
            </a:pPr>
            <a:endParaRPr lang="en-US" altLang="zh-CN" sz="1800" u="sng" dirty="0">
              <a:ea typeface="宋体" charset="-122"/>
            </a:endParaRPr>
          </a:p>
          <a:p>
            <a:pPr lvl="1">
              <a:spcBef>
                <a:spcPct val="50000"/>
              </a:spcBef>
            </a:pPr>
            <a:endParaRPr lang="en-US" altLang="zh-CN" sz="1800" u="sng" dirty="0">
              <a:ea typeface="宋体" charset="-122"/>
            </a:endParaRPr>
          </a:p>
          <a:p>
            <a:pPr lvl="1">
              <a:spcBef>
                <a:spcPct val="50000"/>
              </a:spcBef>
            </a:pPr>
            <a:endParaRPr lang="en-US" altLang="zh-CN" sz="1800" u="sng" dirty="0">
              <a:ea typeface="宋体" charset="-122"/>
            </a:endParaRPr>
          </a:p>
          <a:p>
            <a:pPr lvl="1">
              <a:spcBef>
                <a:spcPct val="50000"/>
              </a:spcBef>
            </a:pPr>
            <a:endParaRPr lang="en-US" altLang="zh-CN" sz="1800" u="sng" dirty="0">
              <a:ea typeface="宋体" charset="-122"/>
            </a:endParaRPr>
          </a:p>
          <a:p>
            <a:pPr lvl="1">
              <a:spcBef>
                <a:spcPct val="50000"/>
              </a:spcBef>
            </a:pPr>
            <a:endParaRPr lang="en-US" altLang="zh-CN" sz="1800" u="sng" dirty="0">
              <a:ea typeface="宋体" charset="-122"/>
            </a:endParaRPr>
          </a:p>
          <a:p>
            <a:pPr marL="344487" lvl="1" indent="0">
              <a:spcBef>
                <a:spcPct val="50000"/>
              </a:spcBef>
              <a:buNone/>
            </a:pPr>
            <a:endParaRPr lang="en-US" altLang="zh-CN" sz="1800" u="sng" dirty="0">
              <a:ea typeface="宋体" charset="-122"/>
            </a:endParaRPr>
          </a:p>
          <a:p>
            <a:pPr lvl="1">
              <a:spcBef>
                <a:spcPct val="50000"/>
              </a:spcBef>
            </a:pPr>
            <a:endParaRPr lang="en-US" altLang="zh-CN" sz="1800" u="sng" dirty="0">
              <a:ea typeface="宋体" charset="-122"/>
            </a:endParaRPr>
          </a:p>
          <a:p>
            <a:pPr lvl="1">
              <a:spcBef>
                <a:spcPct val="50000"/>
              </a:spcBef>
            </a:pPr>
            <a:endParaRPr lang="en-US" altLang="zh-CN" sz="1800" u="sng" dirty="0">
              <a:ea typeface="宋体" charset="-122"/>
            </a:endParaRPr>
          </a:p>
          <a:p>
            <a:pPr lvl="1">
              <a:spcBef>
                <a:spcPct val="50000"/>
              </a:spcBef>
            </a:pPr>
            <a:r>
              <a:rPr lang="en-US" altLang="zh-CN" sz="1800" u="sng" dirty="0">
                <a:ea typeface="宋体" charset="-122"/>
              </a:rPr>
              <a:t>Step 4</a:t>
            </a:r>
            <a:r>
              <a:rPr lang="en-US" altLang="zh-CN" sz="1800" dirty="0">
                <a:ea typeface="宋体" charset="-122"/>
              </a:rPr>
              <a:t>: Anticipate and Calculate Dilution</a:t>
            </a:r>
          </a:p>
          <a:p>
            <a:pPr lvl="2"/>
            <a:endParaRPr lang="en-US" sz="1400" dirty="0"/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27</a:t>
            </a:fld>
            <a:endParaRPr lang="en-US" altLang="en-US"/>
          </a:p>
        </p:txBody>
      </p:sp>
      <p:pic>
        <p:nvPicPr>
          <p:cNvPr id="6" name="Picture 2" descr="http://www.alleywatch.com/wp-content/uploads/2013/07/valuatio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632" y="356050"/>
            <a:ext cx="1903647" cy="126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 bwMode="auto">
          <a:xfrm flipV="1">
            <a:off x="2212238" y="2450435"/>
            <a:ext cx="28322" cy="264609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 bwMode="auto">
          <a:xfrm>
            <a:off x="1585106" y="3942066"/>
            <a:ext cx="5696792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2952" y="2523264"/>
            <a:ext cx="1249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Cumulative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0822" y="4019210"/>
            <a:ext cx="517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Time</a:t>
            </a:r>
          </a:p>
        </p:txBody>
      </p:sp>
      <p:sp>
        <p:nvSpPr>
          <p:cNvPr id="11" name="Freeform 10"/>
          <p:cNvSpPr/>
          <p:nvPr/>
        </p:nvSpPr>
        <p:spPr bwMode="auto">
          <a:xfrm>
            <a:off x="2216284" y="2426158"/>
            <a:ext cx="3948914" cy="2599839"/>
          </a:xfrm>
          <a:custGeom>
            <a:avLst/>
            <a:gdLst>
              <a:gd name="connsiteX0" fmla="*/ 0 w 3948914"/>
              <a:gd name="connsiteY0" fmla="*/ 1513211 h 2599839"/>
              <a:gd name="connsiteX1" fmla="*/ 979137 w 3948914"/>
              <a:gd name="connsiteY1" fmla="*/ 1836892 h 2599839"/>
              <a:gd name="connsiteX2" fmla="*/ 1699328 w 3948914"/>
              <a:gd name="connsiteY2" fmla="*/ 2532807 h 2599839"/>
              <a:gd name="connsiteX3" fmla="*/ 3948914 w 3948914"/>
              <a:gd name="connsiteY3" fmla="*/ 0 h 2599839"/>
              <a:gd name="connsiteX4" fmla="*/ 3948914 w 3948914"/>
              <a:gd name="connsiteY4" fmla="*/ 0 h 2599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8914" h="2599839">
                <a:moveTo>
                  <a:pt x="0" y="1513211"/>
                </a:moveTo>
                <a:cubicBezTo>
                  <a:pt x="347958" y="1590085"/>
                  <a:pt x="695916" y="1666959"/>
                  <a:pt x="979137" y="1836892"/>
                </a:cubicBezTo>
                <a:cubicBezTo>
                  <a:pt x="1262358" y="2006825"/>
                  <a:pt x="1204365" y="2838956"/>
                  <a:pt x="1699328" y="2532807"/>
                </a:cubicBezTo>
                <a:cubicBezTo>
                  <a:pt x="2194291" y="2226658"/>
                  <a:pt x="3948914" y="0"/>
                  <a:pt x="3948914" y="0"/>
                </a:cubicBezTo>
                <a:lnTo>
                  <a:pt x="3948914" y="0"/>
                </a:lnTo>
              </a:path>
            </a:pathLst>
          </a:cu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27349" y="2246265"/>
            <a:ext cx="4545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910" y="4291406"/>
            <a:ext cx="9723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Investment</a:t>
            </a:r>
          </a:p>
        </p:txBody>
      </p:sp>
      <p:cxnSp>
        <p:nvCxnSpPr>
          <p:cNvPr id="14" name="Straight Arrow Connector 13"/>
          <p:cNvCxnSpPr>
            <a:stCxn id="13" idx="0"/>
          </p:cNvCxnSpPr>
          <p:nvPr/>
        </p:nvCxnSpPr>
        <p:spPr bwMode="auto">
          <a:xfrm flipV="1">
            <a:off x="1585106" y="4003282"/>
            <a:ext cx="550258" cy="288124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1"/>
          </p:cNvCxnSpPr>
          <p:nvPr/>
        </p:nvCxnSpPr>
        <p:spPr bwMode="auto">
          <a:xfrm flipH="1">
            <a:off x="6270395" y="2377070"/>
            <a:ext cx="556954" cy="7695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13906" y="4220601"/>
            <a:ext cx="8963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+mn-lt"/>
              </a:rPr>
              <a:t>Death Valley</a:t>
            </a: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3308709" y="2954151"/>
            <a:ext cx="0" cy="1468060"/>
          </a:xfrm>
          <a:prstGeom prst="line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12593" y="2965403"/>
            <a:ext cx="9151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Product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2031" y="2954151"/>
            <a:ext cx="12587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Product Commercialization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8340" y="4819531"/>
            <a:ext cx="1355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Success of Product</a:t>
            </a:r>
          </a:p>
        </p:txBody>
      </p:sp>
      <p:cxnSp>
        <p:nvCxnSpPr>
          <p:cNvPr id="21" name="Straight Arrow Connector 20"/>
          <p:cNvCxnSpPr>
            <a:stCxn id="20" idx="1"/>
          </p:cNvCxnSpPr>
          <p:nvPr/>
        </p:nvCxnSpPr>
        <p:spPr bwMode="auto">
          <a:xfrm flipH="1">
            <a:off x="4091386" y="4950336"/>
            <a:ext cx="556954" cy="770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05420" y="4190652"/>
            <a:ext cx="14219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Success as a business</a:t>
            </a:r>
          </a:p>
        </p:txBody>
      </p:sp>
      <p:cxnSp>
        <p:nvCxnSpPr>
          <p:cNvPr id="23" name="Straight Arrow Connector 22"/>
          <p:cNvCxnSpPr>
            <a:stCxn id="22" idx="1"/>
          </p:cNvCxnSpPr>
          <p:nvPr/>
        </p:nvCxnSpPr>
        <p:spPr bwMode="auto">
          <a:xfrm flipH="1" flipV="1">
            <a:off x="4959486" y="4003282"/>
            <a:ext cx="445934" cy="318175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1045336" y="4272560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7206259" y="2163861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8195673" y="2148470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7964912" y="2139445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7710550" y="2148472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7460671" y="2148471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Freeform 43"/>
          <p:cNvSpPr/>
          <p:nvPr/>
        </p:nvSpPr>
        <p:spPr bwMode="auto">
          <a:xfrm>
            <a:off x="2220330" y="2436153"/>
            <a:ext cx="3965098" cy="1810264"/>
          </a:xfrm>
          <a:custGeom>
            <a:avLst/>
            <a:gdLst>
              <a:gd name="connsiteX0" fmla="*/ 0 w 3965098"/>
              <a:gd name="connsiteY0" fmla="*/ 1505118 h 1810264"/>
              <a:gd name="connsiteX1" fmla="*/ 1408015 w 3965098"/>
              <a:gd name="connsiteY1" fmla="*/ 1699327 h 1810264"/>
              <a:gd name="connsiteX2" fmla="*/ 3965098 w 3965098"/>
              <a:gd name="connsiteY2" fmla="*/ 0 h 1810264"/>
              <a:gd name="connsiteX3" fmla="*/ 3965098 w 3965098"/>
              <a:gd name="connsiteY3" fmla="*/ 0 h 181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65098" h="1810264">
                <a:moveTo>
                  <a:pt x="0" y="1505118"/>
                </a:moveTo>
                <a:cubicBezTo>
                  <a:pt x="373582" y="1727649"/>
                  <a:pt x="747165" y="1950180"/>
                  <a:pt x="1408015" y="1699327"/>
                </a:cubicBezTo>
                <a:cubicBezTo>
                  <a:pt x="2068865" y="1448474"/>
                  <a:pt x="3965098" y="0"/>
                  <a:pt x="3965098" y="0"/>
                </a:cubicBezTo>
                <a:lnTo>
                  <a:pt x="3965098" y="0"/>
                </a:lnTo>
              </a:path>
            </a:pathLst>
          </a:custGeom>
          <a:ln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370887" y="4793990"/>
            <a:ext cx="8569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Investment</a:t>
            </a:r>
          </a:p>
        </p:txBody>
      </p:sp>
      <p:cxnSp>
        <p:nvCxnSpPr>
          <p:cNvPr id="50" name="Straight Arrow Connector 49"/>
          <p:cNvCxnSpPr>
            <a:stCxn id="49" idx="3"/>
          </p:cNvCxnSpPr>
          <p:nvPr/>
        </p:nvCxnSpPr>
        <p:spPr bwMode="auto">
          <a:xfrm>
            <a:off x="3227789" y="4924795"/>
            <a:ext cx="234242" cy="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4" descr="http://fastcashresource.keepyermoney.com/shiny-gold-dollar-sign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3" t="7871" r="30728" b="8852"/>
          <a:stretch/>
        </p:blipFill>
        <p:spPr bwMode="auto">
          <a:xfrm>
            <a:off x="2252414" y="4713913"/>
            <a:ext cx="201976" cy="3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Straight Connector 59"/>
          <p:cNvCxnSpPr/>
          <p:nvPr/>
        </p:nvCxnSpPr>
        <p:spPr bwMode="auto">
          <a:xfrm flipV="1">
            <a:off x="6827349" y="3430849"/>
            <a:ext cx="633322" cy="11252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 bwMode="auto">
          <a:xfrm flipV="1">
            <a:off x="6827349" y="3066219"/>
            <a:ext cx="633322" cy="11252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17802" y="2941040"/>
            <a:ext cx="9723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Company 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61659" y="3305670"/>
            <a:ext cx="8846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Company 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2462" y="4834920"/>
            <a:ext cx="1249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Cumulative Loss</a:t>
            </a:r>
          </a:p>
        </p:txBody>
      </p:sp>
    </p:spTree>
    <p:extLst>
      <p:ext uri="{BB962C8B-B14F-4D97-AF65-F5344CB8AC3E}">
        <p14:creationId xmlns:p14="http://schemas.microsoft.com/office/powerpoint/2010/main" val="1167914506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  <p:bldP spid="6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4591"/>
            <a:ext cx="8229600" cy="449633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400" dirty="0"/>
              <a:t>Basic Steps</a:t>
            </a:r>
            <a:endParaRPr lang="en-US" altLang="zh-CN" sz="1800" u="sng" dirty="0">
              <a:ea typeface="宋体" charset="-122"/>
            </a:endParaRPr>
          </a:p>
          <a:p>
            <a:pPr lvl="1">
              <a:spcBef>
                <a:spcPct val="50000"/>
              </a:spcBef>
            </a:pPr>
            <a:r>
              <a:rPr lang="en-US" altLang="zh-CN" sz="1800" u="sng" dirty="0">
                <a:ea typeface="宋体" charset="-122"/>
              </a:rPr>
              <a:t>Step 4a</a:t>
            </a:r>
            <a:r>
              <a:rPr lang="en-US" altLang="zh-CN" sz="1800" dirty="0">
                <a:ea typeface="宋体" charset="-122"/>
              </a:rPr>
              <a:t>: Anticipate and Calculate Dilution</a:t>
            </a:r>
          </a:p>
          <a:p>
            <a:pPr lvl="2">
              <a:spcBef>
                <a:spcPct val="50000"/>
              </a:spcBef>
            </a:pPr>
            <a:r>
              <a:rPr lang="en-US" altLang="zh-CN" sz="1600" dirty="0">
                <a:ea typeface="宋体" charset="-122"/>
              </a:rPr>
              <a:t>E.g., size of future stock option plan, next rounds of financings</a:t>
            </a:r>
          </a:p>
          <a:p>
            <a:pPr lvl="2">
              <a:spcBef>
                <a:spcPct val="50000"/>
              </a:spcBef>
            </a:pPr>
            <a:r>
              <a:rPr lang="en-US" altLang="zh-CN" sz="1600" b="1" dirty="0">
                <a:solidFill>
                  <a:srgbClr val="0066FF"/>
                </a:solidFill>
                <a:ea typeface="宋体" charset="-122"/>
              </a:rPr>
              <a:t>% of Dilution in round T= Required final % of ownership of investors in round T using Step 1-3</a:t>
            </a:r>
            <a:endParaRPr lang="en-US" altLang="zh-CN" sz="1800" u="sng" dirty="0">
              <a:solidFill>
                <a:srgbClr val="0066FF"/>
              </a:solidFill>
              <a:ea typeface="宋体" charset="-122"/>
            </a:endParaRPr>
          </a:p>
          <a:p>
            <a:pPr lvl="1">
              <a:spcBef>
                <a:spcPct val="50000"/>
              </a:spcBef>
            </a:pPr>
            <a:r>
              <a:rPr lang="en-US" altLang="zh-CN" sz="1800" u="sng" dirty="0">
                <a:ea typeface="宋体" charset="-122"/>
              </a:rPr>
              <a:t>Step 4b</a:t>
            </a:r>
            <a:r>
              <a:rPr lang="en-US" altLang="zh-CN" sz="1800" dirty="0">
                <a:ea typeface="宋体" charset="-122"/>
              </a:rPr>
              <a:t>: Calculate retention ratio</a:t>
            </a:r>
          </a:p>
          <a:p>
            <a:pPr lvl="2">
              <a:spcBef>
                <a:spcPct val="50000"/>
              </a:spcBef>
            </a:pPr>
            <a:r>
              <a:rPr lang="en-US" altLang="zh-CN" sz="1600" b="1" dirty="0">
                <a:solidFill>
                  <a:srgbClr val="0066FF"/>
                </a:solidFill>
                <a:ea typeface="宋体" charset="-122"/>
              </a:rPr>
              <a:t>Formula 1: retention ratio = 100% - cumulative % of dilution in the future </a:t>
            </a:r>
          </a:p>
          <a:p>
            <a:pPr lvl="2">
              <a:spcBef>
                <a:spcPct val="50000"/>
              </a:spcBef>
            </a:pPr>
            <a:r>
              <a:rPr lang="en-US" altLang="zh-CN" sz="1600" b="1" dirty="0">
                <a:solidFill>
                  <a:srgbClr val="0066FF"/>
                </a:solidFill>
                <a:ea typeface="宋体" charset="-122"/>
              </a:rPr>
              <a:t>*Formula 2: retention ratio = 1/(1+% of dilution in round T)/(1+% of dilution in round T-1)/……. </a:t>
            </a:r>
            <a:endParaRPr lang="en-US" altLang="zh-CN" sz="1800" u="sng" dirty="0">
              <a:solidFill>
                <a:srgbClr val="0066FF"/>
              </a:solidFill>
              <a:ea typeface="宋体" charset="-122"/>
            </a:endParaRPr>
          </a:p>
          <a:p>
            <a:pPr lvl="1">
              <a:spcBef>
                <a:spcPct val="50000"/>
              </a:spcBef>
            </a:pPr>
            <a:r>
              <a:rPr lang="en-US" altLang="zh-CN" sz="1800" u="sng" dirty="0">
                <a:ea typeface="宋体" charset="-122"/>
              </a:rPr>
              <a:t>Step 4c</a:t>
            </a:r>
            <a:r>
              <a:rPr lang="en-US" altLang="zh-CN" sz="1800" dirty="0">
                <a:ea typeface="宋体" charset="-122"/>
              </a:rPr>
              <a:t>: Calculate required </a:t>
            </a:r>
            <a:r>
              <a:rPr lang="en-US" altLang="zh-CN" sz="1800" b="1" dirty="0">
                <a:solidFill>
                  <a:srgbClr val="0066FF"/>
                </a:solidFill>
                <a:ea typeface="宋体" charset="-122"/>
              </a:rPr>
              <a:t>current</a:t>
            </a:r>
            <a:r>
              <a:rPr lang="en-US" altLang="zh-CN" sz="1800" dirty="0">
                <a:ea typeface="宋体" charset="-122"/>
              </a:rPr>
              <a:t> % ownership</a:t>
            </a:r>
          </a:p>
          <a:p>
            <a:pPr lvl="2">
              <a:spcBef>
                <a:spcPct val="50000"/>
              </a:spcBef>
            </a:pPr>
            <a:r>
              <a:rPr lang="en-US" altLang="zh-CN" sz="1600" b="1" dirty="0">
                <a:solidFill>
                  <a:srgbClr val="0066FF"/>
                </a:solidFill>
                <a:ea typeface="宋体" charset="-122"/>
              </a:rPr>
              <a:t>Required current % ownership = Required final % of ownership / retention ratio</a:t>
            </a:r>
          </a:p>
          <a:p>
            <a:pPr lvl="2"/>
            <a:endParaRPr lang="en-US" sz="1400" dirty="0"/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28</a:t>
            </a:fld>
            <a:endParaRPr lang="en-US" altLang="en-US"/>
          </a:p>
        </p:txBody>
      </p:sp>
      <p:pic>
        <p:nvPicPr>
          <p:cNvPr id="6" name="Picture 2" descr="http://www.alleywatch.com/wp-content/uploads/2013/07/valuati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276" y="453155"/>
            <a:ext cx="1903647" cy="126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389982"/>
      </p:ext>
    </p:extLst>
  </p:cSld>
  <p:clrMapOvr>
    <a:masterClrMapping/>
  </p:clrMapOvr>
  <p:transition spd="med">
    <p:pull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Valuation Methodologies</a:t>
            </a:r>
            <a:br>
              <a:rPr lang="en-US" dirty="0"/>
            </a:br>
            <a:r>
              <a:rPr lang="en-US" sz="2800" dirty="0"/>
              <a:t>- An Illustration of Dilution Formulas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29</a:t>
            </a:fld>
            <a:endParaRPr lang="en-US" altLang="en-US"/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682500" y="5270597"/>
            <a:ext cx="257175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 bwMode="auto">
          <a:xfrm>
            <a:off x="682500" y="4375247"/>
            <a:ext cx="619125" cy="914400"/>
          </a:xfrm>
          <a:prstGeom prst="rect">
            <a:avLst/>
          </a:prstGeom>
          <a:solidFill>
            <a:srgbClr val="FFC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635125" y="3184622"/>
            <a:ext cx="619125" cy="2105025"/>
          </a:xfrm>
          <a:prstGeom prst="rect">
            <a:avLst/>
          </a:prstGeom>
          <a:solidFill>
            <a:srgbClr val="FFC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24" name="Straight Connector 23"/>
          <p:cNvCxnSpPr/>
          <p:nvPr/>
        </p:nvCxnSpPr>
        <p:spPr bwMode="auto">
          <a:xfrm>
            <a:off x="4584656" y="5258089"/>
            <a:ext cx="257175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 bwMode="auto">
          <a:xfrm>
            <a:off x="4584656" y="4362739"/>
            <a:ext cx="619125" cy="914400"/>
          </a:xfrm>
          <a:prstGeom prst="rect">
            <a:avLst/>
          </a:prstGeom>
          <a:solidFill>
            <a:srgbClr val="FFC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6537281" y="3172114"/>
            <a:ext cx="619125" cy="2105025"/>
          </a:xfrm>
          <a:prstGeom prst="rect">
            <a:avLst/>
          </a:prstGeom>
          <a:solidFill>
            <a:srgbClr val="FFC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340" y="1495425"/>
            <a:ext cx="346441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0066FF"/>
                </a:solidFill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Formula 1: </a:t>
            </a:r>
            <a:r>
              <a:rPr lang="en-US" altLang="zh-CN" sz="1400" b="1" dirty="0">
                <a:solidFill>
                  <a:srgbClr val="0066FF"/>
                </a:solidFill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Retention ratio = </a:t>
            </a:r>
          </a:p>
          <a:p>
            <a:pPr algn="ctr"/>
            <a:r>
              <a:rPr lang="en-US" altLang="zh-CN" sz="1400" b="1" dirty="0">
                <a:solidFill>
                  <a:srgbClr val="0066FF"/>
                </a:solidFill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100% - cumulative % of future dilution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2923" y="5270597"/>
            <a:ext cx="12966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Present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943" y="5270597"/>
            <a:ext cx="1355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Terminal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200" y="2206525"/>
            <a:ext cx="3228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If the company issues new shares to new investors (or management) which enable them to </a:t>
            </a:r>
            <a:r>
              <a:rPr 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hold 20% at liquidity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2635123" y="4832447"/>
            <a:ext cx="619125" cy="420624"/>
          </a:xfrm>
          <a:prstGeom prst="rect">
            <a:avLst/>
          </a:prstGeom>
          <a:solidFill>
            <a:srgbClr val="00B05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cxnSp>
        <p:nvCxnSpPr>
          <p:cNvPr id="38" name="Straight Connector 37"/>
          <p:cNvCxnSpPr/>
          <p:nvPr/>
        </p:nvCxnSpPr>
        <p:spPr bwMode="auto">
          <a:xfrm flipH="1">
            <a:off x="1301625" y="3184622"/>
            <a:ext cx="1333498" cy="1190625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/>
          <p:cNvCxnSpPr/>
          <p:nvPr/>
        </p:nvCxnSpPr>
        <p:spPr bwMode="auto">
          <a:xfrm flipH="1">
            <a:off x="1301625" y="4832447"/>
            <a:ext cx="1333498" cy="43815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Right Brace 44"/>
          <p:cNvSpPr/>
          <p:nvPr/>
        </p:nvSpPr>
        <p:spPr bwMode="auto">
          <a:xfrm>
            <a:off x="3303775" y="3184621"/>
            <a:ext cx="241819" cy="1647825"/>
          </a:xfrm>
          <a:prstGeom prst="rightBrac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6" name="Right Brace 45"/>
          <p:cNvSpPr/>
          <p:nvPr/>
        </p:nvSpPr>
        <p:spPr bwMode="auto">
          <a:xfrm>
            <a:off x="3303775" y="4832448"/>
            <a:ext cx="241819" cy="420624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68287" y="385464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80%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8287" y="488887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913" y="5726892"/>
            <a:ext cx="26901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Retention Ratio = 1-20%=80%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7595" y="1495425"/>
            <a:ext cx="288091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u="sng" dirty="0">
                <a:solidFill>
                  <a:srgbClr val="0066FF"/>
                </a:solidFill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Formula 2: </a:t>
            </a:r>
            <a:r>
              <a:rPr lang="en-US" altLang="zh-CN" sz="1400" b="1" dirty="0">
                <a:solidFill>
                  <a:srgbClr val="0066FF"/>
                </a:solidFill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Retention ratio = </a:t>
            </a:r>
          </a:p>
          <a:p>
            <a:pPr algn="ctr"/>
            <a:r>
              <a:rPr lang="en-US" altLang="zh-CN" sz="1400" b="1" dirty="0">
                <a:solidFill>
                  <a:srgbClr val="0066FF"/>
                </a:solidFill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1/(1+% of dilution in round T)/…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33715" y="2206525"/>
            <a:ext cx="3228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If the company issues </a:t>
            </a:r>
            <a:r>
              <a:rPr 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additional 20%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new shares to new investors (or management) </a:t>
            </a:r>
            <a:r>
              <a:rPr 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before liquidity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445079" y="5258090"/>
            <a:ext cx="12966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Present Value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44099" y="5258090"/>
            <a:ext cx="1355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Terminal Value</a:t>
            </a:r>
          </a:p>
        </p:txBody>
      </p:sp>
      <p:sp>
        <p:nvSpPr>
          <p:cNvPr id="54" name="Rectangle 53"/>
          <p:cNvSpPr/>
          <p:nvPr/>
        </p:nvSpPr>
        <p:spPr bwMode="auto">
          <a:xfrm>
            <a:off x="6537279" y="4959543"/>
            <a:ext cx="619125" cy="305090"/>
          </a:xfrm>
          <a:prstGeom prst="rect">
            <a:avLst/>
          </a:prstGeom>
          <a:solidFill>
            <a:srgbClr val="00B05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55" name="Right Brace 54"/>
          <p:cNvSpPr/>
          <p:nvPr/>
        </p:nvSpPr>
        <p:spPr bwMode="auto">
          <a:xfrm>
            <a:off x="7156404" y="3172112"/>
            <a:ext cx="241819" cy="1787431"/>
          </a:xfrm>
          <a:prstGeom prst="rightBrac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56" name="Right Brace 55"/>
          <p:cNvSpPr/>
          <p:nvPr/>
        </p:nvSpPr>
        <p:spPr bwMode="auto">
          <a:xfrm>
            <a:off x="7149122" y="4953290"/>
            <a:ext cx="241819" cy="304799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7360777" y="3886194"/>
                <a:ext cx="1509324" cy="359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1 (=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1200" b="0" i="1" smtClean="0">
                            <a:latin typeface="Cambria Math"/>
                          </a:rPr>
                          <m:t>1+20%</m:t>
                        </m:r>
                      </m:den>
                    </m:f>
                    <m:r>
                      <a:rPr lang="en-US" sz="1200" b="0" i="1" smtClean="0">
                        <a:latin typeface="Cambria Math"/>
                      </a:rPr>
                      <m:t>=83.3%)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777" y="3886194"/>
                <a:ext cx="1509324" cy="35926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360777" y="4911939"/>
                <a:ext cx="1717201" cy="364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0.2 (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/>
                          </a:rPr>
                          <m:t>20%</m:t>
                        </m:r>
                      </m:num>
                      <m:den>
                        <m:r>
                          <a:rPr lang="en-US" sz="1200" b="0" i="1" smtClean="0">
                            <a:latin typeface="Cambria Math"/>
                          </a:rPr>
                          <m:t>1+20%</m:t>
                        </m:r>
                      </m:den>
                    </m:f>
                    <m:r>
                      <a:rPr lang="en-US" sz="1200" b="0" i="1" smtClean="0">
                        <a:latin typeface="Cambria Math"/>
                      </a:rPr>
                      <m:t>=16.7%)</m:t>
                    </m:r>
                  </m:oMath>
                </a14:m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777" y="4911939"/>
                <a:ext cx="1717201" cy="36433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787479" y="5675948"/>
                <a:ext cx="2940100" cy="409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Retention Ratio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1" i="1" dirty="0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1400" b="1" i="1" dirty="0" smtClean="0">
                            <a:latin typeface="Cambria Math"/>
                          </a:rPr>
                          <m:t>𝟏</m:t>
                        </m:r>
                        <m:r>
                          <a:rPr lang="en-US" sz="1400" b="1" i="1" dirty="0" smtClean="0">
                            <a:latin typeface="Cambria Math"/>
                          </a:rPr>
                          <m:t>+</m:t>
                        </m:r>
                        <m:r>
                          <a:rPr lang="en-US" sz="1400" b="1" i="1" dirty="0" smtClean="0">
                            <a:latin typeface="Cambria Math"/>
                          </a:rPr>
                          <m:t>𝟐𝟎</m:t>
                        </m:r>
                        <m:r>
                          <a:rPr lang="en-US" sz="1400" b="1" i="1" dirty="0" smtClean="0">
                            <a:latin typeface="Cambria Math"/>
                          </a:rPr>
                          <m:t>%</m:t>
                        </m:r>
                      </m:den>
                    </m:f>
                    <m:r>
                      <a:rPr lang="en-US" sz="1400" b="1" i="1" dirty="0" smtClean="0">
                        <a:latin typeface="Cambria Math"/>
                      </a:rPr>
                      <m:t>=</m:t>
                    </m:r>
                    <m:r>
                      <a:rPr lang="en-US" sz="1400" b="1" i="1" dirty="0" smtClean="0">
                        <a:latin typeface="Cambria Math"/>
                      </a:rPr>
                      <m:t>𝟖𝟑</m:t>
                    </m:r>
                    <m:r>
                      <a:rPr lang="en-US" sz="1400" b="1" i="1" dirty="0" smtClean="0">
                        <a:latin typeface="Cambria Math"/>
                      </a:rPr>
                      <m:t>.</m:t>
                    </m:r>
                    <m:r>
                      <a:rPr lang="en-US" sz="1400" b="1" i="1" dirty="0" smtClean="0">
                        <a:latin typeface="Cambria Math"/>
                      </a:rPr>
                      <m:t>𝟑</m:t>
                    </m:r>
                    <m:r>
                      <a:rPr lang="en-US" sz="1400" b="1" i="1" dirty="0" smtClean="0">
                        <a:latin typeface="Cambria Math"/>
                      </a:rPr>
                      <m:t>%</m:t>
                    </m:r>
                  </m:oMath>
                </a14:m>
                <a:endParaRPr 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479" y="5675948"/>
                <a:ext cx="2940100" cy="409664"/>
              </a:xfrm>
              <a:prstGeom prst="rect">
                <a:avLst/>
              </a:prstGeom>
              <a:blipFill rotWithShape="1">
                <a:blip r:embed="rId4"/>
                <a:stretch>
                  <a:fillRect l="-414"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Connector 59"/>
          <p:cNvCxnSpPr/>
          <p:nvPr/>
        </p:nvCxnSpPr>
        <p:spPr bwMode="auto">
          <a:xfrm flipH="1">
            <a:off x="5203781" y="3184622"/>
            <a:ext cx="1333498" cy="1190625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/>
          <p:cNvCxnSpPr/>
          <p:nvPr/>
        </p:nvCxnSpPr>
        <p:spPr bwMode="auto">
          <a:xfrm flipH="1">
            <a:off x="5203781" y="4951519"/>
            <a:ext cx="1333500" cy="30657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49704724"/>
      </p:ext>
    </p:extLst>
  </p:cSld>
  <p:clrMapOvr>
    <a:masterClrMapping/>
  </p:clrMapOvr>
  <p:transition spd="med">
    <p:pull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An Example</a:t>
            </a:r>
          </a:p>
          <a:p>
            <a:pPr lvl="1"/>
            <a:r>
              <a:rPr lang="en-US" sz="2000" dirty="0"/>
              <a:t>A VC considers an investment in </a:t>
            </a:r>
            <a:r>
              <a:rPr lang="en-US" sz="2000" dirty="0" err="1"/>
              <a:t>MicroElectronics</a:t>
            </a:r>
            <a:r>
              <a:rPr lang="en-US" sz="2000" dirty="0"/>
              <a:t> Corp. (MEC)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30</a:t>
            </a:fld>
            <a:endParaRPr lang="en-US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609600" y="2604654"/>
          <a:ext cx="7934036" cy="32327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334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818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 Summary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Required </a:t>
                      </a:r>
                      <a:r>
                        <a:rPr lang="en-US" sz="1600"/>
                        <a:t>Internal Rate of Return (IRR) </a:t>
                      </a:r>
                      <a:r>
                        <a:rPr lang="en-US" sz="1600" dirty="0"/>
                        <a:t>of 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$3.5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Term (Investment</a:t>
                      </a:r>
                      <a:r>
                        <a:rPr lang="en-US" sz="1600" baseline="0" dirty="0"/>
                        <a:t> Horizon)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 years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Projected Net</a:t>
                      </a:r>
                      <a:r>
                        <a:rPr lang="en-US" sz="1600" baseline="0" dirty="0"/>
                        <a:t> Income in Year 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$2.5</a:t>
                      </a:r>
                      <a:r>
                        <a:rPr lang="en-US" sz="1600" baseline="0" dirty="0"/>
                        <a:t> million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P/E</a:t>
                      </a:r>
                      <a:r>
                        <a:rPr lang="en-US" sz="1600" baseline="0" dirty="0"/>
                        <a:t> in Year 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8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Number</a:t>
                      </a:r>
                      <a:r>
                        <a:rPr lang="en-US" sz="1600" baseline="0" dirty="0"/>
                        <a:t> of Shares Outstanding Before Financing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1,000,000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437783"/>
      </p:ext>
    </p:extLst>
  </p:cSld>
  <p:clrMapOvr>
    <a:masterClrMapping/>
  </p:clrMapOvr>
  <p:transition spd="med">
    <p:pull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MEC Example</a:t>
            </a:r>
          </a:p>
          <a:p>
            <a:pPr lvl="1"/>
            <a:r>
              <a:rPr lang="en-US" sz="2000" dirty="0"/>
              <a:t>Multiple Round of Financings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31</a:t>
            </a:fld>
            <a:endParaRPr lang="en-US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308010"/>
              </p:ext>
            </p:extLst>
          </p:nvPr>
        </p:nvGraphicFramePr>
        <p:xfrm>
          <a:off x="609600" y="2604654"/>
          <a:ext cx="7934036" cy="22195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983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35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095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 Summary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</a:t>
                      </a:r>
                    </a:p>
                    <a:p>
                      <a:pPr algn="ctr"/>
                      <a:r>
                        <a:rPr lang="en-US" sz="1400" dirty="0"/>
                        <a:t>(Investment Horizon)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IRR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0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(5 years)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$1.5 million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 (3 years)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$1.0 million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 (1 years)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$1.0 million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884382" y="5041881"/>
            <a:ext cx="7467600" cy="9144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1200" b="1">
              <a:solidFill>
                <a:schemeClr val="hlink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1803787" y="5261075"/>
            <a:ext cx="580838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+mn-lt"/>
                <a:ea typeface="宋体" charset="-122"/>
              </a:rPr>
              <a:t>Retention Ratio = 1 – (Total of Future Final % of Ownership)</a:t>
            </a:r>
          </a:p>
        </p:txBody>
      </p:sp>
    </p:spTree>
    <p:extLst>
      <p:ext uri="{BB962C8B-B14F-4D97-AF65-F5344CB8AC3E}">
        <p14:creationId xmlns:p14="http://schemas.microsoft.com/office/powerpoint/2010/main" val="3672230964"/>
      </p:ext>
    </p:extLst>
  </p:cSld>
  <p:clrMapOvr>
    <a:masterClrMapping/>
  </p:clrMapOvr>
  <p:transition spd="med">
    <p:pull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177502" cy="1048684"/>
          </a:xfrm>
        </p:spPr>
        <p:txBody>
          <a:bodyPr/>
          <a:lstStyle/>
          <a:p>
            <a:r>
              <a:rPr lang="en-US" sz="3600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</a:t>
            </a:r>
            <a:endParaRPr lang="zh-CN" altLang="en-US" sz="2800" b="0" dirty="0">
              <a:solidFill>
                <a:srgbClr val="336600"/>
              </a:solidFill>
              <a:ea typeface="宋体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2019 by Raphael ("Raffi")  Amit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352761"/>
              </p:ext>
            </p:extLst>
          </p:nvPr>
        </p:nvGraphicFramePr>
        <p:xfrm>
          <a:off x="405102" y="1499535"/>
          <a:ext cx="8258175" cy="3989391"/>
        </p:xfrm>
        <a:graphic>
          <a:graphicData uri="http://schemas.openxmlformats.org/drawingml/2006/table">
            <a:tbl>
              <a:tblPr/>
              <a:tblGrid>
                <a:gridCol w="206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5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91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宋体" charset="-122"/>
                        </a:rPr>
                        <a:t>Items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宋体" charset="-122"/>
                        </a:rPr>
                        <a:t>Investor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Round I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Round II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Round III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Retention Ratio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Current % Ownership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New Shares Issued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Share Price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451389" y="2699685"/>
            <a:ext cx="2133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(1.5</a:t>
            </a:r>
            <a:r>
              <a:rPr lang="en-US" altLang="zh-CN" sz="1400" baseline="30000" dirty="0">
                <a:latin typeface="+mn-lt"/>
                <a:ea typeface="宋体" charset="-122"/>
              </a:rPr>
              <a:t>5</a:t>
            </a:r>
            <a:r>
              <a:rPr lang="en-US" altLang="zh-CN" sz="1400" dirty="0">
                <a:latin typeface="+mn-lt"/>
                <a:ea typeface="宋体" charset="-122"/>
              </a:rPr>
              <a:t>*$1.5m) / (15*$2.5m) = 30.4%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26252" y="2685398"/>
            <a:ext cx="2032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(1.4</a:t>
            </a:r>
            <a:r>
              <a:rPr lang="en-US" altLang="zh-CN" sz="1400" baseline="30000" dirty="0">
                <a:latin typeface="+mn-lt"/>
                <a:ea typeface="宋体" charset="-122"/>
              </a:rPr>
              <a:t>3</a:t>
            </a:r>
            <a:r>
              <a:rPr lang="en-US" altLang="zh-CN" sz="1400" dirty="0">
                <a:latin typeface="+mn-lt"/>
                <a:ea typeface="宋体" charset="-122"/>
              </a:rPr>
              <a:t>*$1m) / (15*$2.5m) = 7.3%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602702" y="2685398"/>
            <a:ext cx="2032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(1.25</a:t>
            </a:r>
            <a:r>
              <a:rPr lang="en-US" altLang="zh-CN" sz="1400" baseline="30000" dirty="0">
                <a:latin typeface="+mn-lt"/>
                <a:ea typeface="宋体" charset="-122"/>
              </a:rPr>
              <a:t>1</a:t>
            </a:r>
            <a:r>
              <a:rPr lang="en-US" altLang="zh-CN" sz="1400" dirty="0">
                <a:latin typeface="+mn-lt"/>
                <a:ea typeface="宋体" charset="-122"/>
              </a:rPr>
              <a:t>*$1m) / (15*$2.5m) = 3.3%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422814" y="3339448"/>
            <a:ext cx="21336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1-</a:t>
            </a:r>
            <a:r>
              <a:rPr lang="en-US" altLang="zh-CN" sz="1400" b="1" i="1" u="sng" dirty="0">
                <a:latin typeface="+mn-lt"/>
                <a:ea typeface="宋体" charset="-122"/>
              </a:rPr>
              <a:t>(7.3%+3.3%)</a:t>
            </a:r>
            <a:r>
              <a:rPr lang="en-US" altLang="zh-CN" sz="1400" dirty="0">
                <a:latin typeface="+mn-lt"/>
                <a:ea typeface="宋体" charset="-122"/>
              </a:rPr>
              <a:t>=89.3%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11964" y="3339448"/>
            <a:ext cx="21336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+mn-lt"/>
                <a:ea typeface="宋体" charset="-122"/>
              </a:rPr>
              <a:t>1-</a:t>
            </a:r>
            <a:r>
              <a:rPr lang="en-US" altLang="zh-CN" sz="1400" b="1" i="1" u="sng">
                <a:latin typeface="+mn-lt"/>
                <a:ea typeface="宋体" charset="-122"/>
              </a:rPr>
              <a:t>3.3%</a:t>
            </a:r>
            <a:r>
              <a:rPr lang="en-US" altLang="zh-CN" sz="1400">
                <a:latin typeface="+mn-lt"/>
                <a:ea typeface="宋体" charset="-122"/>
              </a:rPr>
              <a:t>=96.7%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558252" y="3339448"/>
            <a:ext cx="21336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+mn-lt"/>
                <a:ea typeface="宋体" charset="-122"/>
              </a:rPr>
              <a:t>100%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451389" y="3817285"/>
            <a:ext cx="2133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zh-CN" sz="1400" dirty="0">
                <a:latin typeface="+mn-lt"/>
                <a:ea typeface="宋体" charset="-122"/>
              </a:rPr>
              <a:t>30.4% / 89.3% = 34%</a:t>
            </a:r>
          </a:p>
          <a:p>
            <a:pPr algn="ctr">
              <a:spcBef>
                <a:spcPts val="0"/>
              </a:spcBef>
            </a:pPr>
            <a:r>
              <a:rPr lang="en-US" altLang="zh-CN" sz="1400" dirty="0">
                <a:latin typeface="+mn-lt"/>
                <a:ea typeface="宋体" charset="-122"/>
              </a:rPr>
              <a:t>(in year 1)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497677" y="3802998"/>
            <a:ext cx="2133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zh-CN" sz="1400">
                <a:latin typeface="+mn-lt"/>
                <a:ea typeface="宋体" charset="-122"/>
              </a:rPr>
              <a:t>7.3% / 96.7% = 7.6%</a:t>
            </a:r>
          </a:p>
          <a:p>
            <a:pPr algn="ctr">
              <a:spcBef>
                <a:spcPts val="0"/>
              </a:spcBef>
            </a:pPr>
            <a:r>
              <a:rPr lang="en-US" altLang="zh-CN" sz="1400">
                <a:latin typeface="+mn-lt"/>
                <a:ea typeface="宋体" charset="-122"/>
              </a:rPr>
              <a:t>(in year 3)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74127" y="3788710"/>
            <a:ext cx="2133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zh-CN" sz="1400">
                <a:latin typeface="+mn-lt"/>
                <a:ea typeface="宋体" charset="-122"/>
              </a:rPr>
              <a:t>3.3%</a:t>
            </a:r>
          </a:p>
          <a:p>
            <a:pPr algn="ctr">
              <a:spcBef>
                <a:spcPts val="0"/>
              </a:spcBef>
            </a:pPr>
            <a:r>
              <a:rPr lang="en-US" altLang="zh-CN" sz="1400">
                <a:latin typeface="+mn-lt"/>
                <a:ea typeface="宋体" charset="-122"/>
              </a:rPr>
              <a:t>(in year 5)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437102" y="4355448"/>
            <a:ext cx="213360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[34% / (1-34%)] * 1,000,000 = 515,151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526251" y="4369735"/>
            <a:ext cx="207645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[7.6% / (1-7.6%)] * </a:t>
            </a:r>
            <a:r>
              <a:rPr lang="en-US" altLang="zh-CN" sz="1400" b="1" i="1" u="sng" dirty="0">
                <a:latin typeface="+mn-lt"/>
                <a:ea typeface="宋体" charset="-122"/>
              </a:rPr>
              <a:t>1,515,151</a:t>
            </a:r>
            <a:r>
              <a:rPr lang="en-US" altLang="zh-CN" sz="1400" dirty="0">
                <a:latin typeface="+mn-lt"/>
                <a:ea typeface="宋体" charset="-122"/>
              </a:rPr>
              <a:t> = 124, 623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602702" y="4355448"/>
            <a:ext cx="203200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[3.3% / (1-3.3%)] * </a:t>
            </a:r>
            <a:r>
              <a:rPr lang="en-US" altLang="zh-CN" sz="1400" b="1" i="1" u="sng" dirty="0">
                <a:latin typeface="+mn-lt"/>
                <a:ea typeface="宋体" charset="-122"/>
              </a:rPr>
              <a:t>1,639,774</a:t>
            </a:r>
            <a:r>
              <a:rPr lang="en-US" altLang="zh-CN" sz="1400" dirty="0">
                <a:latin typeface="+mn-lt"/>
                <a:ea typeface="宋体" charset="-122"/>
              </a:rPr>
              <a:t> = 55,959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422814" y="5050773"/>
            <a:ext cx="2133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+mn-lt"/>
                <a:ea typeface="宋体" charset="-122"/>
              </a:rPr>
              <a:t>$1.5m / 515,151 = $2.91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497677" y="5036485"/>
            <a:ext cx="2133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+mn-lt"/>
                <a:ea typeface="宋体" charset="-122"/>
              </a:rPr>
              <a:t>$1m / 124,623 = $8.02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6574127" y="5036485"/>
            <a:ext cx="2133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+mn-lt"/>
                <a:ea typeface="宋体" charset="-122"/>
              </a:rPr>
              <a:t>$1m / 55,959 = $17.87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78632" y="5488926"/>
            <a:ext cx="80692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 i="1" dirty="0">
                <a:latin typeface="+mn-lt"/>
                <a:ea typeface="宋体" charset="-122"/>
              </a:rPr>
              <a:t>Notes: </a:t>
            </a:r>
            <a:r>
              <a:rPr lang="en-US" altLang="zh-CN" sz="1400" dirty="0">
                <a:latin typeface="+mn-lt"/>
                <a:ea typeface="宋体" charset="-122"/>
              </a:rPr>
              <a:t>The Retention ratio quantifies the expected dilutive effect of future financing rounds. 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1607693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414338" y="314036"/>
            <a:ext cx="8229600" cy="1181389"/>
          </a:xfrm>
        </p:spPr>
        <p:txBody>
          <a:bodyPr/>
          <a:lstStyle/>
          <a:p>
            <a:r>
              <a:rPr lang="en-US" sz="3600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</a:t>
            </a:r>
            <a:endParaRPr lang="zh-CN" altLang="en-US" b="0" dirty="0">
              <a:solidFill>
                <a:srgbClr val="336600"/>
              </a:solidFill>
              <a:ea typeface="宋体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2019 by Raphael ("Raffi")  Amit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758910"/>
              </p:ext>
            </p:extLst>
          </p:nvPr>
        </p:nvGraphicFramePr>
        <p:xfrm>
          <a:off x="348345" y="1679574"/>
          <a:ext cx="8229600" cy="294005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Scenario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 of Investors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 of Founders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Value for Founders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One Round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Three Rounds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Difference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380345" y="3359149"/>
            <a:ext cx="20764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+mn-lt"/>
                <a:ea typeface="宋体" charset="-122"/>
              </a:rPr>
              <a:t>41%*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33375" y="4693806"/>
            <a:ext cx="8375650" cy="53484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200" b="1" i="1" u="sng" dirty="0">
                <a:solidFill>
                  <a:srgbClr val="000000"/>
                </a:solidFill>
                <a:ea typeface="宋体" charset="-122"/>
              </a:rPr>
              <a:t>*Final % Ownership of Investors (declining IRR):</a:t>
            </a:r>
          </a:p>
          <a:p>
            <a:r>
              <a:rPr lang="en-US" altLang="zh-CN" sz="1200" dirty="0">
                <a:solidFill>
                  <a:srgbClr val="000000"/>
                </a:solidFill>
                <a:ea typeface="宋体" charset="-122"/>
              </a:rPr>
              <a:t>(515,151+124,623 + 55,959) / (1,000,000 + 515,151 + 124,623+ 55,959) =  (695,733/ 1,695,733)= 41%</a:t>
            </a:r>
            <a:endParaRPr lang="zh-CN" altLang="en-US" sz="1200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456795" y="3359149"/>
            <a:ext cx="2074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+mn-lt"/>
                <a:ea typeface="宋体" charset="-122"/>
              </a:rPr>
              <a:t>59%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503083" y="3359149"/>
            <a:ext cx="20748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$2.5m*15*59% = $22.13m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380345" y="2532062"/>
            <a:ext cx="20764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(1.5</a:t>
            </a:r>
            <a:r>
              <a:rPr lang="en-US" altLang="zh-CN" sz="1400" baseline="30000" dirty="0">
                <a:latin typeface="+mn-lt"/>
                <a:ea typeface="宋体" charset="-122"/>
              </a:rPr>
              <a:t>5</a:t>
            </a:r>
            <a:r>
              <a:rPr lang="en-US" altLang="zh-CN" sz="1400" dirty="0">
                <a:latin typeface="+mn-lt"/>
                <a:ea typeface="宋体" charset="-122"/>
              </a:rPr>
              <a:t>*$3.5m) / (15*$2.5m) = 70.9%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456795" y="2647949"/>
            <a:ext cx="2074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+mn-lt"/>
                <a:ea typeface="宋体" charset="-122"/>
              </a:rPr>
              <a:t>29.1%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31658" y="2532062"/>
            <a:ext cx="20764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$2.5m*15*29.1% = $10.92m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410508" y="4098924"/>
            <a:ext cx="20748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+mn-lt"/>
                <a:ea typeface="宋体" charset="-122"/>
              </a:rPr>
              <a:t>29.9%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471083" y="4098924"/>
            <a:ext cx="20748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+mn-lt"/>
                <a:ea typeface="宋体" charset="-122"/>
              </a:rPr>
              <a:t>29.9%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531658" y="3925887"/>
            <a:ext cx="2076450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$22.13m-$10.92m = $2.5m*15*29.9% = $11.21m**</a:t>
            </a:r>
          </a:p>
        </p:txBody>
      </p:sp>
      <p:sp>
        <p:nvSpPr>
          <p:cNvPr id="19" name="矩形 18"/>
          <p:cNvSpPr/>
          <p:nvPr/>
        </p:nvSpPr>
        <p:spPr bwMode="auto">
          <a:xfrm>
            <a:off x="333375" y="5246254"/>
            <a:ext cx="8375650" cy="84203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 altLang="zh-CN" sz="1200" b="1" i="1" u="sng" dirty="0">
                <a:solidFill>
                  <a:srgbClr val="000000"/>
                </a:solidFill>
                <a:ea typeface="宋体" charset="-122"/>
              </a:rPr>
              <a:t>**Difference in Value:</a:t>
            </a:r>
          </a:p>
          <a:p>
            <a:r>
              <a:rPr lang="en-US" altLang="zh-CN" sz="1200" dirty="0">
                <a:solidFill>
                  <a:srgbClr val="000000"/>
                </a:solidFill>
                <a:ea typeface="宋体" charset="-122"/>
              </a:rPr>
              <a:t>The difference in the value of the founders’ holdings, 29.9% of the $37.5m terminal valuation, is $11.21 million. This extra value is accounted for by the lower discount rate in later rounds, as well as by the reduced opportunity cost for VC investors.</a:t>
            </a:r>
            <a:endParaRPr lang="zh-CN" altLang="en-US" sz="1200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26" name="下箭头 25"/>
          <p:cNvSpPr>
            <a:spLocks noChangeArrowheads="1"/>
          </p:cNvSpPr>
          <p:nvPr/>
        </p:nvSpPr>
        <p:spPr bwMode="auto">
          <a:xfrm>
            <a:off x="3731308" y="4070349"/>
            <a:ext cx="260350" cy="377825"/>
          </a:xfrm>
          <a:prstGeom prst="downArrow">
            <a:avLst>
              <a:gd name="adj1" fmla="val 50000"/>
              <a:gd name="adj2" fmla="val 50235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>
              <a:latin typeface="+mn-lt"/>
              <a:ea typeface="宋体" charset="-122"/>
            </a:endParaRPr>
          </a:p>
        </p:txBody>
      </p:sp>
      <p:sp>
        <p:nvSpPr>
          <p:cNvPr id="27" name="下箭头 26"/>
          <p:cNvSpPr/>
          <p:nvPr/>
        </p:nvSpPr>
        <p:spPr bwMode="auto">
          <a:xfrm>
            <a:off x="5762629" y="4070350"/>
            <a:ext cx="261258" cy="377371"/>
          </a:xfrm>
          <a:prstGeom prst="downArrow">
            <a:avLst/>
          </a:prstGeom>
          <a:solidFill>
            <a:srgbClr val="66FF33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scene3d>
            <a:camera prst="orthographicFront">
              <a:rot lat="10800000" lon="10800000" rev="0"/>
            </a:camera>
            <a:lightRig rig="threePt" dir="t"/>
          </a:scene3d>
        </p:spPr>
        <p:txBody>
          <a:bodyPr wrap="none"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28" name="下箭头 27"/>
          <p:cNvSpPr/>
          <p:nvPr/>
        </p:nvSpPr>
        <p:spPr bwMode="auto">
          <a:xfrm>
            <a:off x="8331657" y="4084866"/>
            <a:ext cx="261258" cy="377371"/>
          </a:xfrm>
          <a:prstGeom prst="downArrow">
            <a:avLst/>
          </a:prstGeom>
          <a:solidFill>
            <a:srgbClr val="66FF33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scene3d>
            <a:camera prst="orthographicFront">
              <a:rot lat="10800000" lon="10800000" rev="0"/>
            </a:camera>
            <a:lightRig rig="threePt" dir="t"/>
          </a:scene3d>
        </p:spPr>
        <p:txBody>
          <a:bodyPr wrap="none"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01035696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 animBg="1"/>
      <p:bldP spid="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385479" y="158564"/>
            <a:ext cx="8229600" cy="752475"/>
          </a:xfrm>
        </p:spPr>
        <p:txBody>
          <a:bodyPr>
            <a:normAutofit fontScale="90000"/>
          </a:bodyPr>
          <a:lstStyle/>
          <a:p>
            <a:r>
              <a:rPr lang="en-US" dirty="0"/>
              <a:t>Valuation Methodologies</a:t>
            </a:r>
            <a:br>
              <a:rPr lang="en-US" sz="3600" dirty="0"/>
            </a:br>
            <a:r>
              <a:rPr lang="en-US" sz="3100" dirty="0"/>
              <a:t>- The Venture Capital Method</a:t>
            </a:r>
            <a:endParaRPr lang="zh-CN" altLang="en-US" sz="3100" b="0" dirty="0">
              <a:solidFill>
                <a:srgbClr val="336600"/>
              </a:solidFill>
              <a:ea typeface="宋体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34</a:t>
            </a:fld>
            <a:endParaRPr lang="en-US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376238" y="1511114"/>
          <a:ext cx="8258175" cy="3989391"/>
        </p:xfrm>
        <a:graphic>
          <a:graphicData uri="http://schemas.openxmlformats.org/drawingml/2006/table">
            <a:tbl>
              <a:tblPr/>
              <a:tblGrid>
                <a:gridCol w="206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5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91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宋体" charset="-122"/>
                        </a:rPr>
                        <a:t>Items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宋体" charset="-122"/>
                        </a:rPr>
                        <a:t>Investor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Round I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Round II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Round III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Retention Ratio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Current % Ownership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New Shares Issued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Share Price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422525" y="2711264"/>
            <a:ext cx="2133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(1.5</a:t>
            </a:r>
            <a:r>
              <a:rPr lang="en-US" altLang="zh-CN" sz="1400" baseline="30000" dirty="0">
                <a:latin typeface="+mn-lt"/>
                <a:ea typeface="宋体" charset="-122"/>
              </a:rPr>
              <a:t>5</a:t>
            </a:r>
            <a:r>
              <a:rPr lang="en-US" altLang="zh-CN" sz="1400" dirty="0">
                <a:latin typeface="+mn-lt"/>
                <a:ea typeface="宋体" charset="-122"/>
              </a:rPr>
              <a:t>*1.5m) / (15*2.5m) = 30.4%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43424" y="2696977"/>
            <a:ext cx="19859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(1.5</a:t>
            </a:r>
            <a:r>
              <a:rPr lang="en-US" altLang="zh-CN" sz="1400" baseline="30000" dirty="0">
                <a:latin typeface="+mn-lt"/>
                <a:ea typeface="宋体" charset="-122"/>
              </a:rPr>
              <a:t>3</a:t>
            </a:r>
            <a:r>
              <a:rPr lang="en-US" altLang="zh-CN" sz="1400" dirty="0">
                <a:latin typeface="+mn-lt"/>
                <a:ea typeface="宋体" charset="-122"/>
              </a:rPr>
              <a:t>*1m) / (15*2.5m) = 9%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573838" y="2696977"/>
            <a:ext cx="2032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(1.5</a:t>
            </a:r>
            <a:r>
              <a:rPr lang="en-US" altLang="zh-CN" sz="1400" baseline="30000" dirty="0">
                <a:latin typeface="+mn-lt"/>
                <a:ea typeface="宋体" charset="-122"/>
              </a:rPr>
              <a:t>1</a:t>
            </a:r>
            <a:r>
              <a:rPr lang="en-US" altLang="zh-CN" sz="1400" dirty="0">
                <a:latin typeface="+mn-lt"/>
                <a:ea typeface="宋体" charset="-122"/>
              </a:rPr>
              <a:t>*1m) / (15*2.5m) = 4%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393950" y="3351027"/>
            <a:ext cx="21336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1—</a:t>
            </a:r>
            <a:r>
              <a:rPr lang="en-US" altLang="zh-CN" sz="1400" b="1" i="1" u="sng" dirty="0">
                <a:latin typeface="+mn-lt"/>
                <a:ea typeface="宋体" charset="-122"/>
              </a:rPr>
              <a:t>(9%+4%)</a:t>
            </a:r>
            <a:r>
              <a:rPr lang="en-US" altLang="zh-CN" sz="1400" dirty="0">
                <a:latin typeface="+mn-lt"/>
                <a:ea typeface="宋体" charset="-122"/>
              </a:rPr>
              <a:t>=87%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483100" y="3351027"/>
            <a:ext cx="21336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1-</a:t>
            </a:r>
            <a:r>
              <a:rPr lang="en-US" altLang="zh-CN" sz="1400" b="1" i="1" u="sng" dirty="0">
                <a:latin typeface="+mn-lt"/>
                <a:ea typeface="宋体" charset="-122"/>
              </a:rPr>
              <a:t>4%</a:t>
            </a:r>
            <a:r>
              <a:rPr lang="en-US" altLang="zh-CN" sz="1400" dirty="0">
                <a:latin typeface="+mn-lt"/>
                <a:ea typeface="宋体" charset="-122"/>
              </a:rPr>
              <a:t>=96%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529388" y="3351027"/>
            <a:ext cx="21336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100%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549235" y="3828864"/>
            <a:ext cx="18288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30.4% / 87% = 34.9% (in year 1)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729018" y="3814577"/>
            <a:ext cx="1671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9% / 96% = 9.4% (in year 3)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37868" y="3795196"/>
            <a:ext cx="15483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zh-CN" sz="1400" dirty="0">
                <a:latin typeface="+mn-lt"/>
                <a:ea typeface="宋体" charset="-122"/>
              </a:rPr>
              <a:t>4% </a:t>
            </a:r>
          </a:p>
          <a:p>
            <a:pPr algn="ctr">
              <a:spcBef>
                <a:spcPts val="0"/>
              </a:spcBef>
            </a:pPr>
            <a:r>
              <a:rPr lang="en-US" altLang="zh-CN" sz="1400" dirty="0">
                <a:latin typeface="+mn-lt"/>
                <a:ea typeface="宋体" charset="-122"/>
              </a:rPr>
              <a:t>(in year 5)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408238" y="4367027"/>
            <a:ext cx="213360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[34.9% / (1-34.9%)] * 1,000,000 = 536,424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497388" y="4381314"/>
            <a:ext cx="207645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[9.4% / (1-9.4%)] * </a:t>
            </a:r>
            <a:r>
              <a:rPr lang="en-US" altLang="zh-CN" sz="1400" b="1" i="1" u="sng" dirty="0">
                <a:latin typeface="+mn-lt"/>
                <a:ea typeface="宋体" charset="-122"/>
              </a:rPr>
              <a:t>1,536,424</a:t>
            </a:r>
            <a:r>
              <a:rPr lang="en-US" altLang="zh-CN" sz="1400" dirty="0">
                <a:latin typeface="+mn-lt"/>
                <a:ea typeface="宋体" charset="-122"/>
              </a:rPr>
              <a:t> = 158, 940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545263" y="4367027"/>
            <a:ext cx="20891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[4% / (1-4%)] * </a:t>
            </a:r>
            <a:r>
              <a:rPr lang="en-US" altLang="zh-CN" sz="1400" b="1" i="1" u="sng" dirty="0">
                <a:latin typeface="+mn-lt"/>
                <a:ea typeface="宋体" charset="-122"/>
              </a:rPr>
              <a:t>1,695,364</a:t>
            </a:r>
            <a:r>
              <a:rPr lang="en-US" altLang="zh-CN" sz="1400" dirty="0">
                <a:latin typeface="+mn-lt"/>
                <a:ea typeface="宋体" charset="-122"/>
              </a:rPr>
              <a:t> = 70,640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393950" y="5062352"/>
            <a:ext cx="2133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$1.5m / 536,424 = $2.80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468813" y="5048064"/>
            <a:ext cx="2133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$1m / 158,940 = $6.29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6545263" y="5048064"/>
            <a:ext cx="2133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$1m / 70,640 = $14.16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08794" y="5500505"/>
            <a:ext cx="80692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 i="1" dirty="0">
                <a:latin typeface="+mn-lt"/>
                <a:ea typeface="宋体" charset="-122"/>
              </a:rPr>
              <a:t>Note: </a:t>
            </a:r>
            <a:r>
              <a:rPr lang="en-US" altLang="zh-CN" sz="1400" dirty="0">
                <a:latin typeface="+mn-lt"/>
                <a:ea typeface="宋体" charset="-122"/>
              </a:rPr>
              <a:t>The Retention ratio quantifies the expected dilutive effect of future financing rounds. 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6460993"/>
      </p:ext>
    </p:extLst>
  </p:cSld>
  <p:clrMapOvr>
    <a:masterClrMapping/>
  </p:clrMapOvr>
  <p:transition spd="med">
    <p:pull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406400" y="252265"/>
            <a:ext cx="8229600" cy="1181389"/>
          </a:xfrm>
        </p:spPr>
        <p:txBody>
          <a:bodyPr>
            <a:normAutofit/>
          </a:bodyPr>
          <a:lstStyle/>
          <a:p>
            <a:r>
              <a:rPr lang="en-US" sz="3600" dirty="0"/>
              <a:t>Valuation Methodologies</a:t>
            </a:r>
            <a:br>
              <a:rPr lang="en-US" sz="4800" dirty="0"/>
            </a:br>
            <a:r>
              <a:rPr lang="en-US" sz="2800" dirty="0"/>
              <a:t>- The Venture Capital Method</a:t>
            </a:r>
            <a:endParaRPr lang="zh-CN" altLang="en-US" sz="2800" b="0" dirty="0">
              <a:solidFill>
                <a:srgbClr val="336600"/>
              </a:solidFill>
              <a:ea typeface="宋体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35</a:t>
            </a:fld>
            <a:endParaRPr lang="en-US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333375" y="1781174"/>
          <a:ext cx="8229600" cy="294005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Scenario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 of Investors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 of Founders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Value for Founders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Three Rounds (Declining IRR)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Three Rounds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(Constant IRR)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Difference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393950" y="3475037"/>
            <a:ext cx="20764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43%*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45931" y="4845089"/>
            <a:ext cx="8375650" cy="5357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200" b="1" i="1" u="sng" dirty="0">
                <a:solidFill>
                  <a:srgbClr val="000000"/>
                </a:solidFill>
                <a:ea typeface="宋体" charset="-122"/>
              </a:rPr>
              <a:t>*</a:t>
            </a:r>
            <a:r>
              <a:rPr lang="en-US" altLang="zh-CN" sz="1100" b="1" i="1" u="sng" dirty="0">
                <a:solidFill>
                  <a:srgbClr val="000000"/>
                </a:solidFill>
                <a:ea typeface="宋体" charset="-122"/>
              </a:rPr>
              <a:t>Final</a:t>
            </a:r>
            <a:r>
              <a:rPr lang="en-US" altLang="zh-CN" sz="1200" b="1" i="1" u="sng" dirty="0">
                <a:solidFill>
                  <a:srgbClr val="000000"/>
                </a:solidFill>
                <a:ea typeface="宋体" charset="-122"/>
              </a:rPr>
              <a:t> % Ownership of Investors:</a:t>
            </a:r>
          </a:p>
          <a:p>
            <a:r>
              <a:rPr lang="en-US" altLang="zh-CN" sz="1200" dirty="0">
                <a:solidFill>
                  <a:srgbClr val="000000"/>
                </a:solidFill>
                <a:ea typeface="宋体" charset="-122"/>
              </a:rPr>
              <a:t>(536,424 + 158, 940 + 70,640) / (1,000,000 + 536,424 + 158, 940 + 70,640) =  (766,004/ 1,766,004)= 43%</a:t>
            </a:r>
            <a:endParaRPr lang="zh-CN" altLang="en-US" sz="1200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441825" y="3460749"/>
            <a:ext cx="2074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57%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488113" y="3359149"/>
            <a:ext cx="20748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$2.5m*15*57% = $21.375m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408238" y="2749549"/>
            <a:ext cx="20764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41%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441825" y="2749549"/>
            <a:ext cx="2074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59%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16688" y="2633662"/>
            <a:ext cx="20764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$2.5m*15*59% = $22.125m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395538" y="4200524"/>
            <a:ext cx="20748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2%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456113" y="4200524"/>
            <a:ext cx="20748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2%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486525" y="4039040"/>
            <a:ext cx="207645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$22.125m-$21.375m </a:t>
            </a:r>
          </a:p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= $0.75m**</a:t>
            </a:r>
          </a:p>
        </p:txBody>
      </p:sp>
      <p:sp>
        <p:nvSpPr>
          <p:cNvPr id="26" name="下箭头 25"/>
          <p:cNvSpPr>
            <a:spLocks noChangeArrowheads="1"/>
          </p:cNvSpPr>
          <p:nvPr/>
        </p:nvSpPr>
        <p:spPr bwMode="auto">
          <a:xfrm>
            <a:off x="6011128" y="4171949"/>
            <a:ext cx="260350" cy="377825"/>
          </a:xfrm>
          <a:prstGeom prst="downArrow">
            <a:avLst>
              <a:gd name="adj1" fmla="val 50000"/>
              <a:gd name="adj2" fmla="val 50235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>
              <a:latin typeface="+mn-lt"/>
              <a:ea typeface="宋体" charset="-122"/>
            </a:endParaRPr>
          </a:p>
        </p:txBody>
      </p:sp>
      <p:sp>
        <p:nvSpPr>
          <p:cNvPr id="27" name="下箭头 26"/>
          <p:cNvSpPr/>
          <p:nvPr/>
        </p:nvSpPr>
        <p:spPr bwMode="auto">
          <a:xfrm>
            <a:off x="3672675" y="4171950"/>
            <a:ext cx="261258" cy="377371"/>
          </a:xfrm>
          <a:prstGeom prst="downArrow">
            <a:avLst/>
          </a:prstGeom>
          <a:solidFill>
            <a:srgbClr val="66FF33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scene3d>
            <a:camera prst="orthographicFront">
              <a:rot lat="10800000" lon="10800000" rev="0"/>
            </a:camera>
            <a:lightRig rig="threePt" dir="t"/>
          </a:scene3d>
        </p:spPr>
        <p:txBody>
          <a:bodyPr wrap="none"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20" name="下箭头 25"/>
          <p:cNvSpPr>
            <a:spLocks noChangeArrowheads="1"/>
          </p:cNvSpPr>
          <p:nvPr/>
        </p:nvSpPr>
        <p:spPr bwMode="auto">
          <a:xfrm>
            <a:off x="8141797" y="4324349"/>
            <a:ext cx="260350" cy="377825"/>
          </a:xfrm>
          <a:prstGeom prst="downArrow">
            <a:avLst>
              <a:gd name="adj1" fmla="val 50000"/>
              <a:gd name="adj2" fmla="val 50235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>
              <a:latin typeface="+mn-lt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6354494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26" grpId="0" animBg="1"/>
      <p:bldP spid="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414338" y="314036"/>
            <a:ext cx="8229600" cy="1181389"/>
          </a:xfrm>
        </p:spPr>
        <p:txBody>
          <a:bodyPr/>
          <a:lstStyle/>
          <a:p>
            <a:r>
              <a:rPr lang="en-US" sz="3600" dirty="0"/>
              <a:t>Valuation Methodologies</a:t>
            </a:r>
            <a:br>
              <a:rPr lang="en-US" sz="4800" dirty="0"/>
            </a:br>
            <a:r>
              <a:rPr lang="en-US" sz="2800" dirty="0"/>
              <a:t>- The Venture Capital Method</a:t>
            </a:r>
            <a:endParaRPr lang="zh-CN" altLang="en-US" sz="2800" b="0" dirty="0">
              <a:solidFill>
                <a:srgbClr val="336600"/>
              </a:solidFill>
              <a:ea typeface="宋体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315069"/>
              </p:ext>
            </p:extLst>
          </p:nvPr>
        </p:nvGraphicFramePr>
        <p:xfrm>
          <a:off x="333375" y="1781174"/>
          <a:ext cx="8229600" cy="294005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Scenario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 of Investors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 of Founders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Value for Founders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One Round 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Three Rounds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(Constant  IRR)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Difference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393950" y="3475037"/>
            <a:ext cx="20764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43%*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441825" y="3460749"/>
            <a:ext cx="2074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57%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488113" y="3359149"/>
            <a:ext cx="20748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$2.5m*15*57% = $21.375m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395538" y="4200524"/>
            <a:ext cx="20748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27.9%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456113" y="4200524"/>
            <a:ext cx="20748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27.9%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486525" y="4039040"/>
            <a:ext cx="207645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$21.375m – $10.92m</a:t>
            </a:r>
          </a:p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= $10.46m</a:t>
            </a:r>
          </a:p>
        </p:txBody>
      </p:sp>
      <p:sp>
        <p:nvSpPr>
          <p:cNvPr id="26" name="下箭头 25"/>
          <p:cNvSpPr>
            <a:spLocks noChangeArrowheads="1"/>
          </p:cNvSpPr>
          <p:nvPr/>
        </p:nvSpPr>
        <p:spPr bwMode="auto">
          <a:xfrm>
            <a:off x="3716338" y="4171949"/>
            <a:ext cx="260350" cy="377825"/>
          </a:xfrm>
          <a:prstGeom prst="downArrow">
            <a:avLst>
              <a:gd name="adj1" fmla="val 50000"/>
              <a:gd name="adj2" fmla="val 50235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>
              <a:latin typeface="+mn-lt"/>
              <a:ea typeface="宋体" charset="-122"/>
            </a:endParaRPr>
          </a:p>
        </p:txBody>
      </p:sp>
      <p:sp>
        <p:nvSpPr>
          <p:cNvPr id="27" name="下箭头 26"/>
          <p:cNvSpPr/>
          <p:nvPr/>
        </p:nvSpPr>
        <p:spPr bwMode="auto">
          <a:xfrm>
            <a:off x="5747659" y="4171950"/>
            <a:ext cx="261258" cy="377371"/>
          </a:xfrm>
          <a:prstGeom prst="downArrow">
            <a:avLst/>
          </a:prstGeom>
          <a:solidFill>
            <a:srgbClr val="66FF33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scene3d>
            <a:camera prst="orthographicFront">
              <a:rot lat="10800000" lon="10800000" rev="0"/>
            </a:camera>
            <a:lightRig rig="threePt" dir="t"/>
          </a:scene3d>
        </p:spPr>
        <p:txBody>
          <a:bodyPr wrap="none"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28" name="下箭头 27"/>
          <p:cNvSpPr/>
          <p:nvPr/>
        </p:nvSpPr>
        <p:spPr bwMode="auto">
          <a:xfrm>
            <a:off x="8285244" y="4200524"/>
            <a:ext cx="261258" cy="377371"/>
          </a:xfrm>
          <a:prstGeom prst="downArrow">
            <a:avLst/>
          </a:prstGeom>
          <a:solidFill>
            <a:srgbClr val="66FF33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scene3d>
            <a:camera prst="orthographicFront">
              <a:rot lat="10800000" lon="10800000" rev="0"/>
            </a:camera>
            <a:lightRig rig="threePt" dir="t"/>
          </a:scene3d>
        </p:spPr>
        <p:txBody>
          <a:bodyPr wrap="none"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36</a:t>
            </a:fld>
            <a:endParaRPr lang="en-US" altLang="en-US" dirty="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2380345" y="2532062"/>
            <a:ext cx="20764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(1.5</a:t>
            </a:r>
            <a:r>
              <a:rPr lang="en-US" altLang="zh-CN" sz="1400" baseline="30000" dirty="0">
                <a:latin typeface="+mn-lt"/>
                <a:ea typeface="宋体" charset="-122"/>
              </a:rPr>
              <a:t>5</a:t>
            </a:r>
            <a:r>
              <a:rPr lang="en-US" altLang="zh-CN" sz="1400" dirty="0">
                <a:latin typeface="+mn-lt"/>
                <a:ea typeface="宋体" charset="-122"/>
              </a:rPr>
              <a:t>*$3.5m) / (15*$2.5m) = 70.9%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456795" y="2647949"/>
            <a:ext cx="2074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+mn-lt"/>
                <a:ea typeface="宋体" charset="-122"/>
              </a:rPr>
              <a:t>29.1%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531658" y="2532062"/>
            <a:ext cx="20764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$2.5m*15*29.1% = $10.92m</a:t>
            </a:r>
          </a:p>
        </p:txBody>
      </p:sp>
      <p:sp>
        <p:nvSpPr>
          <p:cNvPr id="19" name="矩形 7"/>
          <p:cNvSpPr/>
          <p:nvPr/>
        </p:nvSpPr>
        <p:spPr bwMode="auto">
          <a:xfrm>
            <a:off x="345931" y="4906637"/>
            <a:ext cx="8375650" cy="5357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200" b="1" i="1" u="sng" dirty="0">
                <a:solidFill>
                  <a:srgbClr val="000000"/>
                </a:solidFill>
                <a:ea typeface="宋体" charset="-122"/>
              </a:rPr>
              <a:t>*</a:t>
            </a:r>
            <a:r>
              <a:rPr lang="en-US" altLang="zh-CN" sz="1100" b="1" i="1" u="sng" dirty="0">
                <a:solidFill>
                  <a:srgbClr val="000000"/>
                </a:solidFill>
                <a:ea typeface="宋体" charset="-122"/>
              </a:rPr>
              <a:t>Final</a:t>
            </a:r>
            <a:r>
              <a:rPr lang="en-US" altLang="zh-CN" sz="1200" b="1" i="1" u="sng" dirty="0">
                <a:solidFill>
                  <a:srgbClr val="000000"/>
                </a:solidFill>
                <a:ea typeface="宋体" charset="-122"/>
              </a:rPr>
              <a:t> % Ownership of Investors at liquidity </a:t>
            </a:r>
          </a:p>
          <a:p>
            <a:r>
              <a:rPr lang="en-US" altLang="zh-CN" sz="1200" dirty="0">
                <a:solidFill>
                  <a:srgbClr val="000000"/>
                </a:solidFill>
                <a:ea typeface="宋体" charset="-122"/>
              </a:rPr>
              <a:t>(536,424 + 158, 940 + 70,640) / (1,000,000 + 536,424 + 158, 940 + 70,640) =  (766,004/ 1,766,004)= 43%</a:t>
            </a:r>
            <a:endParaRPr lang="zh-CN" altLang="en-US" sz="1200" dirty="0">
              <a:solidFill>
                <a:schemeClr val="tx1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1268116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5" grpId="0"/>
      <p:bldP spid="16" grpId="0"/>
      <p:bldP spid="18" grpId="0"/>
      <p:bldP spid="26" grpId="0" animBg="1"/>
      <p:bldP spid="20" grpId="0"/>
      <p:bldP spid="21" grpId="0"/>
      <p:bldP spid="22" grpId="0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457200" y="198685"/>
            <a:ext cx="8229600" cy="1060263"/>
          </a:xfrm>
        </p:spPr>
        <p:txBody>
          <a:bodyPr/>
          <a:lstStyle/>
          <a:p>
            <a:r>
              <a:rPr lang="en-US" sz="3600" dirty="0"/>
              <a:t>Valuation Methodologies</a:t>
            </a:r>
            <a:br>
              <a:rPr lang="en-US" sz="3600" dirty="0"/>
            </a:br>
            <a:r>
              <a:rPr lang="en-US" sz="2800" dirty="0"/>
              <a:t>- </a:t>
            </a:r>
            <a:r>
              <a:rPr lang="en-US" sz="2000" dirty="0"/>
              <a:t>The Venture Capital Method -  Liquidity event at the end of Year 6</a:t>
            </a:r>
            <a:r>
              <a:rPr lang="en-US" sz="2800" dirty="0"/>
              <a:t> </a:t>
            </a:r>
            <a:endParaRPr lang="zh-CN" altLang="en-US" sz="2800" b="0" dirty="0">
              <a:solidFill>
                <a:srgbClr val="336600"/>
              </a:solidFill>
              <a:ea typeface="宋体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776658"/>
              </p:ext>
            </p:extLst>
          </p:nvPr>
        </p:nvGraphicFramePr>
        <p:xfrm>
          <a:off x="376238" y="1511114"/>
          <a:ext cx="8258175" cy="3989391"/>
        </p:xfrm>
        <a:graphic>
          <a:graphicData uri="http://schemas.openxmlformats.org/drawingml/2006/table">
            <a:tbl>
              <a:tblPr/>
              <a:tblGrid>
                <a:gridCol w="206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5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91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宋体" charset="-122"/>
                        </a:rPr>
                        <a:t>Items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宋体" charset="-122"/>
                        </a:rPr>
                        <a:t>Investor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Round I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Round II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Round III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Retention Ratio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Current % Ownership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New Shares Issued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Share Price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422525" y="2711264"/>
            <a:ext cx="2133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(1.5</a:t>
            </a:r>
            <a:r>
              <a:rPr lang="en-US" altLang="zh-CN" sz="1400" baseline="30000" dirty="0">
                <a:latin typeface="+mn-lt"/>
                <a:ea typeface="宋体" charset="-122"/>
              </a:rPr>
              <a:t>5</a:t>
            </a:r>
            <a:r>
              <a:rPr lang="en-US" altLang="zh-CN" sz="1400" dirty="0">
                <a:latin typeface="+mn-lt"/>
                <a:ea typeface="宋体" charset="-122"/>
              </a:rPr>
              <a:t>*$1.5m) / (15*$2.5m) = 30.4%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43424" y="2696977"/>
            <a:ext cx="19859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(1.</a:t>
            </a:r>
            <a:r>
              <a:rPr lang="en-US" altLang="zh-CN" sz="1400" b="1" dirty="0">
                <a:solidFill>
                  <a:srgbClr val="FF0000"/>
                </a:solidFill>
                <a:latin typeface="+mn-lt"/>
                <a:ea typeface="宋体" charset="-122"/>
              </a:rPr>
              <a:t>7</a:t>
            </a:r>
            <a:r>
              <a:rPr lang="en-US" altLang="zh-CN" sz="1400" baseline="30000" dirty="0">
                <a:solidFill>
                  <a:srgbClr val="FF0000"/>
                </a:solidFill>
                <a:latin typeface="+mn-lt"/>
                <a:ea typeface="宋体" charset="-122"/>
              </a:rPr>
              <a:t>4</a:t>
            </a:r>
            <a:r>
              <a:rPr lang="en-US" altLang="zh-CN" sz="1400" dirty="0">
                <a:latin typeface="+mn-lt"/>
                <a:ea typeface="宋体" charset="-122"/>
              </a:rPr>
              <a:t>*$1m) / (15*$2.5m) = 22.3%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573838" y="2696977"/>
            <a:ext cx="2032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(1.</a:t>
            </a:r>
            <a:r>
              <a:rPr lang="en-US" altLang="zh-CN" sz="1400" dirty="0">
                <a:solidFill>
                  <a:srgbClr val="FF0000"/>
                </a:solidFill>
                <a:latin typeface="+mn-lt"/>
                <a:ea typeface="宋体" charset="-122"/>
              </a:rPr>
              <a:t>7</a:t>
            </a:r>
            <a:r>
              <a:rPr lang="en-US" altLang="zh-CN" sz="1400" baseline="30000" dirty="0">
                <a:solidFill>
                  <a:srgbClr val="FF0000"/>
                </a:solidFill>
                <a:latin typeface="+mn-lt"/>
                <a:ea typeface="宋体" charset="-122"/>
              </a:rPr>
              <a:t>2</a:t>
            </a:r>
            <a:r>
              <a:rPr lang="en-US" altLang="zh-CN" sz="1400" dirty="0">
                <a:latin typeface="+mn-lt"/>
                <a:ea typeface="宋体" charset="-122"/>
              </a:rPr>
              <a:t>*$1m) / (15*$2.5m) = 7.7%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393950" y="3351027"/>
            <a:ext cx="21336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100 - </a:t>
            </a:r>
            <a:r>
              <a:rPr lang="en-US" altLang="zh-CN" sz="1400" b="1" i="1" u="sng" dirty="0">
                <a:latin typeface="+mn-lt"/>
                <a:ea typeface="宋体" charset="-122"/>
              </a:rPr>
              <a:t>(22.3%+7.7%)</a:t>
            </a:r>
            <a:r>
              <a:rPr lang="en-US" altLang="zh-CN" sz="1400" dirty="0">
                <a:latin typeface="+mn-lt"/>
                <a:ea typeface="宋体" charset="-122"/>
              </a:rPr>
              <a:t>= 70%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483100" y="3351027"/>
            <a:ext cx="21336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100% -7.7%=92.3%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529388" y="3351027"/>
            <a:ext cx="21336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100%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549235" y="3828864"/>
            <a:ext cx="18288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30.4% / 70% = 43.4% (in year 1)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556125" y="3814577"/>
            <a:ext cx="19110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zh-CN" sz="1400" dirty="0">
                <a:latin typeface="+mn-lt"/>
                <a:ea typeface="宋体" charset="-122"/>
              </a:rPr>
              <a:t>22.3% / 92.3% =24.2%</a:t>
            </a:r>
          </a:p>
          <a:p>
            <a:pPr algn="ctr">
              <a:spcBef>
                <a:spcPts val="0"/>
              </a:spcBef>
            </a:pPr>
            <a:r>
              <a:rPr lang="en-US" altLang="zh-CN" sz="1400" dirty="0">
                <a:latin typeface="+mn-lt"/>
                <a:ea typeface="宋体" charset="-122"/>
              </a:rPr>
              <a:t>  </a:t>
            </a:r>
            <a:r>
              <a:rPr lang="en-US" altLang="zh-CN" sz="1100" dirty="0">
                <a:latin typeface="+mn-lt"/>
                <a:ea typeface="宋体" charset="-122"/>
              </a:rPr>
              <a:t>(in the beginning of year 3)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37868" y="3795196"/>
            <a:ext cx="15483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zh-CN" sz="1400" dirty="0">
                <a:latin typeface="+mn-lt"/>
                <a:ea typeface="宋体" charset="-122"/>
              </a:rPr>
              <a:t>7.7% </a:t>
            </a:r>
          </a:p>
          <a:p>
            <a:pPr algn="ctr">
              <a:spcBef>
                <a:spcPts val="0"/>
              </a:spcBef>
            </a:pPr>
            <a:r>
              <a:rPr lang="en-US" altLang="zh-CN" sz="1000" dirty="0">
                <a:latin typeface="+mn-lt"/>
                <a:ea typeface="宋体" charset="-122"/>
              </a:rPr>
              <a:t>(in the beginning of year 5)</a:t>
            </a:r>
            <a:endParaRPr lang="zh-CN" altLang="en-US" sz="1000" dirty="0">
              <a:latin typeface="+mn-lt"/>
              <a:ea typeface="宋体" charset="-122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408238" y="4367027"/>
            <a:ext cx="213360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[43.4 %/ (100%-43.4%)] * 1,000,000 = 766,784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497388" y="4381314"/>
            <a:ext cx="207645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[24.2% / (100%-24.2%)] * </a:t>
            </a:r>
            <a:r>
              <a:rPr lang="en-US" altLang="zh-CN" sz="1400" b="1" i="1" u="sng" dirty="0">
                <a:latin typeface="+mn-lt"/>
                <a:ea typeface="宋体" charset="-122"/>
              </a:rPr>
              <a:t>1,766,784 </a:t>
            </a:r>
            <a:r>
              <a:rPr lang="en-US" altLang="zh-CN" sz="1400" dirty="0">
                <a:latin typeface="+mn-lt"/>
                <a:ea typeface="宋体" charset="-122"/>
              </a:rPr>
              <a:t>= 564,066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545263" y="4367027"/>
            <a:ext cx="20891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[7.7% / (100%-7.7%)] * </a:t>
            </a:r>
            <a:r>
              <a:rPr lang="en-US" altLang="zh-CN" sz="1400" b="1" i="1" u="sng" dirty="0">
                <a:latin typeface="+mn-lt"/>
                <a:ea typeface="宋体" charset="-122"/>
              </a:rPr>
              <a:t>2,330,850  </a:t>
            </a:r>
            <a:r>
              <a:rPr lang="en-US" altLang="zh-CN" sz="1400" dirty="0">
                <a:latin typeface="+mn-lt"/>
                <a:ea typeface="宋体" charset="-122"/>
              </a:rPr>
              <a:t>= 194,448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393950" y="5062352"/>
            <a:ext cx="2133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$1.5m / 766,784 = $1.96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468813" y="5048064"/>
            <a:ext cx="2133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$1m / 564,066 = $1.77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6545263" y="5048064"/>
            <a:ext cx="2133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$1m / 194,448 = $5.14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08794" y="5500505"/>
            <a:ext cx="8069262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 i="1" dirty="0">
                <a:latin typeface="+mn-lt"/>
                <a:ea typeface="宋体" charset="-122"/>
              </a:rPr>
              <a:t>Notes:  </a:t>
            </a:r>
            <a:r>
              <a:rPr lang="en-US" altLang="zh-CN" sz="1400" dirty="0">
                <a:latin typeface="+mn-lt"/>
                <a:ea typeface="宋体" charset="-122"/>
              </a:rPr>
              <a:t>The Retention ratio quantifies the expected dilutive effect of future financing rounds.</a:t>
            </a:r>
          </a:p>
          <a:p>
            <a:r>
              <a:rPr lang="en-US" altLang="zh-CN" sz="1400" dirty="0">
                <a:latin typeface="+mn-lt"/>
                <a:ea typeface="宋体" charset="-122"/>
              </a:rPr>
              <a:t>Investor ownership at Liquidity: </a:t>
            </a:r>
            <a:r>
              <a:rPr lang="en-US" altLang="zh-CN" sz="1100" dirty="0">
                <a:latin typeface="+mn-lt"/>
                <a:ea typeface="宋体" charset="-122"/>
              </a:rPr>
              <a:t>(766,784+ 564,066+194,448)/(1,000,000 + </a:t>
            </a:r>
            <a:r>
              <a:rPr lang="en-US" altLang="zh-CN" sz="1050" dirty="0">
                <a:ea typeface="宋体" charset="-122"/>
              </a:rPr>
              <a:t>766,784+ 564,066+194,448</a:t>
            </a:r>
            <a:r>
              <a:rPr lang="en-US" altLang="zh-CN" sz="1100" dirty="0">
                <a:ea typeface="宋体" charset="-122"/>
              </a:rPr>
              <a:t>) = </a:t>
            </a:r>
            <a:r>
              <a:rPr lang="en-US" altLang="zh-CN" sz="1200" b="1" dirty="0">
                <a:ea typeface="宋体" charset="-122"/>
              </a:rPr>
              <a:t>60%</a:t>
            </a:r>
            <a:endParaRPr lang="en-US" altLang="zh-CN" sz="1400" b="1" dirty="0">
              <a:latin typeface="+mn-lt"/>
              <a:ea typeface="宋体" charset="-122"/>
            </a:endParaRPr>
          </a:p>
          <a:p>
            <a:r>
              <a:rPr lang="en-US" altLang="zh-CN" sz="1400" dirty="0">
                <a:latin typeface="+mn-lt"/>
                <a:ea typeface="宋体" charset="-122"/>
              </a:rPr>
              <a:t> 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67206893"/>
      </p:ext>
    </p:extLst>
  </p:cSld>
  <p:clrMapOvr>
    <a:masterClrMapping/>
  </p:clrMapOvr>
  <p:transition spd="med">
    <p:pull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406400" y="252265"/>
            <a:ext cx="8229600" cy="1181389"/>
          </a:xfrm>
        </p:spPr>
        <p:txBody>
          <a:bodyPr>
            <a:normAutofit/>
          </a:bodyPr>
          <a:lstStyle/>
          <a:p>
            <a:r>
              <a:rPr lang="en-US" sz="3600" dirty="0"/>
              <a:t>Valuation Methodologies</a:t>
            </a:r>
            <a:br>
              <a:rPr lang="en-US" sz="4800" dirty="0"/>
            </a:br>
            <a:r>
              <a:rPr lang="en-US" sz="2800" dirty="0"/>
              <a:t>- The Venture Capital Method</a:t>
            </a:r>
            <a:endParaRPr lang="zh-CN" altLang="en-US" sz="2800" b="0" dirty="0">
              <a:solidFill>
                <a:srgbClr val="336600"/>
              </a:solidFill>
              <a:ea typeface="宋体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38</a:t>
            </a:fld>
            <a:endParaRPr lang="en-US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264051"/>
              </p:ext>
            </p:extLst>
          </p:nvPr>
        </p:nvGraphicFramePr>
        <p:xfrm>
          <a:off x="333375" y="1781174"/>
          <a:ext cx="8229600" cy="294005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Scenario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 of Investors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 of Founders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Value for Founders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Three Rounds (Declining IRR)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Three Rounds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(Increasing IRR)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Difference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393950" y="3475037"/>
            <a:ext cx="20764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60%*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45931" y="4765963"/>
            <a:ext cx="8375650" cy="5357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200" b="1" i="1" u="sng" dirty="0">
                <a:solidFill>
                  <a:srgbClr val="000000"/>
                </a:solidFill>
                <a:ea typeface="宋体" charset="-122"/>
              </a:rPr>
              <a:t>*</a:t>
            </a:r>
            <a:r>
              <a:rPr lang="en-US" altLang="zh-CN" sz="1100" b="1" i="1" u="sng" dirty="0">
                <a:solidFill>
                  <a:srgbClr val="000000"/>
                </a:solidFill>
                <a:ea typeface="宋体" charset="-122"/>
              </a:rPr>
              <a:t>Final</a:t>
            </a:r>
            <a:r>
              <a:rPr lang="en-US" altLang="zh-CN" sz="1200" b="1" i="1" u="sng" dirty="0">
                <a:solidFill>
                  <a:srgbClr val="000000"/>
                </a:solidFill>
                <a:ea typeface="宋体" charset="-122"/>
              </a:rPr>
              <a:t> % Ownership of Investors:</a:t>
            </a:r>
          </a:p>
          <a:p>
            <a:r>
              <a:rPr lang="en-US" altLang="zh-CN" sz="1200" dirty="0">
                <a:ea typeface="宋体" charset="-122"/>
              </a:rPr>
              <a:t>(766,784+ 564,066+194,448)/(1,000,000 + </a:t>
            </a:r>
            <a:r>
              <a:rPr lang="en-US" altLang="zh-CN" sz="1100" dirty="0">
                <a:ea typeface="宋体" charset="-122"/>
              </a:rPr>
              <a:t>766,784+ 564,066+194,448</a:t>
            </a:r>
            <a:r>
              <a:rPr lang="en-US" altLang="zh-CN" sz="1200" dirty="0">
                <a:ea typeface="宋体" charset="-122"/>
              </a:rPr>
              <a:t>) = </a:t>
            </a:r>
            <a:r>
              <a:rPr lang="en-US" altLang="zh-CN" sz="1400" b="1" dirty="0">
                <a:ea typeface="宋体" charset="-122"/>
              </a:rPr>
              <a:t>60%</a:t>
            </a:r>
            <a:endParaRPr lang="zh-CN" altLang="en-US" sz="1200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441825" y="3460749"/>
            <a:ext cx="2074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40%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488113" y="3359149"/>
            <a:ext cx="20748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$2.5m*15*40% = $15.00m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408238" y="2749549"/>
            <a:ext cx="20764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41%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441825" y="2749549"/>
            <a:ext cx="2074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59%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516688" y="2633662"/>
            <a:ext cx="20764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$2.5m*15*59% = $22.125m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395538" y="4200524"/>
            <a:ext cx="204628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19%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125916" y="4200524"/>
            <a:ext cx="925146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19%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486525" y="4039040"/>
            <a:ext cx="207645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$22.125m-$15.00m </a:t>
            </a:r>
          </a:p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= $7.13  </a:t>
            </a:r>
          </a:p>
        </p:txBody>
      </p:sp>
      <p:sp>
        <p:nvSpPr>
          <p:cNvPr id="27" name="下箭头 26"/>
          <p:cNvSpPr/>
          <p:nvPr/>
        </p:nvSpPr>
        <p:spPr bwMode="auto">
          <a:xfrm>
            <a:off x="3778183" y="4171950"/>
            <a:ext cx="261258" cy="377371"/>
          </a:xfrm>
          <a:prstGeom prst="downArrow">
            <a:avLst/>
          </a:prstGeom>
          <a:solidFill>
            <a:srgbClr val="66FF33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scene3d>
            <a:camera prst="orthographicFront">
              <a:rot lat="10800000" lon="10800000" rev="0"/>
            </a:camera>
            <a:lightRig rig="threePt" dir="t"/>
          </a:scene3d>
        </p:spPr>
        <p:txBody>
          <a:bodyPr wrap="none"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21" name="下箭头 25"/>
          <p:cNvSpPr>
            <a:spLocks noChangeArrowheads="1"/>
          </p:cNvSpPr>
          <p:nvPr/>
        </p:nvSpPr>
        <p:spPr bwMode="auto">
          <a:xfrm>
            <a:off x="6058021" y="4188073"/>
            <a:ext cx="260350" cy="382220"/>
          </a:xfrm>
          <a:prstGeom prst="downArrow">
            <a:avLst>
              <a:gd name="adj1" fmla="val 50000"/>
              <a:gd name="adj2" fmla="val 50235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>
              <a:latin typeface="+mn-lt"/>
              <a:ea typeface="宋体" charset="-122"/>
            </a:endParaRPr>
          </a:p>
        </p:txBody>
      </p:sp>
      <p:sp>
        <p:nvSpPr>
          <p:cNvPr id="22" name="下箭头 25"/>
          <p:cNvSpPr>
            <a:spLocks noChangeArrowheads="1"/>
          </p:cNvSpPr>
          <p:nvPr/>
        </p:nvSpPr>
        <p:spPr bwMode="auto">
          <a:xfrm>
            <a:off x="7933713" y="4296513"/>
            <a:ext cx="260350" cy="382220"/>
          </a:xfrm>
          <a:prstGeom prst="downArrow">
            <a:avLst>
              <a:gd name="adj1" fmla="val 50000"/>
              <a:gd name="adj2" fmla="val 50235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>
              <a:latin typeface="+mn-lt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8851742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21" grpId="0" animBg="1"/>
      <p:bldP spid="2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414338" y="314036"/>
            <a:ext cx="8229600" cy="1181389"/>
          </a:xfrm>
        </p:spPr>
        <p:txBody>
          <a:bodyPr/>
          <a:lstStyle/>
          <a:p>
            <a:r>
              <a:rPr lang="en-US" sz="3600" dirty="0"/>
              <a:t>Valuation Methodologies</a:t>
            </a:r>
            <a:br>
              <a:rPr lang="en-US" sz="4800" dirty="0"/>
            </a:br>
            <a:r>
              <a:rPr lang="en-US" sz="2800" dirty="0"/>
              <a:t>- The Venture Capital Method</a:t>
            </a:r>
            <a:endParaRPr lang="zh-CN" altLang="en-US" sz="2800" b="0" dirty="0">
              <a:solidFill>
                <a:srgbClr val="336600"/>
              </a:solidFill>
              <a:ea typeface="宋体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500946"/>
              </p:ext>
            </p:extLst>
          </p:nvPr>
        </p:nvGraphicFramePr>
        <p:xfrm>
          <a:off x="333375" y="1781174"/>
          <a:ext cx="8229600" cy="294005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Scenario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 of Investors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 of Founders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宋体" charset="-122"/>
                        </a:rPr>
                        <a:t>Value for Founders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One Round 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Three Rounds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(Increasing IRR)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</a:rPr>
                        <a:t>Difference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66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393950" y="3475037"/>
            <a:ext cx="20764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60%*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45931" y="4765963"/>
            <a:ext cx="8375650" cy="5357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200" b="1" i="1" u="sng" dirty="0">
                <a:solidFill>
                  <a:srgbClr val="000000"/>
                </a:solidFill>
                <a:ea typeface="宋体" charset="-122"/>
              </a:rPr>
              <a:t>*</a:t>
            </a:r>
            <a:r>
              <a:rPr lang="en-US" altLang="zh-CN" sz="1100" b="1" i="1" u="sng" dirty="0">
                <a:solidFill>
                  <a:srgbClr val="000000"/>
                </a:solidFill>
                <a:ea typeface="宋体" charset="-122"/>
              </a:rPr>
              <a:t>Final</a:t>
            </a:r>
            <a:r>
              <a:rPr lang="en-US" altLang="zh-CN" sz="1200" b="1" i="1" u="sng" dirty="0">
                <a:solidFill>
                  <a:srgbClr val="000000"/>
                </a:solidFill>
                <a:ea typeface="宋体" charset="-122"/>
              </a:rPr>
              <a:t> % Ownership at Liquidity of Investors 3 rounds  increasing IRR:</a:t>
            </a:r>
          </a:p>
          <a:p>
            <a:r>
              <a:rPr lang="en-US" altLang="zh-CN" sz="1200" dirty="0">
                <a:ea typeface="宋体" charset="-122"/>
              </a:rPr>
              <a:t>(766,784+ 564,066+194,448)/(1,000,000 + </a:t>
            </a:r>
            <a:r>
              <a:rPr lang="en-US" altLang="zh-CN" sz="1100" dirty="0">
                <a:ea typeface="宋体" charset="-122"/>
              </a:rPr>
              <a:t>766,784+ 564,066+194,448</a:t>
            </a:r>
            <a:r>
              <a:rPr lang="en-US" altLang="zh-CN" sz="1200" dirty="0">
                <a:ea typeface="宋体" charset="-122"/>
              </a:rPr>
              <a:t>) = </a:t>
            </a:r>
            <a:r>
              <a:rPr lang="en-US" altLang="zh-CN" sz="1400" b="1" dirty="0">
                <a:ea typeface="宋体" charset="-122"/>
              </a:rPr>
              <a:t>60%</a:t>
            </a:r>
            <a:endParaRPr lang="zh-CN" altLang="en-US" sz="1200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441825" y="3460749"/>
            <a:ext cx="2074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40%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488113" y="3359149"/>
            <a:ext cx="20748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$2.5m*15*40% = $15.00m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395538" y="4200524"/>
            <a:ext cx="20748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10.9%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456113" y="4200524"/>
            <a:ext cx="20748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27.9%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486525" y="4039040"/>
            <a:ext cx="207645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$15.00m – $10.92m</a:t>
            </a:r>
          </a:p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= $4.08m</a:t>
            </a:r>
          </a:p>
        </p:txBody>
      </p:sp>
      <p:sp>
        <p:nvSpPr>
          <p:cNvPr id="26" name="下箭头 25"/>
          <p:cNvSpPr>
            <a:spLocks noChangeArrowheads="1"/>
          </p:cNvSpPr>
          <p:nvPr/>
        </p:nvSpPr>
        <p:spPr bwMode="auto">
          <a:xfrm>
            <a:off x="3716338" y="4171949"/>
            <a:ext cx="260350" cy="377825"/>
          </a:xfrm>
          <a:prstGeom prst="downArrow">
            <a:avLst>
              <a:gd name="adj1" fmla="val 50000"/>
              <a:gd name="adj2" fmla="val 50235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>
              <a:latin typeface="+mn-lt"/>
              <a:ea typeface="宋体" charset="-122"/>
            </a:endParaRPr>
          </a:p>
        </p:txBody>
      </p:sp>
      <p:sp>
        <p:nvSpPr>
          <p:cNvPr id="27" name="下箭头 26"/>
          <p:cNvSpPr/>
          <p:nvPr/>
        </p:nvSpPr>
        <p:spPr bwMode="auto">
          <a:xfrm>
            <a:off x="5747659" y="4171950"/>
            <a:ext cx="261258" cy="377371"/>
          </a:xfrm>
          <a:prstGeom prst="downArrow">
            <a:avLst/>
          </a:prstGeom>
          <a:solidFill>
            <a:srgbClr val="66FF33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scene3d>
            <a:camera prst="orthographicFront">
              <a:rot lat="10800000" lon="10800000" rev="0"/>
            </a:camera>
            <a:lightRig rig="threePt" dir="t"/>
          </a:scene3d>
        </p:spPr>
        <p:txBody>
          <a:bodyPr wrap="none"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28" name="下箭头 27"/>
          <p:cNvSpPr/>
          <p:nvPr/>
        </p:nvSpPr>
        <p:spPr bwMode="auto">
          <a:xfrm>
            <a:off x="8285244" y="4200524"/>
            <a:ext cx="261258" cy="377371"/>
          </a:xfrm>
          <a:prstGeom prst="downArrow">
            <a:avLst/>
          </a:prstGeom>
          <a:solidFill>
            <a:srgbClr val="66FF33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scene3d>
            <a:camera prst="orthographicFront">
              <a:rot lat="10800000" lon="10800000" rev="0"/>
            </a:camera>
            <a:lightRig rig="threePt" dir="t"/>
          </a:scene3d>
        </p:spPr>
        <p:txBody>
          <a:bodyPr wrap="none"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39</a:t>
            </a:fld>
            <a:endParaRPr lang="en-US" altLang="en-US" dirty="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2380345" y="2532062"/>
            <a:ext cx="20764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(1.5</a:t>
            </a:r>
            <a:r>
              <a:rPr lang="en-US" altLang="zh-CN" sz="1400" baseline="30000" dirty="0">
                <a:latin typeface="+mn-lt"/>
                <a:ea typeface="宋体" charset="-122"/>
              </a:rPr>
              <a:t>5</a:t>
            </a:r>
            <a:r>
              <a:rPr lang="en-US" altLang="zh-CN" sz="1400" dirty="0">
                <a:latin typeface="+mn-lt"/>
                <a:ea typeface="宋体" charset="-122"/>
              </a:rPr>
              <a:t>*$3.5m) / (15*$2.5m) = 70.9%</a:t>
            </a:r>
            <a:endParaRPr lang="zh-CN" altLang="en-US" sz="1400" dirty="0">
              <a:latin typeface="+mn-lt"/>
              <a:ea typeface="宋体" charset="-122"/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456795" y="2647949"/>
            <a:ext cx="2074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+mn-lt"/>
                <a:ea typeface="宋体" charset="-122"/>
              </a:rPr>
              <a:t>29.1%</a:t>
            </a:r>
            <a:endParaRPr lang="zh-CN" altLang="en-US" sz="1400">
              <a:latin typeface="+mn-lt"/>
              <a:ea typeface="宋体" charset="-122"/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531658" y="2532062"/>
            <a:ext cx="207645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+mn-lt"/>
                <a:ea typeface="宋体" charset="-122"/>
              </a:rPr>
              <a:t>$2.5m*15*29.1% = $10.92m</a:t>
            </a:r>
          </a:p>
        </p:txBody>
      </p:sp>
    </p:spTree>
    <p:extLst>
      <p:ext uri="{BB962C8B-B14F-4D97-AF65-F5344CB8AC3E}">
        <p14:creationId xmlns:p14="http://schemas.microsoft.com/office/powerpoint/2010/main" val="4042881814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/>
      <p:bldP spid="11" grpId="0"/>
      <p:bldP spid="15" grpId="0"/>
      <p:bldP spid="16" grpId="0"/>
      <p:bldP spid="18" grpId="0"/>
      <p:bldP spid="26" grpId="0" animBg="1"/>
      <p:bldP spid="20" grpId="0"/>
      <p:bldP spid="21" grpId="0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Follow-on Investments --- Exercising the Preemptive Right </a:t>
            </a:r>
          </a:p>
          <a:p>
            <a:pPr lvl="1"/>
            <a:r>
              <a:rPr lang="en-US" sz="2000" dirty="0"/>
              <a:t>Assuming the first round investor decides to buy pro-rata shares in the second and third round to maintain his/her current % of ownership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40</a:t>
            </a:fld>
            <a:endParaRPr lang="en-US" altLang="en-US" dirty="0"/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1116212" y="4458066"/>
            <a:ext cx="7347568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auto">
          <a:xfrm>
            <a:off x="1116212" y="4296225"/>
            <a:ext cx="0" cy="307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auto">
          <a:xfrm>
            <a:off x="2417681" y="4294875"/>
            <a:ext cx="0" cy="307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>
            <a:off x="3840530" y="4296225"/>
            <a:ext cx="0" cy="307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auto">
          <a:xfrm>
            <a:off x="5303840" y="4304317"/>
            <a:ext cx="0" cy="307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>
            <a:off x="6745572" y="4302968"/>
            <a:ext cx="0" cy="307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 bwMode="auto">
          <a:xfrm>
            <a:off x="8311380" y="4304317"/>
            <a:ext cx="0" cy="307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2216" y="4717010"/>
            <a:ext cx="6279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Year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685" y="4717149"/>
            <a:ext cx="6279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Year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7384" y="4717009"/>
            <a:ext cx="6279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Year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1576" y="4717428"/>
            <a:ext cx="6279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Year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9844" y="4717149"/>
            <a:ext cx="6279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Year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6534" y="4717149"/>
            <a:ext cx="6279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n-lt"/>
              </a:rPr>
              <a:t>Year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346" y="5139142"/>
            <a:ext cx="17857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100" u="sng" dirty="0">
                <a:latin typeface="+mn-lt"/>
              </a:rPr>
              <a:t>First Round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Investment: $1.5M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New Share Issued: </a:t>
            </a:r>
            <a:r>
              <a:rPr lang="en-US" altLang="zh-CN" sz="1100" dirty="0">
                <a:latin typeface="+mn-lt"/>
                <a:ea typeface="宋体" charset="-122"/>
              </a:rPr>
              <a:t>515,151</a:t>
            </a:r>
            <a:endParaRPr lang="zh-CN" altLang="en-US" sz="1100" dirty="0">
              <a:latin typeface="+mn-lt"/>
              <a:ea typeface="宋体" charset="-122"/>
            </a:endParaRP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Share Price:  $2.91/share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7664" y="5139141"/>
            <a:ext cx="17857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100" u="sng" dirty="0">
                <a:latin typeface="+mn-lt"/>
              </a:rPr>
              <a:t>Second Round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Investment: $1M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New Share Issued: </a:t>
            </a:r>
            <a:r>
              <a:rPr lang="en-US" altLang="zh-CN" sz="1100" dirty="0">
                <a:latin typeface="+mn-lt"/>
                <a:ea typeface="宋体" charset="-122"/>
              </a:rPr>
              <a:t>124,623</a:t>
            </a:r>
            <a:endParaRPr lang="zh-CN" altLang="en-US" sz="1100" dirty="0">
              <a:latin typeface="+mn-lt"/>
              <a:ea typeface="宋体" charset="-122"/>
            </a:endParaRP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Share Price:  $8.02/share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706" y="5138491"/>
            <a:ext cx="17857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100" u="sng" dirty="0">
                <a:latin typeface="+mn-lt"/>
              </a:rPr>
              <a:t>Third Round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Investment: $1M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New Share Issued: </a:t>
            </a:r>
            <a:r>
              <a:rPr lang="en-US" sz="1100" dirty="0">
                <a:latin typeface="+mn-lt"/>
                <a:ea typeface="宋体" charset="-122"/>
              </a:rPr>
              <a:t>55</a:t>
            </a:r>
            <a:r>
              <a:rPr lang="en-US" altLang="zh-CN" sz="1100" dirty="0">
                <a:latin typeface="+mn-lt"/>
                <a:ea typeface="宋体" charset="-122"/>
              </a:rPr>
              <a:t>,959</a:t>
            </a:r>
            <a:endParaRPr lang="zh-CN" altLang="en-US" sz="1100" dirty="0">
              <a:latin typeface="+mn-lt"/>
              <a:ea typeface="宋体" charset="-122"/>
            </a:endParaRP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Share Price:  $17.87/share</a:t>
            </a:r>
          </a:p>
        </p:txBody>
      </p:sp>
      <p:sp>
        <p:nvSpPr>
          <p:cNvPr id="28" name="Down Arrow 27"/>
          <p:cNvSpPr/>
          <p:nvPr/>
        </p:nvSpPr>
        <p:spPr bwMode="auto">
          <a:xfrm>
            <a:off x="873896" y="3907184"/>
            <a:ext cx="484632" cy="355321"/>
          </a:xfrm>
          <a:prstGeom prst="downArrow">
            <a:avLst/>
          </a:prstGeom>
          <a:solidFill>
            <a:srgbClr val="FFC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3346" y="3119834"/>
            <a:ext cx="178573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100" u="sng" dirty="0">
                <a:latin typeface="+mn-lt"/>
              </a:rPr>
              <a:t>First Round Investor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Current % of Ownership: 34%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7664" y="3035196"/>
            <a:ext cx="17857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100" u="sng" dirty="0">
                <a:latin typeface="+mn-lt"/>
              </a:rPr>
              <a:t>First Round Investor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Pro-rata shares to buy = 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34% * 124,623 = 42,372 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@ $8.02 / share</a:t>
            </a:r>
          </a:p>
        </p:txBody>
      </p:sp>
      <p:sp>
        <p:nvSpPr>
          <p:cNvPr id="31" name="Down Arrow 30"/>
          <p:cNvSpPr/>
          <p:nvPr/>
        </p:nvSpPr>
        <p:spPr bwMode="auto">
          <a:xfrm>
            <a:off x="3598214" y="3850570"/>
            <a:ext cx="484632" cy="355321"/>
          </a:xfrm>
          <a:prstGeom prst="downArrow">
            <a:avLst/>
          </a:prstGeom>
          <a:solidFill>
            <a:srgbClr val="FFC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852706" y="3035228"/>
            <a:ext cx="17857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100" u="sng" dirty="0">
                <a:latin typeface="+mn-lt"/>
              </a:rPr>
              <a:t>First Round Investor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Pro-rata shares to buy = 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34% * 55,959 = 19,026 </a:t>
            </a:r>
          </a:p>
          <a:p>
            <a:pPr algn="ctr">
              <a:spcBef>
                <a:spcPts val="0"/>
              </a:spcBef>
            </a:pPr>
            <a:r>
              <a:rPr lang="en-US" sz="1100" dirty="0">
                <a:latin typeface="+mn-lt"/>
              </a:rPr>
              <a:t>@ $17.87 / share</a:t>
            </a:r>
          </a:p>
        </p:txBody>
      </p:sp>
      <p:sp>
        <p:nvSpPr>
          <p:cNvPr id="33" name="Down Arrow 32"/>
          <p:cNvSpPr/>
          <p:nvPr/>
        </p:nvSpPr>
        <p:spPr bwMode="auto">
          <a:xfrm>
            <a:off x="6503256" y="3850602"/>
            <a:ext cx="484632" cy="355321"/>
          </a:xfrm>
          <a:prstGeom prst="downArrow">
            <a:avLst/>
          </a:prstGeom>
          <a:solidFill>
            <a:srgbClr val="FFC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4917407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  <p:bldP spid="29" grpId="0"/>
      <p:bldP spid="30" grpId="0"/>
      <p:bldP spid="31" grpId="0" animBg="1"/>
      <p:bldP spid="32" grpId="0"/>
      <p:bldP spid="3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52475"/>
          </a:xfrm>
        </p:spPr>
        <p:txBody>
          <a:bodyPr/>
          <a:lstStyle/>
          <a:p>
            <a:r>
              <a:rPr lang="en-US" sz="3600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</a:t>
            </a:r>
            <a:endParaRPr lang="zh-CN" altLang="en-US" sz="2800" b="0" dirty="0">
              <a:solidFill>
                <a:srgbClr val="336600"/>
              </a:solidFill>
              <a:ea typeface="宋体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99851"/>
              </p:ext>
            </p:extLst>
          </p:nvPr>
        </p:nvGraphicFramePr>
        <p:xfrm>
          <a:off x="470189" y="2688296"/>
          <a:ext cx="8258175" cy="2165754"/>
        </p:xfrm>
        <a:graphic>
          <a:graphicData uri="http://schemas.openxmlformats.org/drawingml/2006/table">
            <a:tbl>
              <a:tblPr/>
              <a:tblGrid>
                <a:gridCol w="206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5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1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宋体" charset="-122"/>
                        </a:rPr>
                        <a:t>Items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宋体" charset="-122"/>
                        </a:rPr>
                        <a:t>Investor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Round I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Round II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Round III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Final % Ownership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(1.5</a:t>
                      </a:r>
                      <a:r>
                        <a:rPr lang="en-US" altLang="zh-CN" sz="1200" baseline="30000" dirty="0">
                          <a:latin typeface="+mn-lt"/>
                          <a:ea typeface="宋体" charset="-122"/>
                        </a:rPr>
                        <a:t>5</a:t>
                      </a: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*$1.5m) / (15*$2.5m) = 30.4%</a:t>
                      </a:r>
                      <a:endParaRPr lang="zh-CN" altLang="en-US" sz="1200" dirty="0"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(1.4</a:t>
                      </a:r>
                      <a:r>
                        <a:rPr lang="en-US" altLang="zh-CN" sz="1200" baseline="30000" dirty="0">
                          <a:latin typeface="+mn-lt"/>
                          <a:ea typeface="宋体" charset="-122"/>
                        </a:rPr>
                        <a:t>3</a:t>
                      </a: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*$1m) / (15*$2.5m) = 7.3%</a:t>
                      </a:r>
                      <a:endParaRPr lang="zh-CN" altLang="en-US" sz="1200" dirty="0"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(1.25</a:t>
                      </a:r>
                      <a:r>
                        <a:rPr lang="en-US" altLang="zh-CN" sz="1200" baseline="30000" dirty="0">
                          <a:latin typeface="+mn-lt"/>
                          <a:ea typeface="宋体" charset="-122"/>
                        </a:rPr>
                        <a:t>1</a:t>
                      </a: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*$1m) / (15*$2.5m) = 3.3%</a:t>
                      </a:r>
                      <a:endParaRPr lang="zh-CN" altLang="en-US" sz="1200" dirty="0"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New Shares Issued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[30.4% / (1-30.4%)] * 1,000,000 = 436,266</a:t>
                      </a:r>
                      <a:endParaRPr lang="zh-CN" altLang="en-US" sz="1200" dirty="0"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[7.3% / (1-7.3%)] * </a:t>
                      </a:r>
                      <a:r>
                        <a:rPr lang="en-US" altLang="zh-CN" sz="1200" b="1" i="1" u="sng" dirty="0">
                          <a:latin typeface="+mn-lt"/>
                          <a:ea typeface="宋体" charset="-122"/>
                        </a:rPr>
                        <a:t>1,436,266</a:t>
                      </a: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 = 113, 394</a:t>
                      </a:r>
                      <a:endParaRPr lang="zh-CN" altLang="en-US" sz="1200" dirty="0"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[3.3% / (1-3.3%)] * </a:t>
                      </a:r>
                      <a:r>
                        <a:rPr lang="en-US" altLang="zh-CN" sz="1200" b="1" i="1" u="sng" dirty="0">
                          <a:latin typeface="+mn-lt"/>
                          <a:ea typeface="宋体" charset="-122"/>
                        </a:rPr>
                        <a:t>1,549,659</a:t>
                      </a: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 = 53,437</a:t>
                      </a:r>
                      <a:endParaRPr lang="zh-CN" altLang="en-US" sz="1200" dirty="0"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D8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charset="-122"/>
                        </a:rPr>
                        <a:t>Share Price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$1.5m / 436,266 = $3.44</a:t>
                      </a:r>
                      <a:endParaRPr lang="zh-CN" altLang="en-US" sz="1200" dirty="0"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$1m / 113, 394 = $8.82</a:t>
                      </a:r>
                      <a:endParaRPr lang="zh-CN" altLang="en-US" sz="1200" dirty="0"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+mn-lt"/>
                          <a:ea typeface="宋体" charset="-122"/>
                        </a:rPr>
                        <a:t>$1m / 53,437 = $18.71</a:t>
                      </a:r>
                      <a:endParaRPr lang="zh-CN" altLang="en-US" sz="1200" dirty="0">
                        <a:latin typeface="+mn-lt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Content Placeholder 4"/>
          <p:cNvSpPr txBox="1">
            <a:spLocks/>
          </p:cNvSpPr>
          <p:nvPr/>
        </p:nvSpPr>
        <p:spPr>
          <a:xfrm>
            <a:off x="457200" y="1600200"/>
            <a:ext cx="8229600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Follow-on Investments</a:t>
            </a:r>
          </a:p>
          <a:p>
            <a:pPr lvl="1"/>
            <a:r>
              <a:rPr lang="en-US" sz="1600" kern="0" dirty="0"/>
              <a:t>Assuming the first round investor (as well as second round investor) did not anticipate the future dilutions and would like to maintain its ownership in the company.</a:t>
            </a:r>
          </a:p>
        </p:txBody>
      </p:sp>
      <p:cxnSp>
        <p:nvCxnSpPr>
          <p:cNvPr id="23" name="Straight Arrow Connector 22"/>
          <p:cNvCxnSpPr/>
          <p:nvPr/>
        </p:nvCxnSpPr>
        <p:spPr bwMode="auto">
          <a:xfrm>
            <a:off x="953971" y="5616298"/>
            <a:ext cx="7347568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 bwMode="auto">
          <a:xfrm>
            <a:off x="953971" y="5454457"/>
            <a:ext cx="0" cy="307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 bwMode="auto">
          <a:xfrm>
            <a:off x="2255440" y="5453107"/>
            <a:ext cx="0" cy="307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 bwMode="auto">
          <a:xfrm>
            <a:off x="3678289" y="5454457"/>
            <a:ext cx="0" cy="307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 bwMode="auto">
          <a:xfrm>
            <a:off x="5141599" y="5462549"/>
            <a:ext cx="0" cy="307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 bwMode="auto">
          <a:xfrm>
            <a:off x="6583331" y="5461200"/>
            <a:ext cx="0" cy="307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 bwMode="auto">
          <a:xfrm>
            <a:off x="8149139" y="5462549"/>
            <a:ext cx="0" cy="30749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2903" y="5875241"/>
            <a:ext cx="5421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Year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84372" y="5875381"/>
            <a:ext cx="5421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Year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78071" y="5869315"/>
            <a:ext cx="5421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Year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2263" y="5869315"/>
            <a:ext cx="5421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Year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0531" y="5869315"/>
            <a:ext cx="5421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Year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7221" y="5859056"/>
            <a:ext cx="5421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Year 2</a:t>
            </a:r>
          </a:p>
        </p:txBody>
      </p:sp>
      <p:sp>
        <p:nvSpPr>
          <p:cNvPr id="36" name="Down Arrow 35"/>
          <p:cNvSpPr/>
          <p:nvPr/>
        </p:nvSpPr>
        <p:spPr bwMode="auto">
          <a:xfrm>
            <a:off x="794273" y="5186494"/>
            <a:ext cx="319396" cy="285250"/>
          </a:xfrm>
          <a:prstGeom prst="downArrow">
            <a:avLst/>
          </a:prstGeom>
          <a:solidFill>
            <a:srgbClr val="FFC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39" name="Down Arrow 38"/>
          <p:cNvSpPr/>
          <p:nvPr/>
        </p:nvSpPr>
        <p:spPr bwMode="auto">
          <a:xfrm>
            <a:off x="3518591" y="5167857"/>
            <a:ext cx="319396" cy="285250"/>
          </a:xfrm>
          <a:prstGeom prst="downArrow">
            <a:avLst/>
          </a:prstGeom>
          <a:solidFill>
            <a:srgbClr val="FFC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0" name="Down Arrow 39"/>
          <p:cNvSpPr/>
          <p:nvPr/>
        </p:nvSpPr>
        <p:spPr bwMode="auto">
          <a:xfrm>
            <a:off x="6423633" y="5175950"/>
            <a:ext cx="319396" cy="285250"/>
          </a:xfrm>
          <a:prstGeom prst="downArrow">
            <a:avLst/>
          </a:prstGeom>
          <a:solidFill>
            <a:srgbClr val="FFC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4469" y="4906247"/>
            <a:ext cx="5790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$ 1.5 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4507" y="4906247"/>
            <a:ext cx="21675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$ 0.3 M=113,394*30.4%*$8.82/share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16378" y="4906247"/>
            <a:ext cx="21339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+mn-lt"/>
              </a:rPr>
              <a:t>$ 0.3 M=53,437*30.4%*$18.71/share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2952" y="5469705"/>
            <a:ext cx="9476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n-lt"/>
              </a:rPr>
              <a:t>IRR=46.2%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41</a:t>
            </a:fld>
            <a:endParaRPr lang="en-US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7564684" y="4848937"/>
            <a:ext cx="1168910" cy="6540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1050" dirty="0">
                <a:latin typeface="+mn-lt"/>
              </a:rPr>
              <a:t>Liquidity Value </a:t>
            </a:r>
          </a:p>
          <a:p>
            <a:pPr algn="ctr">
              <a:spcBef>
                <a:spcPts val="300"/>
              </a:spcBef>
            </a:pPr>
            <a:r>
              <a:rPr lang="en-US" sz="1050" dirty="0">
                <a:latin typeface="+mn-lt"/>
              </a:rPr>
              <a:t>= $11.4M</a:t>
            </a:r>
          </a:p>
          <a:p>
            <a:pPr algn="ctr">
              <a:spcBef>
                <a:spcPts val="300"/>
              </a:spcBef>
            </a:pPr>
            <a:r>
              <a:rPr lang="en-US" sz="1050" dirty="0">
                <a:latin typeface="+mn-lt"/>
              </a:rPr>
              <a:t>=$2.5M*15*30.4%</a:t>
            </a:r>
          </a:p>
        </p:txBody>
      </p:sp>
    </p:spTree>
    <p:extLst>
      <p:ext uri="{BB962C8B-B14F-4D97-AF65-F5344CB8AC3E}">
        <p14:creationId xmlns:p14="http://schemas.microsoft.com/office/powerpoint/2010/main" val="4259502032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 animBg="1"/>
      <p:bldP spid="39" grpId="0" animBg="1"/>
      <p:bldP spid="40" grpId="0" animBg="1"/>
      <p:bldP spid="41" grpId="0"/>
      <p:bldP spid="42" grpId="0"/>
      <p:bldP spid="43" grpId="0"/>
      <p:bldP spid="44" grpId="0"/>
      <p:bldP spid="3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Valuation Methodologies</a:t>
            </a:r>
            <a:br>
              <a:rPr lang="en-US" sz="3600" dirty="0"/>
            </a:br>
            <a:r>
              <a:rPr lang="en-US" sz="2800" dirty="0"/>
              <a:t>- The Venture Capital Method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42</a:t>
            </a:fld>
            <a:endParaRPr lang="en-US" altLang="en-US" dirty="0"/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457200" y="1600200"/>
            <a:ext cx="8229600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Sensitivity Analysis</a:t>
            </a:r>
          </a:p>
          <a:p>
            <a:pPr lvl="1"/>
            <a:r>
              <a:rPr lang="en-US" sz="1600" kern="0" dirty="0"/>
              <a:t>The valuation of the company is sensitive to the assumptions on the exit value, which is determined by the P/E ratio and net income at the time of the liquidity event.</a:t>
            </a:r>
          </a:p>
          <a:p>
            <a:pPr lvl="1"/>
            <a:endParaRPr lang="en-US" sz="1800" kern="0" dirty="0"/>
          </a:p>
          <a:p>
            <a:pPr lvl="1"/>
            <a:r>
              <a:rPr lang="en-US" sz="1800" kern="0" dirty="0"/>
              <a:t>Example of MEC:</a:t>
            </a:r>
          </a:p>
          <a:p>
            <a:pPr lvl="2"/>
            <a:endParaRPr lang="en-US" sz="1400" kern="0" dirty="0"/>
          </a:p>
          <a:p>
            <a:pPr lvl="2"/>
            <a:r>
              <a:rPr lang="en-US" sz="1400" kern="0" dirty="0"/>
              <a:t>Investment=$1.5M</a:t>
            </a:r>
          </a:p>
          <a:p>
            <a:pPr lvl="2"/>
            <a:endParaRPr lang="en-US" sz="1400" kern="0" dirty="0"/>
          </a:p>
          <a:p>
            <a:pPr lvl="2"/>
            <a:r>
              <a:rPr lang="en-US" sz="1400" kern="0" dirty="0"/>
              <a:t>IRR=50%</a:t>
            </a:r>
          </a:p>
          <a:p>
            <a:pPr lvl="2"/>
            <a:endParaRPr lang="en-US" sz="1400" kern="0" dirty="0"/>
          </a:p>
          <a:p>
            <a:pPr lvl="2"/>
            <a:r>
              <a:rPr lang="en-US" sz="1400" kern="0" dirty="0"/>
              <a:t>Time to Liquidity: 5 years</a:t>
            </a:r>
          </a:p>
          <a:p>
            <a:pPr lvl="2"/>
            <a:endParaRPr lang="en-US" sz="1400" kern="0" dirty="0"/>
          </a:p>
          <a:p>
            <a:pPr lvl="2"/>
            <a:r>
              <a:rPr lang="en-US" sz="1400" kern="0" dirty="0"/>
              <a:t>Dilution=10%</a:t>
            </a:r>
          </a:p>
          <a:p>
            <a:pPr lvl="2"/>
            <a:endParaRPr lang="en-US" sz="1400" kern="0" dirty="0"/>
          </a:p>
          <a:p>
            <a:pPr lvl="2"/>
            <a:r>
              <a:rPr lang="en-US" sz="1400" kern="0" dirty="0"/>
              <a:t>Projected Net Income: $2.5M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604006"/>
              </p:ext>
            </p:extLst>
          </p:nvPr>
        </p:nvGraphicFramePr>
        <p:xfrm>
          <a:off x="3823851" y="2780147"/>
          <a:ext cx="4784440" cy="300181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98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8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8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8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80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9143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% of NI Realized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  <a:latin typeface="+mn-lt"/>
                        </a:rPr>
                        <a:t>P/E Ratio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71">
                <a:tc v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30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35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70%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$0.6M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$1.6M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$2.6M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$3.7M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$4.7M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$5.8M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$6.8M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80%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$0.9M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$2.1M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$3.2M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$4.4M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$5.6M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$6.8M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$8.0M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90%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$1.2M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$2.5M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$3.8M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$5.2M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$6.5M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$7.8M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$9.2M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100%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$1.5M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$2.9M</a:t>
                      </a:r>
                    </a:p>
                  </a:txBody>
                  <a:tcPr marL="9525" marR="9525" marT="9525" marB="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$4.4M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$5.9M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$7.4M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$8.9M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$10.4M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110%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$1.8M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$3.4M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$5.0M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$6.6M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$8.3M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$9.9M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$11.5M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120%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$2.1M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$3.8M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$5.6M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$7.4M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$9.2M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$10.9M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$12.7M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1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130%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$2.4M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$4.3M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$6.2M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$8.1M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$10.1M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$12.0M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$13.9M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1660" y="5853926"/>
            <a:ext cx="3035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+mn-lt"/>
              </a:rPr>
              <a:t>* Numbers in the table are pre-money valuation</a:t>
            </a:r>
            <a:endParaRPr lang="zh-CN" alt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51304307"/>
      </p:ext>
    </p:extLst>
  </p:cSld>
  <p:clrMapOvr>
    <a:masterClrMapping/>
  </p:clrMapOvr>
  <p:transition spd="med">
    <p:pull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Valuation Methodologies</a:t>
            </a:r>
            <a:br>
              <a:rPr lang="en-US" sz="3600" dirty="0"/>
            </a:br>
            <a:r>
              <a:rPr lang="en-US" sz="2800" dirty="0"/>
              <a:t>- The Venture Capital Method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43</a:t>
            </a:fld>
            <a:endParaRPr lang="en-US" altLang="en-US" dirty="0"/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457200" y="1600200"/>
            <a:ext cx="8229600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Sensitivity Analysis</a:t>
            </a:r>
          </a:p>
          <a:p>
            <a:pPr lvl="1"/>
            <a:endParaRPr lang="en-US" sz="1600" kern="0" dirty="0"/>
          </a:p>
          <a:p>
            <a:pPr lvl="1"/>
            <a:r>
              <a:rPr lang="en-US" sz="1800" kern="0" dirty="0"/>
              <a:t>The valuation of the company is sensitive to the assumptions on the exit value as well as the time to liquidity.</a:t>
            </a:r>
          </a:p>
          <a:p>
            <a:pPr lvl="1"/>
            <a:endParaRPr lang="en-US" sz="1800" kern="0" dirty="0"/>
          </a:p>
          <a:p>
            <a:pPr lvl="1"/>
            <a:r>
              <a:rPr lang="en-US" sz="1800" kern="0" dirty="0"/>
              <a:t>Example of MEC:</a:t>
            </a:r>
          </a:p>
          <a:p>
            <a:pPr lvl="2"/>
            <a:endParaRPr lang="en-US" sz="1400" kern="0" dirty="0"/>
          </a:p>
          <a:p>
            <a:pPr lvl="2"/>
            <a:r>
              <a:rPr lang="en-US" sz="1400" kern="0" dirty="0"/>
              <a:t>Investment=$1.5M</a:t>
            </a:r>
          </a:p>
          <a:p>
            <a:pPr lvl="2"/>
            <a:endParaRPr lang="en-US" sz="1400" kern="0" dirty="0"/>
          </a:p>
          <a:p>
            <a:pPr lvl="2"/>
            <a:r>
              <a:rPr lang="en-US" sz="1400" kern="0" dirty="0"/>
              <a:t>IRR=50%</a:t>
            </a:r>
          </a:p>
          <a:p>
            <a:pPr marL="671512" lvl="2" indent="0">
              <a:buNone/>
            </a:pPr>
            <a:endParaRPr lang="en-US" sz="1400" kern="0" dirty="0"/>
          </a:p>
          <a:p>
            <a:pPr lvl="2"/>
            <a:r>
              <a:rPr lang="en-US" sz="1400" kern="0" dirty="0"/>
              <a:t>Dilution=10%</a:t>
            </a:r>
          </a:p>
          <a:p>
            <a:pPr lvl="2"/>
            <a:endParaRPr lang="en-US" sz="1400" kern="0" dirty="0"/>
          </a:p>
          <a:p>
            <a:pPr lvl="2"/>
            <a:r>
              <a:rPr lang="en-US" sz="1400" kern="0" dirty="0"/>
              <a:t>Projected Net Income: </a:t>
            </a:r>
          </a:p>
          <a:p>
            <a:pPr marL="671512" lvl="2" indent="0">
              <a:buNone/>
            </a:pPr>
            <a:r>
              <a:rPr lang="en-US" sz="1400" kern="0" dirty="0"/>
              <a:t>        $2.5M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943262"/>
              </p:ext>
            </p:extLst>
          </p:nvPr>
        </p:nvGraphicFramePr>
        <p:xfrm>
          <a:off x="3787111" y="2739394"/>
          <a:ext cx="5098472" cy="300181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37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933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Time</a:t>
                      </a:r>
                      <a:r>
                        <a:rPr lang="en-US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to Liquidity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  <a:latin typeface="+mn-lt"/>
                        </a:rPr>
                        <a:t>P/E Ratio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809">
                <a:tc v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30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35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$5.2M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$8.5M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$11.8M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$15.2M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$18.5M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$21.8M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$25.2M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$2.9M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$5.2M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$7.4M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$9.6M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$11.8M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$14.1M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$16.3M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$1.5M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$2.9M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$4.4M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$5.9M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$7.4M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$8.9M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$10.4M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$0.5M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$1.5M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$2.5M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$3.4M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$4.4M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$5.4M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$6.4M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$0.5M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$1.1M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$1.8M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$2.5M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$3.1M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$3.8M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1660" y="5853926"/>
            <a:ext cx="3035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+mn-lt"/>
              </a:rPr>
              <a:t>* Numbers in the table are pre-money valuation</a:t>
            </a:r>
            <a:endParaRPr lang="zh-CN" alt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4215793"/>
      </p:ext>
    </p:extLst>
  </p:cSld>
  <p:clrMapOvr>
    <a:masterClrMapping/>
  </p:clrMapOvr>
  <p:transition spd="med">
    <p:pull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Valuation Methodologies</a:t>
            </a:r>
            <a:br>
              <a:rPr lang="en-US" sz="3600" dirty="0"/>
            </a:br>
            <a:r>
              <a:rPr lang="en-US" sz="2400" dirty="0"/>
              <a:t>-</a:t>
            </a:r>
            <a:r>
              <a:rPr lang="en-US" sz="2800" dirty="0"/>
              <a:t> The Venture Capital Method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44</a:t>
            </a:fld>
            <a:endParaRPr lang="en-US" altLang="en-US" dirty="0"/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457200" y="1600200"/>
            <a:ext cx="8229600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Sensitivity Analysis</a:t>
            </a:r>
          </a:p>
          <a:p>
            <a:pPr lvl="1"/>
            <a:r>
              <a:rPr lang="en-US" sz="1600" kern="0" dirty="0"/>
              <a:t>The rate of return of investors is sensitive to the assumptions on the exit value, which is determined by the P/E ratio and net income </a:t>
            </a:r>
            <a:r>
              <a:rPr lang="en-US" altLang="zh-CN" sz="1600" kern="0" dirty="0"/>
              <a:t>at the time of the liquidity event</a:t>
            </a:r>
            <a:r>
              <a:rPr lang="en-US" sz="1600" kern="0" dirty="0"/>
              <a:t>.</a:t>
            </a:r>
          </a:p>
          <a:p>
            <a:pPr lvl="1"/>
            <a:endParaRPr lang="en-US" sz="1800" kern="0" dirty="0"/>
          </a:p>
          <a:p>
            <a:pPr lvl="1"/>
            <a:r>
              <a:rPr lang="en-US" sz="1800" kern="0" dirty="0"/>
              <a:t>Example of MEC:</a:t>
            </a:r>
          </a:p>
          <a:p>
            <a:pPr lvl="2"/>
            <a:endParaRPr lang="en-US" sz="1400" kern="0" dirty="0"/>
          </a:p>
          <a:p>
            <a:pPr lvl="2"/>
            <a:r>
              <a:rPr lang="en-US" sz="1400" kern="0" dirty="0"/>
              <a:t>Investment=$1.5M</a:t>
            </a:r>
          </a:p>
          <a:p>
            <a:pPr marL="671512" lvl="2" indent="0">
              <a:buNone/>
            </a:pPr>
            <a:endParaRPr lang="en-US" sz="1400" kern="0" dirty="0"/>
          </a:p>
          <a:p>
            <a:pPr lvl="2"/>
            <a:r>
              <a:rPr lang="en-US" sz="1400" kern="0" dirty="0"/>
              <a:t>Time to Liquidity: 5 years</a:t>
            </a:r>
          </a:p>
          <a:p>
            <a:pPr lvl="2"/>
            <a:endParaRPr lang="en-US" sz="1400" kern="0" dirty="0"/>
          </a:p>
          <a:p>
            <a:pPr lvl="2"/>
            <a:r>
              <a:rPr lang="en-US" sz="1400" kern="0" dirty="0"/>
              <a:t>Dilution=10%</a:t>
            </a:r>
          </a:p>
          <a:p>
            <a:pPr lvl="2"/>
            <a:endParaRPr lang="en-US" sz="1400" kern="0" dirty="0"/>
          </a:p>
          <a:p>
            <a:pPr lvl="2"/>
            <a:r>
              <a:rPr lang="en-US" sz="1400" kern="0" dirty="0"/>
              <a:t>Projected Net Income: $2.5M</a:t>
            </a:r>
          </a:p>
          <a:p>
            <a:pPr lvl="2"/>
            <a:endParaRPr lang="en-US" sz="1400" kern="0" dirty="0"/>
          </a:p>
          <a:p>
            <a:pPr lvl="2"/>
            <a:r>
              <a:rPr lang="en-US" sz="1400" kern="0" dirty="0"/>
              <a:t>Pre-money Valuation: $2.9M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400124"/>
              </p:ext>
            </p:extLst>
          </p:nvPr>
        </p:nvGraphicFramePr>
        <p:xfrm>
          <a:off x="3992883" y="2780149"/>
          <a:ext cx="4615408" cy="301105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76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9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9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9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094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% of NI Realized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  <a:latin typeface="+mn-lt"/>
                        </a:rPr>
                        <a:t>P/E Ratio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98">
                <a:tc v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30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35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70%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80%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90%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100%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marL="9525" marR="9525" marT="9525" marB="0" anchor="ctr"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110%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120%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0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130%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09260" y="5930126"/>
            <a:ext cx="3118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+mn-lt"/>
              </a:rPr>
              <a:t>* Numbers in the table are realized rate of return</a:t>
            </a:r>
            <a:endParaRPr lang="zh-CN" alt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4077572"/>
      </p:ext>
    </p:extLst>
  </p:cSld>
  <p:clrMapOvr>
    <a:masterClrMapping/>
  </p:clrMapOvr>
  <p:transition spd="med">
    <p:pull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Some caveats on VC method</a:t>
            </a:r>
            <a:endParaRPr lang="en-US" sz="2000" dirty="0"/>
          </a:p>
          <a:p>
            <a:pPr lvl="1"/>
            <a:r>
              <a:rPr lang="en-US" sz="1800" dirty="0"/>
              <a:t>Suffer from the drawbacks of comparable method and DCF</a:t>
            </a:r>
          </a:p>
          <a:p>
            <a:pPr lvl="1"/>
            <a:r>
              <a:rPr lang="en-US" sz="1800" dirty="0"/>
              <a:t>The assumptions are based on the investor’s perspective on the prospect of the venture.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45</a:t>
            </a:fld>
            <a:endParaRPr lang="en-US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523" y="402580"/>
            <a:ext cx="1426732" cy="142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60582" y="3251201"/>
            <a:ext cx="30295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+mn-lt"/>
              </a:rPr>
              <a:t>Investors with distinct profiles view the same company very differently (Square)</a:t>
            </a:r>
            <a:endParaRPr lang="zh-CN" altLang="en-US" sz="1400" b="1" dirty="0">
              <a:latin typeface="+mn-lt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3"/>
          <a:stretch/>
        </p:blipFill>
        <p:spPr bwMode="auto">
          <a:xfrm>
            <a:off x="1205634" y="3973866"/>
            <a:ext cx="2539423" cy="2012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084618" y="3358920"/>
            <a:ext cx="3126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+mn-lt"/>
              </a:rPr>
              <a:t>Investors even debate with themselves</a:t>
            </a:r>
            <a:endParaRPr lang="zh-CN" altLang="en-US" sz="1400" b="1" dirty="0">
              <a:latin typeface="+mn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764" y="3774421"/>
            <a:ext cx="987753" cy="9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899891" y="4978617"/>
            <a:ext cx="39235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zh-CN" sz="1200" dirty="0">
                <a:latin typeface="+mn-lt"/>
              </a:rPr>
              <a:t>Marked down the value of its stake in Snapchat by 25% in </a:t>
            </a:r>
            <a:r>
              <a:rPr lang="en-US" altLang="zh-CN" sz="1200" b="1" dirty="0">
                <a:latin typeface="+mn-lt"/>
              </a:rPr>
              <a:t>September 2015</a:t>
            </a:r>
          </a:p>
          <a:p>
            <a:pPr marL="171450" indent="-171450">
              <a:buFontTx/>
              <a:buChar char="-"/>
            </a:pPr>
            <a:r>
              <a:rPr lang="en-US" altLang="zh-CN" sz="1200" dirty="0">
                <a:latin typeface="+mn-lt"/>
              </a:rPr>
              <a:t>Marked up the value of its stake in Snapchat by 14.65% in </a:t>
            </a:r>
            <a:r>
              <a:rPr lang="en-US" altLang="zh-CN" sz="1200" b="1" dirty="0">
                <a:latin typeface="+mn-lt"/>
              </a:rPr>
              <a:t>October 2015</a:t>
            </a:r>
            <a:endParaRPr lang="zh-CN" altLang="en-US" sz="1200" b="1" dirty="0">
              <a:latin typeface="+mn-lt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523" y="3774421"/>
            <a:ext cx="987753" cy="987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2455466"/>
      </p:ext>
    </p:extLst>
  </p:cSld>
  <p:clrMapOvr>
    <a:masterClrMapping/>
  </p:clrMapOvr>
  <p:transition spd="med">
    <p:pull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Methodologies</a:t>
            </a:r>
            <a:br>
              <a:rPr lang="en-US" dirty="0"/>
            </a:br>
            <a:r>
              <a:rPr lang="en-US" sz="2800" dirty="0"/>
              <a:t>- The Venture Capital Method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829312"/>
            <a:ext cx="8229600" cy="4301613"/>
          </a:xfrm>
        </p:spPr>
        <p:txBody>
          <a:bodyPr/>
          <a:lstStyle/>
          <a:p>
            <a:r>
              <a:rPr lang="en-US" sz="2800" dirty="0"/>
              <a:t>Some caveats on VC method</a:t>
            </a:r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Be conservative in making the assumptions (e.g., exit value and dilution)</a:t>
            </a:r>
          </a:p>
          <a:p>
            <a:pPr lvl="1"/>
            <a:endParaRPr lang="en-US" sz="1800" dirty="0"/>
          </a:p>
          <a:p>
            <a:pPr lvl="1"/>
            <a:r>
              <a:rPr lang="en-US" sz="2000" dirty="0"/>
              <a:t>Sensitivity analysis is critical</a:t>
            </a:r>
          </a:p>
          <a:p>
            <a:pPr lvl="2"/>
            <a:r>
              <a:rPr lang="en-US" sz="1800" dirty="0"/>
              <a:t>Enables you to find your “comfort zone” and “line in the sand”</a:t>
            </a:r>
          </a:p>
          <a:p>
            <a:pPr lvl="2"/>
            <a:r>
              <a:rPr lang="en-US" sz="1800" dirty="0"/>
              <a:t>Helps you to quantify the implication of valuation change</a:t>
            </a:r>
          </a:p>
          <a:p>
            <a:pPr marL="671512" lvl="2" indent="0">
              <a:buNone/>
            </a:pPr>
            <a:endParaRPr lang="en-US" sz="1800" dirty="0"/>
          </a:p>
          <a:p>
            <a:pPr lvl="1"/>
            <a:r>
              <a:rPr lang="en-US" sz="2000" dirty="0"/>
              <a:t>Once you articulate your assumptions behind the valuation, you should try to manage the risk with other terms</a:t>
            </a:r>
          </a:p>
          <a:p>
            <a:pPr lvl="2"/>
            <a:endParaRPr lang="en-US" sz="18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54D71-042D-4ED4-9D97-8B1E17FEA77E}" type="slidenum">
              <a:rPr lang="en-US" altLang="en-US" smtClean="0"/>
              <a:pPr/>
              <a:t>46</a:t>
            </a:fld>
            <a:endParaRPr lang="en-US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523" y="402580"/>
            <a:ext cx="1426732" cy="142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8314878"/>
      </p:ext>
    </p:extLst>
  </p:cSld>
  <p:clrMapOvr>
    <a:masterClrMapping/>
  </p:clrMapOvr>
  <p:transition spd="med">
    <p:pull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413164"/>
            <a:ext cx="4050144" cy="4717761"/>
          </a:xfrm>
        </p:spPr>
        <p:txBody>
          <a:bodyPr/>
          <a:lstStyle/>
          <a:p>
            <a:r>
              <a:rPr lang="en-US" sz="2000" dirty="0"/>
              <a:t>Different Valuation Methodologies</a:t>
            </a:r>
          </a:p>
          <a:p>
            <a:pPr lvl="1"/>
            <a:r>
              <a:rPr lang="en-US" sz="1800" dirty="0"/>
              <a:t>Comparable Method</a:t>
            </a:r>
          </a:p>
          <a:p>
            <a:pPr lvl="1"/>
            <a:r>
              <a:rPr lang="en-US" sz="1800" dirty="0"/>
              <a:t>Discounted Cash Flow Method</a:t>
            </a:r>
          </a:p>
          <a:p>
            <a:pPr lvl="1"/>
            <a:r>
              <a:rPr lang="en-US" sz="1800" dirty="0"/>
              <a:t>The Venture Capital Method</a:t>
            </a:r>
          </a:p>
          <a:p>
            <a:endParaRPr lang="en-US" sz="1800" dirty="0"/>
          </a:p>
          <a:p>
            <a:r>
              <a:rPr lang="en-US" sz="2000" dirty="0"/>
              <a:t>The Venture Capital Method</a:t>
            </a:r>
          </a:p>
          <a:p>
            <a:pPr lvl="1"/>
            <a:r>
              <a:rPr lang="en-US" altLang="zh-CN" sz="1800" dirty="0"/>
              <a:t>Retention Ratio and Dilution</a:t>
            </a:r>
          </a:p>
          <a:p>
            <a:pPr lvl="1"/>
            <a:r>
              <a:rPr lang="en-US" sz="1800" dirty="0"/>
              <a:t>One Round vs. Multiple Rounds of Fundraising </a:t>
            </a:r>
          </a:p>
          <a:p>
            <a:pPr lvl="1"/>
            <a:r>
              <a:rPr lang="en-US" sz="1800" dirty="0"/>
              <a:t>Follow-on Investment and Pro-rata Shares</a:t>
            </a:r>
          </a:p>
          <a:p>
            <a:pPr lvl="1"/>
            <a:r>
              <a:rPr lang="en-US" sz="1800" dirty="0"/>
              <a:t>Sensitivity Analysis</a:t>
            </a:r>
          </a:p>
          <a:p>
            <a:pPr lvl="1"/>
            <a:endParaRPr lang="en-US" sz="1600" dirty="0"/>
          </a:p>
          <a:p>
            <a:r>
              <a:rPr lang="en-US" sz="2000" dirty="0"/>
              <a:t>Caveats</a:t>
            </a:r>
          </a:p>
          <a:p>
            <a:pPr lvl="1"/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Copyright © 2019 by Raphael ("Raffi")  Amit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47</a:t>
            </a:fld>
            <a:endParaRPr lang="en-US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182312" y="1277422"/>
            <a:ext cx="3018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u="sng" dirty="0">
                <a:latin typeface="+mn-lt"/>
              </a:rPr>
              <a:t>Next </a:t>
            </a:r>
            <a:r>
              <a:rPr lang="en-US" altLang="zh-CN" sz="2000" b="1" u="sng">
                <a:latin typeface="+mn-lt"/>
              </a:rPr>
              <a:t>Class: </a:t>
            </a:r>
            <a:r>
              <a:rPr lang="en-US" altLang="zh-CN" sz="2000" b="1" u="sng" dirty="0">
                <a:latin typeface="+mn-lt"/>
              </a:rPr>
              <a:t>Problem Set  </a:t>
            </a:r>
            <a:endParaRPr lang="zh-CN" altLang="en-US" sz="2000" b="1" u="sng" dirty="0">
              <a:latin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" r="2737" b="12442"/>
          <a:stretch/>
        </p:blipFill>
        <p:spPr bwMode="auto">
          <a:xfrm>
            <a:off x="4548908" y="2205693"/>
            <a:ext cx="4008583" cy="2865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0356141"/>
      </p:ext>
    </p:extLst>
  </p:cSld>
  <p:clrMapOvr>
    <a:masterClrMapping/>
  </p:clrMapOvr>
  <p:transition spd="med">
    <p:pull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>
          <a:xfrm>
            <a:off x="373626" y="255638"/>
            <a:ext cx="8191954" cy="508519"/>
          </a:xfrm>
        </p:spPr>
        <p:txBody>
          <a:bodyPr/>
          <a:lstStyle/>
          <a:p>
            <a:pPr algn="ctr" eaLnBrk="1" hangingPunct="1"/>
            <a:r>
              <a:rPr lang="en-GB" altLang="en-US" dirty="0"/>
              <a:t>Your Questions?</a:t>
            </a:r>
          </a:p>
        </p:txBody>
      </p:sp>
      <p:pic>
        <p:nvPicPr>
          <p:cNvPr id="102402" name="Picture 3" descr="MPj0439551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475" y="1447986"/>
            <a:ext cx="2932229" cy="43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99480-5F8D-48DE-8162-81A172917574}" type="slidenum">
              <a:rPr lang="en-US" altLang="en-US" smtClean="0"/>
              <a:pPr/>
              <a:t>48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ea typeface="Arial Unicode MS" panose="020B0604020202020204" pitchFamily="34" charset="-128"/>
              </a:rPr>
              <a:t>Copyright © 2019  by Raphael ("Raffi") Amit  </a:t>
            </a:r>
            <a:endParaRPr lang="en-US" altLang="en-US" dirty="0">
              <a:ea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2919858"/>
      </p:ext>
    </p:extLst>
  </p:cSld>
  <p:clrMapOvr>
    <a:masterClrMapping/>
  </p:clrMapOvr>
  <p:transition spd="med">
    <p:pull dir="d"/>
  </p:transition>
</p:sld>
</file>

<file path=ppt/theme/theme1.xml><?xml version="1.0" encoding="utf-8"?>
<a:theme xmlns:a="http://schemas.openxmlformats.org/drawingml/2006/main" name="Raffi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Custom 1">
      <a:majorFont>
        <a:latin typeface="Rockwel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C000">
            <a:alpha val="50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Raffi</Template>
  <TotalTime>110301</TotalTime>
  <Words>5340</Words>
  <Application>Microsoft Office PowerPoint</Application>
  <PresentationFormat>On-screen Show (4:3)</PresentationFormat>
  <Paragraphs>1148</Paragraphs>
  <Slides>48</Slides>
  <Notes>22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0" baseType="lpstr">
      <vt:lpstr>MS PGothic</vt:lpstr>
      <vt:lpstr>MS PGothic</vt:lpstr>
      <vt:lpstr>宋体</vt:lpstr>
      <vt:lpstr>Arial</vt:lpstr>
      <vt:lpstr>Arial Unicode MS</vt:lpstr>
      <vt:lpstr>Cambria Math</vt:lpstr>
      <vt:lpstr>Garamond</vt:lpstr>
      <vt:lpstr>Rockwell</vt:lpstr>
      <vt:lpstr>Symbol</vt:lpstr>
      <vt:lpstr>Times New Roman</vt:lpstr>
      <vt:lpstr>Wingdings</vt:lpstr>
      <vt:lpstr>Raffi</vt:lpstr>
      <vt:lpstr>Venture Capital and Entrepreneurial Management MGMT 264  </vt:lpstr>
      <vt:lpstr>Average US VC pre-money valuations - Angel and Seed</vt:lpstr>
      <vt:lpstr>Average US VC pre-money valuations - Early Stage and Late Stage</vt:lpstr>
      <vt:lpstr>Median Dilution Amounts—2015 vs. 2020</vt:lpstr>
      <vt:lpstr>Valuation of Start-up Companies - A Comprehensive Perspective</vt:lpstr>
      <vt:lpstr>Valuation of Start-up Companies - Important Premises</vt:lpstr>
      <vt:lpstr>Valuation of Start-up Companies - Important Premises</vt:lpstr>
      <vt:lpstr>Valuation of Start-up Companies - Important Premises</vt:lpstr>
      <vt:lpstr>Valuation of Start-up Companies - Important Premises  </vt:lpstr>
      <vt:lpstr>Valuation of Start-up Companies - An Overview</vt:lpstr>
      <vt:lpstr>Valuation of Start-up Companies - An Overview</vt:lpstr>
      <vt:lpstr>Valuation Methodologies - Comparable Method</vt:lpstr>
      <vt:lpstr>Valuation Methodologies - Comparable Method</vt:lpstr>
      <vt:lpstr>Valuation Methodologies - Discounted Cash Flow (“DCF”) Method</vt:lpstr>
      <vt:lpstr>Valuation Methodologies - Discounted Cash Flow (“DCF”)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Visualization of the Series A Financing of MEC </vt:lpstr>
      <vt:lpstr>Valuation Methodologies - The Venture Capital Method</vt:lpstr>
      <vt:lpstr>Valuation Methodologies - The Venture Capital Method</vt:lpstr>
      <vt:lpstr>Valuation Methodologies - An Illustration of Dilution Formulas</vt:lpstr>
      <vt:lpstr>Valuation Methodologies - The Venture Capital Method</vt:lpstr>
      <vt:lpstr>Valuation Methodologies - The Venture Capital Method 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 -  Liquidity event at the end of Year 6 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Valuation Methodologies - The Venture Capital Method</vt:lpstr>
      <vt:lpstr>Takeaway</vt:lpstr>
      <vt:lpstr>Your Questions?</vt:lpstr>
    </vt:vector>
  </TitlesOfParts>
  <Company>The Wharton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Raffi Amit</dc:creator>
  <cp:lastModifiedBy>Raffi Amit</cp:lastModifiedBy>
  <cp:revision>2150</cp:revision>
  <cp:lastPrinted>2021-10-08T13:25:37Z</cp:lastPrinted>
  <dcterms:created xsi:type="dcterms:W3CDTF">1995-05-28T16:33:00Z</dcterms:created>
  <dcterms:modified xsi:type="dcterms:W3CDTF">2021-10-08T13:25:53Z</dcterms:modified>
</cp:coreProperties>
</file>